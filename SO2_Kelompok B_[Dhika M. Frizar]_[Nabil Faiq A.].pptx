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Unique" charset="1" panose="00000000000000000000"/>
      <p:regular r:id="rId20"/>
    </p:embeddedFont>
    <p:embeddedFont>
      <p:font typeface="Vintii" charset="1" panose="02000500000000000000"/>
      <p:regular r:id="rId21"/>
    </p:embeddedFont>
    <p:embeddedFont>
      <p:font typeface="Marykate" charset="1" panose="0000000000000000000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jpe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png" Type="http://schemas.openxmlformats.org/officeDocument/2006/relationships/image"/><Relationship Id="rId11" Target="../media/image13.png" Type="http://schemas.openxmlformats.org/officeDocument/2006/relationships/image"/><Relationship Id="rId12" Target="../media/image14.png" Type="http://schemas.openxmlformats.org/officeDocument/2006/relationships/image"/><Relationship Id="rId13" Target="../media/image15.png" Type="http://schemas.openxmlformats.org/officeDocument/2006/relationships/image"/><Relationship Id="rId2" Target="../media/image4.jpeg" Type="http://schemas.openxmlformats.org/officeDocument/2006/relationships/image"/><Relationship Id="rId3" Target="../media/image5.png" Type="http://schemas.openxmlformats.org/officeDocument/2006/relationships/image"/><Relationship Id="rId4" Target="../media/image6.png" Type="http://schemas.openxmlformats.org/officeDocument/2006/relationships/image"/><Relationship Id="rId5" Target="../media/image7.svg" Type="http://schemas.openxmlformats.org/officeDocument/2006/relationships/image"/><Relationship Id="rId6" Target="../media/image8.png" Type="http://schemas.openxmlformats.org/officeDocument/2006/relationships/image"/><Relationship Id="rId7" Target="../media/image9.png" Type="http://schemas.openxmlformats.org/officeDocument/2006/relationships/image"/><Relationship Id="rId8" Target="../media/image10.png" Type="http://schemas.openxmlformats.org/officeDocument/2006/relationships/image"/><Relationship Id="rId9" Target="../media/image1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6.jpeg" Type="http://schemas.openxmlformats.org/officeDocument/2006/relationships/image"/><Relationship Id="rId4" Target="../media/image17.jpeg" Type="http://schemas.openxmlformats.org/officeDocument/2006/relationships/image"/><Relationship Id="rId5" Target="../media/image5.pn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6.jpeg" Type="http://schemas.openxmlformats.org/officeDocument/2006/relationships/image"/><Relationship Id="rId4" Target="../media/image17.jpeg" Type="http://schemas.openxmlformats.org/officeDocument/2006/relationships/image"/><Relationship Id="rId5" Target="../media/image5.pn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6.jpeg" Type="http://schemas.openxmlformats.org/officeDocument/2006/relationships/image"/><Relationship Id="rId4" Target="../media/image17.jpe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6.jpeg" Type="http://schemas.openxmlformats.org/officeDocument/2006/relationships/image"/><Relationship Id="rId4" Target="../media/image17.jpe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jpeg" Type="http://schemas.openxmlformats.org/officeDocument/2006/relationships/image"/><Relationship Id="rId2" Target="../media/image20.png" Type="http://schemas.openxmlformats.org/officeDocument/2006/relationships/image"/><Relationship Id="rId3" Target="../media/image21.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24.png" Type="http://schemas.openxmlformats.org/officeDocument/2006/relationships/image"/><Relationship Id="rId7" Target="../media/image1.pn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 Id="rId5" Target="../media/image4.jpeg" Type="http://schemas.openxmlformats.org/officeDocument/2006/relationships/image"/><Relationship Id="rId6" Target="../media/image25.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 Id="rId5" Target="../media/image4.jpeg" Type="http://schemas.openxmlformats.org/officeDocument/2006/relationships/image"/><Relationship Id="rId6" Target="../media/image2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 Id="rId5" Target="../media/image4.jpeg" Type="http://schemas.openxmlformats.org/officeDocument/2006/relationships/image"/><Relationship Id="rId6" Target="../media/image27.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 Id="rId5" Target="../media/image4.jpeg" Type="http://schemas.openxmlformats.org/officeDocument/2006/relationships/image"/><Relationship Id="rId6" Target="../media/image28.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png" Type="http://schemas.openxmlformats.org/officeDocument/2006/relationships/image"/><Relationship Id="rId4" Target="../media/image5.png" Type="http://schemas.openxmlformats.org/officeDocument/2006/relationships/image"/><Relationship Id="rId5" Target="../media/image29.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png" Type="http://schemas.openxmlformats.org/officeDocument/2006/relationships/image"/><Relationship Id="rId4" Target="../media/image5.png" Type="http://schemas.openxmlformats.org/officeDocument/2006/relationships/image"/><Relationship Id="rId5" Target="../media/image17.jpe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https://www.youtube.com/watch?v=uFkNZ4EyWiE" TargetMode="External" Type="http://schemas.openxmlformats.org/officeDocument/2006/relationships/hyperlink"/><Relationship Id="rId9" Target="https://www.youtube.com/watch?v=uReRB0G6WqM." TargetMode="External" Type="http://schemas.openxmlformats.org/officeDocument/2006/relationships/hyperlink"/></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1.png" Type="http://schemas.openxmlformats.org/officeDocument/2006/relationships/image"/><Relationship Id="rId4" Target="../media/image5.pn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30.png" Type="http://schemas.openxmlformats.org/officeDocument/2006/relationships/image"/><Relationship Id="rId8" Target="../media/image31.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5593216">
            <a:off x="-1049628" y="6066657"/>
            <a:ext cx="5312174" cy="6071055"/>
          </a:xfrm>
          <a:custGeom>
            <a:avLst/>
            <a:gdLst/>
            <a:ahLst/>
            <a:cxnLst/>
            <a:rect r="r" b="b" t="t" l="l"/>
            <a:pathLst>
              <a:path h="6071055" w="5312174">
                <a:moveTo>
                  <a:pt x="0" y="0"/>
                </a:moveTo>
                <a:lnTo>
                  <a:pt x="5312173" y="0"/>
                </a:lnTo>
                <a:lnTo>
                  <a:pt x="5312173" y="6071055"/>
                </a:lnTo>
                <a:lnTo>
                  <a:pt x="0" y="6071055"/>
                </a:lnTo>
                <a:lnTo>
                  <a:pt x="0" y="0"/>
                </a:lnTo>
                <a:close/>
              </a:path>
            </a:pathLst>
          </a:custGeom>
          <a:blipFill>
            <a:blip r:embed="rId2"/>
            <a:stretch>
              <a:fillRect l="0" t="0" r="0" b="0"/>
            </a:stretch>
          </a:blipFill>
        </p:spPr>
      </p:sp>
      <p:sp>
        <p:nvSpPr>
          <p:cNvPr name="Freeform 3" id="3"/>
          <p:cNvSpPr/>
          <p:nvPr/>
        </p:nvSpPr>
        <p:spPr>
          <a:xfrm flipH="false" flipV="false" rot="-5593216">
            <a:off x="14010667" y="-1791078"/>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2"/>
            <a:stretch>
              <a:fillRect l="0" t="0" r="0" b="0"/>
            </a:stretch>
          </a:blipFill>
        </p:spPr>
      </p:sp>
      <p:sp>
        <p:nvSpPr>
          <p:cNvPr name="Freeform 4" id="4"/>
          <p:cNvSpPr/>
          <p:nvPr/>
        </p:nvSpPr>
        <p:spPr>
          <a:xfrm flipH="false" flipV="false" rot="-8100000">
            <a:off x="15335691" y="2710682"/>
            <a:ext cx="2662126" cy="2747034"/>
          </a:xfrm>
          <a:custGeom>
            <a:avLst/>
            <a:gdLst/>
            <a:ahLst/>
            <a:cxnLst/>
            <a:rect r="r" b="b" t="t" l="l"/>
            <a:pathLst>
              <a:path h="2747034" w="2662126">
                <a:moveTo>
                  <a:pt x="0" y="0"/>
                </a:moveTo>
                <a:lnTo>
                  <a:pt x="2662126" y="0"/>
                </a:lnTo>
                <a:lnTo>
                  <a:pt x="2662126" y="2747034"/>
                </a:lnTo>
                <a:lnTo>
                  <a:pt x="0" y="274703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1764743">
            <a:off x="-3939419" y="-8123799"/>
            <a:ext cx="11652341" cy="11652341"/>
          </a:xfrm>
          <a:custGeom>
            <a:avLst/>
            <a:gdLst/>
            <a:ahLst/>
            <a:cxnLst/>
            <a:rect r="r" b="b" t="t" l="l"/>
            <a:pathLst>
              <a:path h="11652341" w="11652341">
                <a:moveTo>
                  <a:pt x="0" y="0"/>
                </a:moveTo>
                <a:lnTo>
                  <a:pt x="11652342" y="0"/>
                </a:lnTo>
                <a:lnTo>
                  <a:pt x="11652342" y="11652342"/>
                </a:lnTo>
                <a:lnTo>
                  <a:pt x="0" y="11652342"/>
                </a:lnTo>
                <a:lnTo>
                  <a:pt x="0" y="0"/>
                </a:lnTo>
                <a:close/>
              </a:path>
            </a:pathLst>
          </a:custGeom>
          <a:blipFill>
            <a:blip r:embed="rId5"/>
            <a:stretch>
              <a:fillRect l="0" t="0" r="0" b="0"/>
            </a:stretch>
          </a:blipFill>
        </p:spPr>
      </p:sp>
      <p:grpSp>
        <p:nvGrpSpPr>
          <p:cNvPr name="Group 6" id="6"/>
          <p:cNvGrpSpPr/>
          <p:nvPr/>
        </p:nvGrpSpPr>
        <p:grpSpPr>
          <a:xfrm rot="5400000">
            <a:off x="1886752" y="2171772"/>
            <a:ext cx="1420060" cy="1420060"/>
            <a:chOff x="0" y="0"/>
            <a:chExt cx="1893413" cy="1893413"/>
          </a:xfrm>
        </p:grpSpPr>
        <p:sp>
          <p:nvSpPr>
            <p:cNvPr name="Freeform 7" id="7"/>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6"/>
              <a:stretch>
                <a:fillRect l="0" t="0" r="0" b="0"/>
              </a:stretch>
            </a:blipFill>
          </p:spPr>
        </p:sp>
        <p:grpSp>
          <p:nvGrpSpPr>
            <p:cNvPr name="Group 8" id="8"/>
            <p:cNvGrpSpPr/>
            <p:nvPr/>
          </p:nvGrpSpPr>
          <p:grpSpPr>
            <a:xfrm rot="0">
              <a:off x="839799" y="527514"/>
              <a:ext cx="213816" cy="213816"/>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1" id="11"/>
            <p:cNvGrpSpPr/>
            <p:nvPr/>
          </p:nvGrpSpPr>
          <p:grpSpPr>
            <a:xfrm rot="0">
              <a:off x="839799" y="1152084"/>
              <a:ext cx="213816" cy="213816"/>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14" id="14"/>
          <p:cNvGrpSpPr/>
          <p:nvPr/>
        </p:nvGrpSpPr>
        <p:grpSpPr>
          <a:xfrm rot="5400000">
            <a:off x="1840110" y="6695168"/>
            <a:ext cx="1420060" cy="1420060"/>
            <a:chOff x="0" y="0"/>
            <a:chExt cx="1893413" cy="1893413"/>
          </a:xfrm>
        </p:grpSpPr>
        <p:sp>
          <p:nvSpPr>
            <p:cNvPr name="Freeform 15" id="15"/>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6"/>
              <a:stretch>
                <a:fillRect l="0" t="0" r="0" b="0"/>
              </a:stretch>
            </a:blipFill>
          </p:spPr>
        </p:sp>
        <p:grpSp>
          <p:nvGrpSpPr>
            <p:cNvPr name="Group 16" id="16"/>
            <p:cNvGrpSpPr/>
            <p:nvPr/>
          </p:nvGrpSpPr>
          <p:grpSpPr>
            <a:xfrm rot="0">
              <a:off x="839799" y="527514"/>
              <a:ext cx="213816" cy="213816"/>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8" id="18"/>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9" id="19"/>
            <p:cNvGrpSpPr/>
            <p:nvPr/>
          </p:nvGrpSpPr>
          <p:grpSpPr>
            <a:xfrm rot="0">
              <a:off x="839799" y="1152084"/>
              <a:ext cx="213816" cy="213816"/>
              <a:chOff x="0" y="0"/>
              <a:chExt cx="812800" cy="812800"/>
            </a:xfrm>
          </p:grpSpPr>
          <p:sp>
            <p:nvSpPr>
              <p:cNvPr name="Freeform 20" id="2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1" id="21"/>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sp>
        <p:nvSpPr>
          <p:cNvPr name="Freeform 22" id="22"/>
          <p:cNvSpPr/>
          <p:nvPr/>
        </p:nvSpPr>
        <p:spPr>
          <a:xfrm flipH="false" flipV="false" rot="0">
            <a:off x="2347021" y="3858660"/>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3" id="23"/>
          <p:cNvSpPr/>
          <p:nvPr/>
        </p:nvSpPr>
        <p:spPr>
          <a:xfrm flipH="false" flipV="false" rot="0">
            <a:off x="2347021" y="4544109"/>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4" id="24"/>
          <p:cNvSpPr/>
          <p:nvPr/>
        </p:nvSpPr>
        <p:spPr>
          <a:xfrm flipH="false" flipV="false" rot="0">
            <a:off x="2347021" y="5229557"/>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5" id="25"/>
          <p:cNvSpPr/>
          <p:nvPr/>
        </p:nvSpPr>
        <p:spPr>
          <a:xfrm flipH="false" flipV="false" rot="0">
            <a:off x="2347021" y="5915005"/>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6" id="26"/>
          <p:cNvSpPr txBox="true"/>
          <p:nvPr/>
        </p:nvSpPr>
        <p:spPr>
          <a:xfrm rot="0">
            <a:off x="4096891" y="2757977"/>
            <a:ext cx="10094219" cy="1995018"/>
          </a:xfrm>
          <a:prstGeom prst="rect">
            <a:avLst/>
          </a:prstGeom>
        </p:spPr>
        <p:txBody>
          <a:bodyPr anchor="t" rtlCol="false" tIns="0" lIns="0" bIns="0" rIns="0">
            <a:spAutoFit/>
          </a:bodyPr>
          <a:lstStyle/>
          <a:p>
            <a:pPr algn="ctr">
              <a:lnSpc>
                <a:spcPts val="13571"/>
              </a:lnSpc>
            </a:pPr>
            <a:r>
              <a:rPr lang="en-US" sz="12338">
                <a:solidFill>
                  <a:srgbClr val="3A3E61"/>
                </a:solidFill>
                <a:latin typeface="Unique"/>
                <a:ea typeface="Unique"/>
                <a:cs typeface="Unique"/>
                <a:sym typeface="Unique"/>
              </a:rPr>
              <a:t>KELOMPOK C</a:t>
            </a:r>
          </a:p>
        </p:txBody>
      </p:sp>
      <p:sp>
        <p:nvSpPr>
          <p:cNvPr name="TextBox 27" id="27"/>
          <p:cNvSpPr txBox="true"/>
          <p:nvPr/>
        </p:nvSpPr>
        <p:spPr>
          <a:xfrm rot="0">
            <a:off x="4088340" y="4791095"/>
            <a:ext cx="10102770" cy="2063539"/>
          </a:xfrm>
          <a:prstGeom prst="rect">
            <a:avLst/>
          </a:prstGeom>
        </p:spPr>
        <p:txBody>
          <a:bodyPr anchor="t" rtlCol="false" tIns="0" lIns="0" bIns="0" rIns="0">
            <a:spAutoFit/>
          </a:bodyPr>
          <a:lstStyle/>
          <a:p>
            <a:pPr algn="ctr">
              <a:lnSpc>
                <a:spcPts val="5406"/>
              </a:lnSpc>
            </a:pPr>
            <a:r>
              <a:rPr lang="en-US" sz="4914">
                <a:solidFill>
                  <a:srgbClr val="3A3E61"/>
                </a:solidFill>
                <a:latin typeface="Vintii"/>
                <a:ea typeface="Vintii"/>
                <a:cs typeface="Vintii"/>
                <a:sym typeface="Vintii"/>
              </a:rPr>
              <a:t>Disusun oleh </a:t>
            </a:r>
          </a:p>
          <a:p>
            <a:pPr algn="ctr">
              <a:lnSpc>
                <a:spcPts val="5406"/>
              </a:lnSpc>
            </a:pPr>
            <a:r>
              <a:rPr lang="en-US" sz="4914">
                <a:solidFill>
                  <a:srgbClr val="3A3E61"/>
                </a:solidFill>
                <a:latin typeface="Vintii"/>
                <a:ea typeface="Vintii"/>
                <a:cs typeface="Vintii"/>
                <a:sym typeface="Vintii"/>
              </a:rPr>
              <a:t>Nabil Faiq Aflah (261636002)</a:t>
            </a:r>
          </a:p>
          <a:p>
            <a:pPr algn="ctr">
              <a:lnSpc>
                <a:spcPts val="5406"/>
              </a:lnSpc>
            </a:pPr>
            <a:r>
              <a:rPr lang="en-US" sz="4914">
                <a:solidFill>
                  <a:srgbClr val="3A3E61"/>
                </a:solidFill>
                <a:latin typeface="Vintii"/>
                <a:ea typeface="Vintii"/>
                <a:cs typeface="Vintii"/>
                <a:sym typeface="Vintii"/>
              </a:rPr>
              <a:t>Dhika Muhammad Frizar (261635008)</a:t>
            </a:r>
          </a:p>
        </p:txBody>
      </p:sp>
      <p:sp>
        <p:nvSpPr>
          <p:cNvPr name="AutoShape 28" id="28"/>
          <p:cNvSpPr/>
          <p:nvPr/>
        </p:nvSpPr>
        <p:spPr>
          <a:xfrm flipV="true">
            <a:off x="15674602" y="0"/>
            <a:ext cx="2613398" cy="1028700"/>
          </a:xfrm>
          <a:prstGeom prst="line">
            <a:avLst/>
          </a:prstGeom>
          <a:ln cap="rnd" w="76200">
            <a:solidFill>
              <a:srgbClr val="9AA5DF"/>
            </a:solidFill>
            <a:prstDash val="sysDash"/>
            <a:headEnd type="none" len="sm" w="sm"/>
            <a:tailEnd type="none" len="sm" w="sm"/>
          </a:ln>
        </p:spPr>
      </p:sp>
      <p:sp>
        <p:nvSpPr>
          <p:cNvPr name="Freeform 29" id="29"/>
          <p:cNvSpPr/>
          <p:nvPr/>
        </p:nvSpPr>
        <p:spPr>
          <a:xfrm flipH="false" flipV="false" rot="-1764743">
            <a:off x="10343423" y="7749018"/>
            <a:ext cx="11652341" cy="11652341"/>
          </a:xfrm>
          <a:custGeom>
            <a:avLst/>
            <a:gdLst/>
            <a:ahLst/>
            <a:cxnLst/>
            <a:rect r="r" b="b" t="t" l="l"/>
            <a:pathLst>
              <a:path h="11652341" w="11652341">
                <a:moveTo>
                  <a:pt x="0" y="0"/>
                </a:moveTo>
                <a:lnTo>
                  <a:pt x="11652342" y="0"/>
                </a:lnTo>
                <a:lnTo>
                  <a:pt x="11652342" y="11652341"/>
                </a:lnTo>
                <a:lnTo>
                  <a:pt x="0" y="11652341"/>
                </a:lnTo>
                <a:lnTo>
                  <a:pt x="0" y="0"/>
                </a:lnTo>
                <a:close/>
              </a:path>
            </a:pathLst>
          </a:custGeom>
          <a:blipFill>
            <a:blip r:embed="rId5"/>
            <a:stretch>
              <a:fillRect l="0" t="0" r="0" b="0"/>
            </a:stretch>
          </a:blipFill>
        </p:spPr>
      </p:sp>
      <p:sp>
        <p:nvSpPr>
          <p:cNvPr name="AutoShape 30" id="30"/>
          <p:cNvSpPr/>
          <p:nvPr/>
        </p:nvSpPr>
        <p:spPr>
          <a:xfrm>
            <a:off x="15674602" y="9258300"/>
            <a:ext cx="2613398" cy="1028700"/>
          </a:xfrm>
          <a:prstGeom prst="line">
            <a:avLst/>
          </a:prstGeom>
          <a:ln cap="rnd" w="76200">
            <a:solidFill>
              <a:srgbClr val="9AA5DF"/>
            </a:solidFill>
            <a:prstDash val="sysDash"/>
            <a:headEnd type="none" len="sm" w="sm"/>
            <a:tailEnd type="none" len="sm" w="sm"/>
          </a:ln>
        </p:spPr>
      </p:sp>
      <p:sp>
        <p:nvSpPr>
          <p:cNvPr name="AutoShape 31" id="31"/>
          <p:cNvSpPr/>
          <p:nvPr/>
        </p:nvSpPr>
        <p:spPr>
          <a:xfrm flipH="true">
            <a:off x="0" y="9258300"/>
            <a:ext cx="2550140" cy="1028700"/>
          </a:xfrm>
          <a:prstGeom prst="line">
            <a:avLst/>
          </a:prstGeom>
          <a:ln cap="rnd" w="76200">
            <a:solidFill>
              <a:srgbClr val="9AA5DF"/>
            </a:solidFill>
            <a:prstDash val="sysDash"/>
            <a:headEnd type="none" len="sm" w="sm"/>
            <a:tailEnd type="none" len="sm" w="sm"/>
          </a:ln>
        </p:spPr>
      </p:sp>
      <p:sp>
        <p:nvSpPr>
          <p:cNvPr name="AutoShape 32" id="32"/>
          <p:cNvSpPr/>
          <p:nvPr/>
        </p:nvSpPr>
        <p:spPr>
          <a:xfrm flipH="true" flipV="true">
            <a:off x="0" y="0"/>
            <a:ext cx="2562741" cy="1064656"/>
          </a:xfrm>
          <a:prstGeom prst="line">
            <a:avLst/>
          </a:prstGeom>
          <a:ln cap="rnd" w="76200">
            <a:solidFill>
              <a:srgbClr val="9AA5DF"/>
            </a:solidFill>
            <a:prstDash val="sysDash"/>
            <a:headEnd type="none" len="sm" w="sm"/>
            <a:tailEnd type="none" len="sm" w="sm"/>
          </a:ln>
        </p:spPr>
      </p:sp>
      <p:sp>
        <p:nvSpPr>
          <p:cNvPr name="TextBox 33" id="33"/>
          <p:cNvSpPr txBox="true"/>
          <p:nvPr/>
        </p:nvSpPr>
        <p:spPr>
          <a:xfrm rot="0">
            <a:off x="4088340" y="7072218"/>
            <a:ext cx="10102770" cy="704059"/>
          </a:xfrm>
          <a:prstGeom prst="rect">
            <a:avLst/>
          </a:prstGeom>
        </p:spPr>
        <p:txBody>
          <a:bodyPr anchor="t" rtlCol="false" tIns="0" lIns="0" bIns="0" rIns="0">
            <a:spAutoFit/>
          </a:bodyPr>
          <a:lstStyle/>
          <a:p>
            <a:pPr algn="ctr">
              <a:lnSpc>
                <a:spcPts val="5406"/>
              </a:lnSpc>
            </a:pPr>
            <a:r>
              <a:rPr lang="en-US" sz="4914">
                <a:solidFill>
                  <a:srgbClr val="3A3E61"/>
                </a:solidFill>
                <a:latin typeface="Vintii"/>
                <a:ea typeface="Vintii"/>
                <a:cs typeface="Vintii"/>
                <a:sym typeface="Vintii"/>
              </a:rPr>
              <a:t>Domain : Peminjaman Perpustakaan</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AutoShape 2" id="2"/>
          <p:cNvSpPr/>
          <p:nvPr/>
        </p:nvSpPr>
        <p:spPr>
          <a:xfrm>
            <a:off x="5028104" y="9296400"/>
            <a:ext cx="12670879" cy="0"/>
          </a:xfrm>
          <a:prstGeom prst="line">
            <a:avLst/>
          </a:prstGeom>
          <a:ln cap="rnd" w="76200">
            <a:solidFill>
              <a:srgbClr val="3A3E61"/>
            </a:solidFill>
            <a:prstDash val="sysDash"/>
            <a:headEnd type="none" len="sm" w="sm"/>
            <a:tailEnd type="none" len="sm" w="sm"/>
          </a:ln>
        </p:spPr>
      </p:sp>
      <p:sp>
        <p:nvSpPr>
          <p:cNvPr name="Freeform 3" id="3"/>
          <p:cNvSpPr/>
          <p:nvPr/>
        </p:nvSpPr>
        <p:spPr>
          <a:xfrm flipH="false" flipV="false" rot="0">
            <a:off x="-3093881" y="-346189"/>
            <a:ext cx="12237881" cy="10979378"/>
          </a:xfrm>
          <a:custGeom>
            <a:avLst/>
            <a:gdLst/>
            <a:ahLst/>
            <a:cxnLst/>
            <a:rect r="r" b="b" t="t" l="l"/>
            <a:pathLst>
              <a:path h="10979378" w="12237881">
                <a:moveTo>
                  <a:pt x="0" y="0"/>
                </a:moveTo>
                <a:lnTo>
                  <a:pt x="12237881" y="0"/>
                </a:lnTo>
                <a:lnTo>
                  <a:pt x="12237881" y="10979378"/>
                </a:lnTo>
                <a:lnTo>
                  <a:pt x="0" y="10979378"/>
                </a:lnTo>
                <a:lnTo>
                  <a:pt x="0" y="0"/>
                </a:lnTo>
                <a:close/>
              </a:path>
            </a:pathLst>
          </a:custGeom>
          <a:blipFill>
            <a:blip r:embed="rId2"/>
            <a:stretch>
              <a:fillRect l="0" t="-6698" r="-1735" b="-6698"/>
            </a:stretch>
          </a:blipFill>
        </p:spPr>
      </p:sp>
      <p:sp>
        <p:nvSpPr>
          <p:cNvPr name="AutoShape 4" id="4"/>
          <p:cNvSpPr/>
          <p:nvPr/>
        </p:nvSpPr>
        <p:spPr>
          <a:xfrm>
            <a:off x="5028104" y="1206349"/>
            <a:ext cx="12670879" cy="0"/>
          </a:xfrm>
          <a:prstGeom prst="line">
            <a:avLst/>
          </a:prstGeom>
          <a:ln cap="rnd" w="76200">
            <a:solidFill>
              <a:srgbClr val="3A3E61"/>
            </a:solidFill>
            <a:prstDash val="sysDash"/>
            <a:headEnd type="none" len="sm" w="sm"/>
            <a:tailEnd type="none" len="sm" w="sm"/>
          </a:ln>
        </p:spPr>
      </p:sp>
      <p:grpSp>
        <p:nvGrpSpPr>
          <p:cNvPr name="Group 5" id="5"/>
          <p:cNvGrpSpPr/>
          <p:nvPr/>
        </p:nvGrpSpPr>
        <p:grpSpPr>
          <a:xfrm rot="5400000">
            <a:off x="16278923" y="534419"/>
            <a:ext cx="1420060" cy="1420060"/>
            <a:chOff x="0" y="0"/>
            <a:chExt cx="1893413" cy="1893413"/>
          </a:xfrm>
        </p:grpSpPr>
        <p:sp>
          <p:nvSpPr>
            <p:cNvPr name="Freeform 6" id="6"/>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3"/>
              <a:stretch>
                <a:fillRect l="0" t="0" r="0" b="0"/>
              </a:stretch>
            </a:blipFill>
          </p:spPr>
        </p:sp>
        <p:grpSp>
          <p:nvGrpSpPr>
            <p:cNvPr name="Group 7" id="7"/>
            <p:cNvGrpSpPr/>
            <p:nvPr/>
          </p:nvGrpSpPr>
          <p:grpSpPr>
            <a:xfrm rot="0">
              <a:off x="839799" y="527514"/>
              <a:ext cx="213816" cy="213816"/>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9" id="9"/>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0" id="10"/>
            <p:cNvGrpSpPr/>
            <p:nvPr/>
          </p:nvGrpSpPr>
          <p:grpSpPr>
            <a:xfrm rot="0">
              <a:off x="839799" y="1152084"/>
              <a:ext cx="213816" cy="213816"/>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2" id="12"/>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13" id="13"/>
          <p:cNvGrpSpPr/>
          <p:nvPr/>
        </p:nvGrpSpPr>
        <p:grpSpPr>
          <a:xfrm rot="5400000">
            <a:off x="16337225" y="8586370"/>
            <a:ext cx="1420060" cy="1420060"/>
            <a:chOff x="0" y="0"/>
            <a:chExt cx="1893413" cy="1893413"/>
          </a:xfrm>
        </p:grpSpPr>
        <p:sp>
          <p:nvSpPr>
            <p:cNvPr name="Freeform 14" id="14"/>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3"/>
              <a:stretch>
                <a:fillRect l="0" t="0" r="0" b="0"/>
              </a:stretch>
            </a:blipFill>
          </p:spPr>
        </p:sp>
        <p:grpSp>
          <p:nvGrpSpPr>
            <p:cNvPr name="Group 15" id="15"/>
            <p:cNvGrpSpPr/>
            <p:nvPr/>
          </p:nvGrpSpPr>
          <p:grpSpPr>
            <a:xfrm rot="0">
              <a:off x="839799" y="527514"/>
              <a:ext cx="213816" cy="213816"/>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7" id="17"/>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8" id="18"/>
            <p:cNvGrpSpPr/>
            <p:nvPr/>
          </p:nvGrpSpPr>
          <p:grpSpPr>
            <a:xfrm rot="0">
              <a:off x="839799" y="1152084"/>
              <a:ext cx="213816" cy="213816"/>
              <a:chOff x="0" y="0"/>
              <a:chExt cx="812800" cy="812800"/>
            </a:xfrm>
          </p:grpSpPr>
          <p:sp>
            <p:nvSpPr>
              <p:cNvPr name="Freeform 19" id="1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0" id="20"/>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21" id="21"/>
          <p:cNvGrpSpPr/>
          <p:nvPr/>
        </p:nvGrpSpPr>
        <p:grpSpPr>
          <a:xfrm rot="0">
            <a:off x="16040822" y="3858660"/>
            <a:ext cx="592806" cy="2562077"/>
            <a:chOff x="0" y="0"/>
            <a:chExt cx="790408" cy="3416102"/>
          </a:xfrm>
        </p:grpSpPr>
        <p:sp>
          <p:nvSpPr>
            <p:cNvPr name="Freeform 22" id="22"/>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0">
              <a:off x="31094" y="913931"/>
              <a:ext cx="697124" cy="674309"/>
            </a:xfrm>
            <a:custGeom>
              <a:avLst/>
              <a:gdLst/>
              <a:ahLst/>
              <a:cxnLst/>
              <a:rect r="r" b="b" t="t" l="l"/>
              <a:pathLst>
                <a:path h="674309" w="697124">
                  <a:moveTo>
                    <a:pt x="0" y="0"/>
                  </a:moveTo>
                  <a:lnTo>
                    <a:pt x="697125" y="0"/>
                  </a:lnTo>
                  <a:lnTo>
                    <a:pt x="697125" y="674309"/>
                  </a:lnTo>
                  <a:lnTo>
                    <a:pt x="0" y="67430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4" id="24"/>
            <p:cNvSpPr/>
            <p:nvPr/>
          </p:nvSpPr>
          <p:spPr>
            <a:xfrm flipH="false" flipV="false" rot="0">
              <a:off x="62189"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5" id="25"/>
            <p:cNvSpPr/>
            <p:nvPr/>
          </p:nvSpPr>
          <p:spPr>
            <a:xfrm flipH="false" flipV="false" rot="0">
              <a:off x="93283" y="2741793"/>
              <a:ext cx="697124" cy="674309"/>
            </a:xfrm>
            <a:custGeom>
              <a:avLst/>
              <a:gdLst/>
              <a:ahLst/>
              <a:cxnLst/>
              <a:rect r="r" b="b" t="t" l="l"/>
              <a:pathLst>
                <a:path h="674309" w="697124">
                  <a:moveTo>
                    <a:pt x="0" y="0"/>
                  </a:moveTo>
                  <a:lnTo>
                    <a:pt x="697125" y="0"/>
                  </a:lnTo>
                  <a:lnTo>
                    <a:pt x="697125" y="674309"/>
                  </a:lnTo>
                  <a:lnTo>
                    <a:pt x="0" y="67430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sp>
        <p:nvSpPr>
          <p:cNvPr name="Freeform 26" id="26"/>
          <p:cNvSpPr/>
          <p:nvPr/>
        </p:nvSpPr>
        <p:spPr>
          <a:xfrm flipH="false" flipV="false" rot="0">
            <a:off x="231422" y="3067818"/>
            <a:ext cx="3607579" cy="2254737"/>
          </a:xfrm>
          <a:custGeom>
            <a:avLst/>
            <a:gdLst/>
            <a:ahLst/>
            <a:cxnLst/>
            <a:rect r="r" b="b" t="t" l="l"/>
            <a:pathLst>
              <a:path h="2254737" w="3607579">
                <a:moveTo>
                  <a:pt x="0" y="0"/>
                </a:moveTo>
                <a:lnTo>
                  <a:pt x="3607579" y="0"/>
                </a:lnTo>
                <a:lnTo>
                  <a:pt x="3607579" y="2254737"/>
                </a:lnTo>
                <a:lnTo>
                  <a:pt x="0" y="2254737"/>
                </a:lnTo>
                <a:lnTo>
                  <a:pt x="0" y="0"/>
                </a:lnTo>
                <a:close/>
              </a:path>
            </a:pathLst>
          </a:custGeom>
          <a:blipFill>
            <a:blip r:embed="rId6"/>
            <a:stretch>
              <a:fillRect l="0" t="0" r="0" b="0"/>
            </a:stretch>
          </a:blipFill>
        </p:spPr>
      </p:sp>
      <p:sp>
        <p:nvSpPr>
          <p:cNvPr name="Freeform 27" id="27"/>
          <p:cNvSpPr/>
          <p:nvPr/>
        </p:nvSpPr>
        <p:spPr>
          <a:xfrm flipH="false" flipV="false" rot="0">
            <a:off x="231422" y="5973300"/>
            <a:ext cx="3607579" cy="2254737"/>
          </a:xfrm>
          <a:custGeom>
            <a:avLst/>
            <a:gdLst/>
            <a:ahLst/>
            <a:cxnLst/>
            <a:rect r="r" b="b" t="t" l="l"/>
            <a:pathLst>
              <a:path h="2254737" w="3607579">
                <a:moveTo>
                  <a:pt x="0" y="0"/>
                </a:moveTo>
                <a:lnTo>
                  <a:pt x="3607579" y="0"/>
                </a:lnTo>
                <a:lnTo>
                  <a:pt x="3607579" y="2254737"/>
                </a:lnTo>
                <a:lnTo>
                  <a:pt x="0" y="2254737"/>
                </a:lnTo>
                <a:lnTo>
                  <a:pt x="0" y="0"/>
                </a:lnTo>
                <a:close/>
              </a:path>
            </a:pathLst>
          </a:custGeom>
          <a:blipFill>
            <a:blip r:embed="rId7"/>
            <a:stretch>
              <a:fillRect l="0" t="0" r="0" b="0"/>
            </a:stretch>
          </a:blipFill>
        </p:spPr>
      </p:sp>
      <p:sp>
        <p:nvSpPr>
          <p:cNvPr name="Freeform 28" id="28"/>
          <p:cNvSpPr/>
          <p:nvPr/>
        </p:nvSpPr>
        <p:spPr>
          <a:xfrm flipH="false" flipV="false" rot="0">
            <a:off x="4425793" y="3067818"/>
            <a:ext cx="3637129" cy="2273205"/>
          </a:xfrm>
          <a:custGeom>
            <a:avLst/>
            <a:gdLst/>
            <a:ahLst/>
            <a:cxnLst/>
            <a:rect r="r" b="b" t="t" l="l"/>
            <a:pathLst>
              <a:path h="2273205" w="3637129">
                <a:moveTo>
                  <a:pt x="0" y="0"/>
                </a:moveTo>
                <a:lnTo>
                  <a:pt x="3637128" y="0"/>
                </a:lnTo>
                <a:lnTo>
                  <a:pt x="3637128" y="2273206"/>
                </a:lnTo>
                <a:lnTo>
                  <a:pt x="0" y="2273206"/>
                </a:lnTo>
                <a:lnTo>
                  <a:pt x="0" y="0"/>
                </a:lnTo>
                <a:close/>
              </a:path>
            </a:pathLst>
          </a:custGeom>
          <a:blipFill>
            <a:blip r:embed="rId8"/>
            <a:stretch>
              <a:fillRect l="0" t="0" r="0" b="0"/>
            </a:stretch>
          </a:blipFill>
        </p:spPr>
      </p:sp>
      <p:sp>
        <p:nvSpPr>
          <p:cNvPr name="Freeform 29" id="29"/>
          <p:cNvSpPr/>
          <p:nvPr/>
        </p:nvSpPr>
        <p:spPr>
          <a:xfrm flipH="false" flipV="false" rot="0">
            <a:off x="4444179" y="5973300"/>
            <a:ext cx="3618742" cy="2261714"/>
          </a:xfrm>
          <a:custGeom>
            <a:avLst/>
            <a:gdLst/>
            <a:ahLst/>
            <a:cxnLst/>
            <a:rect r="r" b="b" t="t" l="l"/>
            <a:pathLst>
              <a:path h="2261714" w="3618742">
                <a:moveTo>
                  <a:pt x="0" y="0"/>
                </a:moveTo>
                <a:lnTo>
                  <a:pt x="3618742" y="0"/>
                </a:lnTo>
                <a:lnTo>
                  <a:pt x="3618742" y="2261714"/>
                </a:lnTo>
                <a:lnTo>
                  <a:pt x="0" y="2261714"/>
                </a:lnTo>
                <a:lnTo>
                  <a:pt x="0" y="0"/>
                </a:lnTo>
                <a:close/>
              </a:path>
            </a:pathLst>
          </a:custGeom>
          <a:blipFill>
            <a:blip r:embed="rId9"/>
            <a:stretch>
              <a:fillRect l="0" t="0" r="0" b="0"/>
            </a:stretch>
          </a:blipFill>
        </p:spPr>
      </p:sp>
      <p:sp>
        <p:nvSpPr>
          <p:cNvPr name="Freeform 30" id="30"/>
          <p:cNvSpPr/>
          <p:nvPr/>
        </p:nvSpPr>
        <p:spPr>
          <a:xfrm flipH="false" flipV="false" rot="0">
            <a:off x="9671272" y="3077052"/>
            <a:ext cx="3621109" cy="2245503"/>
          </a:xfrm>
          <a:custGeom>
            <a:avLst/>
            <a:gdLst/>
            <a:ahLst/>
            <a:cxnLst/>
            <a:rect r="r" b="b" t="t" l="l"/>
            <a:pathLst>
              <a:path h="2245503" w="3621109">
                <a:moveTo>
                  <a:pt x="0" y="0"/>
                </a:moveTo>
                <a:lnTo>
                  <a:pt x="3621109" y="0"/>
                </a:lnTo>
                <a:lnTo>
                  <a:pt x="3621109" y="2245503"/>
                </a:lnTo>
                <a:lnTo>
                  <a:pt x="0" y="2245503"/>
                </a:lnTo>
                <a:lnTo>
                  <a:pt x="0" y="0"/>
                </a:lnTo>
                <a:close/>
              </a:path>
            </a:pathLst>
          </a:custGeom>
          <a:blipFill>
            <a:blip r:embed="rId10"/>
            <a:stretch>
              <a:fillRect l="0" t="0" r="0" b="0"/>
            </a:stretch>
          </a:blipFill>
        </p:spPr>
      </p:sp>
      <p:sp>
        <p:nvSpPr>
          <p:cNvPr name="Freeform 31" id="31"/>
          <p:cNvSpPr/>
          <p:nvPr/>
        </p:nvSpPr>
        <p:spPr>
          <a:xfrm flipH="false" flipV="false" rot="0">
            <a:off x="9738900" y="6130069"/>
            <a:ext cx="3485852" cy="2177977"/>
          </a:xfrm>
          <a:custGeom>
            <a:avLst/>
            <a:gdLst/>
            <a:ahLst/>
            <a:cxnLst/>
            <a:rect r="r" b="b" t="t" l="l"/>
            <a:pathLst>
              <a:path h="2177977" w="3485852">
                <a:moveTo>
                  <a:pt x="0" y="0"/>
                </a:moveTo>
                <a:lnTo>
                  <a:pt x="3485852" y="0"/>
                </a:lnTo>
                <a:lnTo>
                  <a:pt x="3485852" y="2177977"/>
                </a:lnTo>
                <a:lnTo>
                  <a:pt x="0" y="2177977"/>
                </a:lnTo>
                <a:lnTo>
                  <a:pt x="0" y="0"/>
                </a:lnTo>
                <a:close/>
              </a:path>
            </a:pathLst>
          </a:custGeom>
          <a:blipFill>
            <a:blip r:embed="rId11"/>
            <a:stretch>
              <a:fillRect l="0" t="0" r="0" b="0"/>
            </a:stretch>
          </a:blipFill>
        </p:spPr>
      </p:sp>
      <p:sp>
        <p:nvSpPr>
          <p:cNvPr name="Freeform 32" id="32"/>
          <p:cNvSpPr/>
          <p:nvPr/>
        </p:nvSpPr>
        <p:spPr>
          <a:xfrm flipH="false" flipV="false" rot="0">
            <a:off x="13967620" y="3077052"/>
            <a:ext cx="3587218" cy="2245503"/>
          </a:xfrm>
          <a:custGeom>
            <a:avLst/>
            <a:gdLst/>
            <a:ahLst/>
            <a:cxnLst/>
            <a:rect r="r" b="b" t="t" l="l"/>
            <a:pathLst>
              <a:path h="2245503" w="3587218">
                <a:moveTo>
                  <a:pt x="0" y="0"/>
                </a:moveTo>
                <a:lnTo>
                  <a:pt x="3587218" y="0"/>
                </a:lnTo>
                <a:lnTo>
                  <a:pt x="3587218" y="2245503"/>
                </a:lnTo>
                <a:lnTo>
                  <a:pt x="0" y="2245503"/>
                </a:lnTo>
                <a:lnTo>
                  <a:pt x="0" y="0"/>
                </a:lnTo>
                <a:close/>
              </a:path>
            </a:pathLst>
          </a:custGeom>
          <a:blipFill>
            <a:blip r:embed="rId12"/>
            <a:stretch>
              <a:fillRect l="-303" t="0" r="-303" b="0"/>
            </a:stretch>
          </a:blipFill>
        </p:spPr>
      </p:sp>
      <p:sp>
        <p:nvSpPr>
          <p:cNvPr name="Freeform 33" id="33"/>
          <p:cNvSpPr/>
          <p:nvPr/>
        </p:nvSpPr>
        <p:spPr>
          <a:xfrm flipH="false" flipV="false" rot="0">
            <a:off x="13967620" y="6130069"/>
            <a:ext cx="3485852" cy="2177977"/>
          </a:xfrm>
          <a:custGeom>
            <a:avLst/>
            <a:gdLst/>
            <a:ahLst/>
            <a:cxnLst/>
            <a:rect r="r" b="b" t="t" l="l"/>
            <a:pathLst>
              <a:path h="2177977" w="3485852">
                <a:moveTo>
                  <a:pt x="0" y="0"/>
                </a:moveTo>
                <a:lnTo>
                  <a:pt x="3485852" y="0"/>
                </a:lnTo>
                <a:lnTo>
                  <a:pt x="3485852" y="2177977"/>
                </a:lnTo>
                <a:lnTo>
                  <a:pt x="0" y="2177977"/>
                </a:lnTo>
                <a:lnTo>
                  <a:pt x="0" y="0"/>
                </a:lnTo>
                <a:close/>
              </a:path>
            </a:pathLst>
          </a:custGeom>
          <a:blipFill>
            <a:blip r:embed="rId13"/>
            <a:stretch>
              <a:fillRect l="0" t="0" r="0" b="0"/>
            </a:stretch>
          </a:blipFill>
        </p:spPr>
      </p:sp>
      <p:sp>
        <p:nvSpPr>
          <p:cNvPr name="TextBox 34" id="34"/>
          <p:cNvSpPr txBox="true"/>
          <p:nvPr/>
        </p:nvSpPr>
        <p:spPr>
          <a:xfrm rot="0">
            <a:off x="1028700" y="212747"/>
            <a:ext cx="5620602" cy="1511256"/>
          </a:xfrm>
          <a:prstGeom prst="rect">
            <a:avLst/>
          </a:prstGeom>
        </p:spPr>
        <p:txBody>
          <a:bodyPr anchor="t" rtlCol="false" tIns="0" lIns="0" bIns="0" rIns="0">
            <a:spAutoFit/>
          </a:bodyPr>
          <a:lstStyle/>
          <a:p>
            <a:pPr algn="ctr">
              <a:lnSpc>
                <a:spcPts val="5499"/>
              </a:lnSpc>
            </a:pPr>
            <a:r>
              <a:rPr lang="en-US" sz="4999">
                <a:solidFill>
                  <a:srgbClr val="3A3E61"/>
                </a:solidFill>
                <a:latin typeface="Unique"/>
                <a:ea typeface="Unique"/>
                <a:cs typeface="Unique"/>
                <a:sym typeface="Unique"/>
              </a:rPr>
              <a:t>BUKTI MENONTON</a:t>
            </a:r>
          </a:p>
          <a:p>
            <a:pPr algn="ctr">
              <a:lnSpc>
                <a:spcPts val="5499"/>
              </a:lnSpc>
            </a:pPr>
            <a:r>
              <a:rPr lang="en-US" sz="4999">
                <a:solidFill>
                  <a:srgbClr val="3A3E61"/>
                </a:solidFill>
                <a:latin typeface="Unique"/>
                <a:ea typeface="Unique"/>
                <a:cs typeface="Unique"/>
                <a:sym typeface="Unique"/>
              </a:rPr>
              <a:t>DHIKA</a:t>
            </a:r>
          </a:p>
        </p:txBody>
      </p:sp>
      <p:sp>
        <p:nvSpPr>
          <p:cNvPr name="TextBox 35" id="35"/>
          <p:cNvSpPr txBox="true"/>
          <p:nvPr/>
        </p:nvSpPr>
        <p:spPr>
          <a:xfrm rot="0">
            <a:off x="8651939" y="212747"/>
            <a:ext cx="9636061" cy="815953"/>
          </a:xfrm>
          <a:prstGeom prst="rect">
            <a:avLst/>
          </a:prstGeom>
        </p:spPr>
        <p:txBody>
          <a:bodyPr anchor="t" rtlCol="false" tIns="0" lIns="0" bIns="0" rIns="0">
            <a:spAutoFit/>
          </a:bodyPr>
          <a:lstStyle/>
          <a:p>
            <a:pPr algn="ctr">
              <a:lnSpc>
                <a:spcPts val="5499"/>
              </a:lnSpc>
            </a:pPr>
            <a:r>
              <a:rPr lang="en-US" sz="4999">
                <a:solidFill>
                  <a:srgbClr val="3A3E61"/>
                </a:solidFill>
                <a:latin typeface="Unique"/>
                <a:ea typeface="Unique"/>
                <a:cs typeface="Unique"/>
                <a:sym typeface="Unique"/>
              </a:rPr>
              <a:t>BUKTI MENONTON NABIL</a:t>
            </a:r>
          </a:p>
        </p:txBody>
      </p:sp>
      <p:sp>
        <p:nvSpPr>
          <p:cNvPr name="TextBox 36" id="36"/>
          <p:cNvSpPr txBox="true"/>
          <p:nvPr/>
        </p:nvSpPr>
        <p:spPr>
          <a:xfrm rot="0">
            <a:off x="330492" y="2442794"/>
            <a:ext cx="3409439" cy="488862"/>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VIDEO 1</a:t>
            </a:r>
          </a:p>
        </p:txBody>
      </p:sp>
      <p:sp>
        <p:nvSpPr>
          <p:cNvPr name="TextBox 37" id="37"/>
          <p:cNvSpPr txBox="true"/>
          <p:nvPr/>
        </p:nvSpPr>
        <p:spPr>
          <a:xfrm rot="0">
            <a:off x="231422" y="5389209"/>
            <a:ext cx="3409439" cy="488862"/>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39:25</a:t>
            </a:r>
          </a:p>
        </p:txBody>
      </p:sp>
      <p:sp>
        <p:nvSpPr>
          <p:cNvPr name="TextBox 38" id="38"/>
          <p:cNvSpPr txBox="true"/>
          <p:nvPr/>
        </p:nvSpPr>
        <p:spPr>
          <a:xfrm rot="0">
            <a:off x="330492" y="8199462"/>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51:19</a:t>
            </a:r>
          </a:p>
        </p:txBody>
      </p:sp>
      <p:sp>
        <p:nvSpPr>
          <p:cNvPr name="TextBox 39" id="39"/>
          <p:cNvSpPr txBox="true"/>
          <p:nvPr/>
        </p:nvSpPr>
        <p:spPr>
          <a:xfrm rot="0">
            <a:off x="4539638" y="2442794"/>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VIDEO 2</a:t>
            </a:r>
          </a:p>
        </p:txBody>
      </p:sp>
      <p:sp>
        <p:nvSpPr>
          <p:cNvPr name="TextBox 40" id="40"/>
          <p:cNvSpPr txBox="true"/>
          <p:nvPr/>
        </p:nvSpPr>
        <p:spPr>
          <a:xfrm rot="0">
            <a:off x="4539638" y="5389195"/>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01:51</a:t>
            </a:r>
          </a:p>
        </p:txBody>
      </p:sp>
      <p:sp>
        <p:nvSpPr>
          <p:cNvPr name="TextBox 41" id="41"/>
          <p:cNvSpPr txBox="true"/>
          <p:nvPr/>
        </p:nvSpPr>
        <p:spPr>
          <a:xfrm rot="0">
            <a:off x="4539638" y="8199462"/>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10:34</a:t>
            </a:r>
          </a:p>
        </p:txBody>
      </p:sp>
      <p:sp>
        <p:nvSpPr>
          <p:cNvPr name="TextBox 42" id="42"/>
          <p:cNvSpPr txBox="true"/>
          <p:nvPr/>
        </p:nvSpPr>
        <p:spPr>
          <a:xfrm rot="0">
            <a:off x="9777107" y="2442808"/>
            <a:ext cx="3409439" cy="488862"/>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VIDEO 1</a:t>
            </a:r>
          </a:p>
        </p:txBody>
      </p:sp>
      <p:sp>
        <p:nvSpPr>
          <p:cNvPr name="TextBox 43" id="43"/>
          <p:cNvSpPr txBox="true"/>
          <p:nvPr/>
        </p:nvSpPr>
        <p:spPr>
          <a:xfrm rot="0">
            <a:off x="14005827" y="2442808"/>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VIDEO 2</a:t>
            </a:r>
          </a:p>
        </p:txBody>
      </p:sp>
      <p:sp>
        <p:nvSpPr>
          <p:cNvPr name="TextBox 44" id="44"/>
          <p:cNvSpPr txBox="true"/>
          <p:nvPr/>
        </p:nvSpPr>
        <p:spPr>
          <a:xfrm rot="0">
            <a:off x="9777107" y="5389209"/>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26:15</a:t>
            </a:r>
          </a:p>
        </p:txBody>
      </p:sp>
      <p:sp>
        <p:nvSpPr>
          <p:cNvPr name="TextBox 45" id="45"/>
          <p:cNvSpPr txBox="true"/>
          <p:nvPr/>
        </p:nvSpPr>
        <p:spPr>
          <a:xfrm rot="0">
            <a:off x="9777107" y="8429612"/>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32:55</a:t>
            </a:r>
          </a:p>
        </p:txBody>
      </p:sp>
      <p:sp>
        <p:nvSpPr>
          <p:cNvPr name="TextBox 46" id="46"/>
          <p:cNvSpPr txBox="true"/>
          <p:nvPr/>
        </p:nvSpPr>
        <p:spPr>
          <a:xfrm rot="0">
            <a:off x="14056509" y="5389195"/>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06:09</a:t>
            </a:r>
          </a:p>
        </p:txBody>
      </p:sp>
      <p:sp>
        <p:nvSpPr>
          <p:cNvPr name="TextBox 47" id="47"/>
          <p:cNvSpPr txBox="true"/>
          <p:nvPr/>
        </p:nvSpPr>
        <p:spPr>
          <a:xfrm rot="0">
            <a:off x="14005827" y="8429612"/>
            <a:ext cx="3409439" cy="488876"/>
          </a:xfrm>
          <a:prstGeom prst="rect">
            <a:avLst/>
          </a:prstGeom>
        </p:spPr>
        <p:txBody>
          <a:bodyPr anchor="t" rtlCol="false" tIns="0" lIns="0" bIns="0" rIns="0">
            <a:spAutoFit/>
          </a:bodyPr>
          <a:lstStyle/>
          <a:p>
            <a:pPr algn="ctr">
              <a:lnSpc>
                <a:spcPts val="3336"/>
              </a:lnSpc>
            </a:pPr>
            <a:r>
              <a:rPr lang="en-US" sz="3032">
                <a:solidFill>
                  <a:srgbClr val="3A3E61"/>
                </a:solidFill>
                <a:latin typeface="Unique"/>
                <a:ea typeface="Unique"/>
                <a:cs typeface="Unique"/>
                <a:sym typeface="Unique"/>
              </a:rPr>
              <a:t>16:58</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0">
            <a:off x="13758234" y="-1180902"/>
            <a:ext cx="11580664" cy="11580664"/>
          </a:xfrm>
          <a:custGeom>
            <a:avLst/>
            <a:gdLst/>
            <a:ahLst/>
            <a:cxnLst/>
            <a:rect r="r" b="b" t="t" l="l"/>
            <a:pathLst>
              <a:path h="11580664" w="11580664">
                <a:moveTo>
                  <a:pt x="0" y="0"/>
                </a:moveTo>
                <a:lnTo>
                  <a:pt x="11580664" y="0"/>
                </a:lnTo>
                <a:lnTo>
                  <a:pt x="11580664" y="11580665"/>
                </a:lnTo>
                <a:lnTo>
                  <a:pt x="0" y="11580665"/>
                </a:lnTo>
                <a:lnTo>
                  <a:pt x="0" y="0"/>
                </a:lnTo>
                <a:close/>
              </a:path>
            </a:pathLst>
          </a:custGeom>
          <a:blipFill>
            <a:blip r:embed="rId2"/>
            <a:stretch>
              <a:fillRect l="0" t="0" r="0" b="0"/>
            </a:stretch>
          </a:blipFill>
        </p:spPr>
      </p:sp>
      <p:sp>
        <p:nvSpPr>
          <p:cNvPr name="Freeform 3" id="3"/>
          <p:cNvSpPr/>
          <p:nvPr/>
        </p:nvSpPr>
        <p:spPr>
          <a:xfrm flipH="false" flipV="false" rot="0">
            <a:off x="-7053475" y="0"/>
            <a:ext cx="11580664" cy="11580664"/>
          </a:xfrm>
          <a:custGeom>
            <a:avLst/>
            <a:gdLst/>
            <a:ahLst/>
            <a:cxnLst/>
            <a:rect r="r" b="b" t="t" l="l"/>
            <a:pathLst>
              <a:path h="11580664" w="11580664">
                <a:moveTo>
                  <a:pt x="0" y="0"/>
                </a:moveTo>
                <a:lnTo>
                  <a:pt x="11580664" y="0"/>
                </a:lnTo>
                <a:lnTo>
                  <a:pt x="11580664" y="11580664"/>
                </a:lnTo>
                <a:lnTo>
                  <a:pt x="0" y="11580664"/>
                </a:lnTo>
                <a:lnTo>
                  <a:pt x="0" y="0"/>
                </a:lnTo>
                <a:close/>
              </a:path>
            </a:pathLst>
          </a:custGeom>
          <a:blipFill>
            <a:blip r:embed="rId2"/>
            <a:stretch>
              <a:fillRect l="0" t="0" r="0" b="0"/>
            </a:stretch>
          </a:blipFill>
        </p:spPr>
      </p:sp>
      <p:sp>
        <p:nvSpPr>
          <p:cNvPr name="Freeform 4" id="4"/>
          <p:cNvSpPr/>
          <p:nvPr/>
        </p:nvSpPr>
        <p:spPr>
          <a:xfrm flipH="false" flipV="false" rot="0">
            <a:off x="1383715" y="1028700"/>
            <a:ext cx="15520570" cy="8229600"/>
          </a:xfrm>
          <a:custGeom>
            <a:avLst/>
            <a:gdLst/>
            <a:ahLst/>
            <a:cxnLst/>
            <a:rect r="r" b="b" t="t" l="l"/>
            <a:pathLst>
              <a:path h="8229600" w="15520570">
                <a:moveTo>
                  <a:pt x="0" y="0"/>
                </a:moveTo>
                <a:lnTo>
                  <a:pt x="15520570" y="0"/>
                </a:lnTo>
                <a:lnTo>
                  <a:pt x="15520570" y="8229600"/>
                </a:lnTo>
                <a:lnTo>
                  <a:pt x="0" y="8229600"/>
                </a:lnTo>
                <a:lnTo>
                  <a:pt x="0" y="0"/>
                </a:lnTo>
                <a:close/>
              </a:path>
            </a:pathLst>
          </a:custGeom>
          <a:blipFill>
            <a:blip r:embed="rId3"/>
            <a:stretch>
              <a:fillRect l="0" t="-9951" r="0" b="-15699"/>
            </a:stretch>
          </a:blipFill>
        </p:spPr>
      </p:sp>
      <p:sp>
        <p:nvSpPr>
          <p:cNvPr name="Freeform 5" id="5"/>
          <p:cNvSpPr/>
          <p:nvPr/>
        </p:nvSpPr>
        <p:spPr>
          <a:xfrm flipH="false" flipV="false" rot="-5400000">
            <a:off x="5434194" y="-2271724"/>
            <a:ext cx="7465864" cy="14813868"/>
          </a:xfrm>
          <a:custGeom>
            <a:avLst/>
            <a:gdLst/>
            <a:ahLst/>
            <a:cxnLst/>
            <a:rect r="r" b="b" t="t" l="l"/>
            <a:pathLst>
              <a:path h="14813868" w="7465864">
                <a:moveTo>
                  <a:pt x="0" y="0"/>
                </a:moveTo>
                <a:lnTo>
                  <a:pt x="7465865" y="0"/>
                </a:lnTo>
                <a:lnTo>
                  <a:pt x="7465865" y="14813868"/>
                </a:lnTo>
                <a:lnTo>
                  <a:pt x="0" y="14813868"/>
                </a:lnTo>
                <a:lnTo>
                  <a:pt x="0" y="0"/>
                </a:lnTo>
                <a:close/>
              </a:path>
            </a:pathLst>
          </a:custGeom>
          <a:blipFill>
            <a:blip r:embed="rId4"/>
            <a:stretch>
              <a:fillRect l="-29965" t="0" r="0" b="0"/>
            </a:stretch>
          </a:blipFill>
        </p:spPr>
      </p:sp>
      <p:grpSp>
        <p:nvGrpSpPr>
          <p:cNvPr name="Group 6" id="6"/>
          <p:cNvGrpSpPr/>
          <p:nvPr/>
        </p:nvGrpSpPr>
        <p:grpSpPr>
          <a:xfrm rot="0">
            <a:off x="2002909" y="1605368"/>
            <a:ext cx="14217672" cy="7011744"/>
            <a:chOff x="0" y="0"/>
            <a:chExt cx="3744572" cy="1846714"/>
          </a:xfrm>
        </p:grpSpPr>
        <p:sp>
          <p:nvSpPr>
            <p:cNvPr name="Freeform 7" id="7"/>
            <p:cNvSpPr/>
            <p:nvPr/>
          </p:nvSpPr>
          <p:spPr>
            <a:xfrm flipH="false" flipV="false" rot="0">
              <a:off x="0" y="0"/>
              <a:ext cx="3744572" cy="1846714"/>
            </a:xfrm>
            <a:custGeom>
              <a:avLst/>
              <a:gdLst/>
              <a:ahLst/>
              <a:cxnLst/>
              <a:rect r="r" b="b" t="t" l="l"/>
              <a:pathLst>
                <a:path h="1846714" w="3744572">
                  <a:moveTo>
                    <a:pt x="0" y="0"/>
                  </a:moveTo>
                  <a:lnTo>
                    <a:pt x="3744572" y="0"/>
                  </a:lnTo>
                  <a:lnTo>
                    <a:pt x="3744572" y="1846714"/>
                  </a:lnTo>
                  <a:lnTo>
                    <a:pt x="0" y="1846714"/>
                  </a:lnTo>
                  <a:close/>
                </a:path>
              </a:pathLst>
            </a:custGeom>
            <a:solidFill>
              <a:srgbClr val="FFFFFF">
                <a:alpha val="52941"/>
              </a:srgbClr>
            </a:solidFill>
          </p:spPr>
        </p:sp>
        <p:sp>
          <p:nvSpPr>
            <p:cNvPr name="TextBox 8" id="8"/>
            <p:cNvSpPr txBox="true"/>
            <p:nvPr/>
          </p:nvSpPr>
          <p:spPr>
            <a:xfrm>
              <a:off x="0" y="-47625"/>
              <a:ext cx="3744572" cy="1894339"/>
            </a:xfrm>
            <a:prstGeom prst="rect">
              <a:avLst/>
            </a:prstGeom>
          </p:spPr>
          <p:txBody>
            <a:bodyPr anchor="ctr" rtlCol="false" tIns="50800" lIns="50800" bIns="50800" rIns="50800"/>
            <a:lstStyle/>
            <a:p>
              <a:pPr algn="ctr">
                <a:lnSpc>
                  <a:spcPts val="2485"/>
                </a:lnSpc>
              </a:pPr>
              <a:r>
                <a:rPr lang="en-US" sz="1775">
                  <a:solidFill>
                    <a:srgbClr val="FFFFFF">
                      <a:alpha val="52941"/>
                    </a:srgbClr>
                  </a:solidFill>
                  <a:latin typeface="Marykate"/>
                  <a:ea typeface="Marykate"/>
                  <a:cs typeface="Marykate"/>
                  <a:sym typeface="Marykate"/>
                </a:rPr>
                <a:t> </a:t>
              </a:r>
            </a:p>
          </p:txBody>
        </p:sp>
      </p:grpSp>
      <p:grpSp>
        <p:nvGrpSpPr>
          <p:cNvPr name="Group 9" id="9"/>
          <p:cNvGrpSpPr/>
          <p:nvPr/>
        </p:nvGrpSpPr>
        <p:grpSpPr>
          <a:xfrm rot="5400000">
            <a:off x="341991" y="293191"/>
            <a:ext cx="1420060" cy="1420060"/>
            <a:chOff x="0" y="0"/>
            <a:chExt cx="1893413" cy="1893413"/>
          </a:xfrm>
        </p:grpSpPr>
        <p:sp>
          <p:nvSpPr>
            <p:cNvPr name="Freeform 10" id="10"/>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5"/>
              <a:stretch>
                <a:fillRect l="0" t="0" r="0" b="0"/>
              </a:stretch>
            </a:blipFill>
          </p:spPr>
        </p:sp>
        <p:grpSp>
          <p:nvGrpSpPr>
            <p:cNvPr name="Group 11" id="11"/>
            <p:cNvGrpSpPr/>
            <p:nvPr/>
          </p:nvGrpSpPr>
          <p:grpSpPr>
            <a:xfrm rot="0">
              <a:off x="839799" y="527514"/>
              <a:ext cx="213816" cy="213816"/>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4" id="14"/>
            <p:cNvGrpSpPr/>
            <p:nvPr/>
          </p:nvGrpSpPr>
          <p:grpSpPr>
            <a:xfrm rot="0">
              <a:off x="839799" y="1152084"/>
              <a:ext cx="213816" cy="213816"/>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17" id="17"/>
          <p:cNvGrpSpPr/>
          <p:nvPr/>
        </p:nvGrpSpPr>
        <p:grpSpPr>
          <a:xfrm rot="5400000">
            <a:off x="16549270" y="8548270"/>
            <a:ext cx="1420060" cy="1420060"/>
            <a:chOff x="0" y="0"/>
            <a:chExt cx="1893413" cy="1893413"/>
          </a:xfrm>
        </p:grpSpPr>
        <p:sp>
          <p:nvSpPr>
            <p:cNvPr name="Freeform 18" id="18"/>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5"/>
              <a:stretch>
                <a:fillRect l="0" t="0" r="0" b="0"/>
              </a:stretch>
            </a:blipFill>
          </p:spPr>
        </p:sp>
        <p:grpSp>
          <p:nvGrpSpPr>
            <p:cNvPr name="Group 19" id="19"/>
            <p:cNvGrpSpPr/>
            <p:nvPr/>
          </p:nvGrpSpPr>
          <p:grpSpPr>
            <a:xfrm rot="0">
              <a:off x="839799" y="527514"/>
              <a:ext cx="213816" cy="213816"/>
              <a:chOff x="0" y="0"/>
              <a:chExt cx="812800" cy="812800"/>
            </a:xfrm>
          </p:grpSpPr>
          <p:sp>
            <p:nvSpPr>
              <p:cNvPr name="Freeform 20" id="2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1" id="21"/>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22" id="22"/>
            <p:cNvGrpSpPr/>
            <p:nvPr/>
          </p:nvGrpSpPr>
          <p:grpSpPr>
            <a:xfrm rot="0">
              <a:off x="839799" y="1152084"/>
              <a:ext cx="213816" cy="213816"/>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4" id="24"/>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25" id="25"/>
          <p:cNvGrpSpPr/>
          <p:nvPr/>
        </p:nvGrpSpPr>
        <p:grpSpPr>
          <a:xfrm rot="0">
            <a:off x="790599" y="1963635"/>
            <a:ext cx="522843" cy="5291591"/>
            <a:chOff x="0" y="0"/>
            <a:chExt cx="697124" cy="7055455"/>
          </a:xfrm>
        </p:grpSpPr>
        <p:sp>
          <p:nvSpPr>
            <p:cNvPr name="Freeform 26" id="26"/>
            <p:cNvSpPr/>
            <p:nvPr/>
          </p:nvSpPr>
          <p:spPr>
            <a:xfrm flipH="false" flipV="false" rot="0">
              <a:off x="0" y="363935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7" id="27"/>
            <p:cNvSpPr/>
            <p:nvPr/>
          </p:nvSpPr>
          <p:spPr>
            <a:xfrm flipH="false" flipV="false" rot="0">
              <a:off x="0" y="4553284"/>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8" id="28"/>
            <p:cNvSpPr/>
            <p:nvPr/>
          </p:nvSpPr>
          <p:spPr>
            <a:xfrm flipH="false" flipV="false" rot="0">
              <a:off x="0" y="5467215"/>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9" id="29"/>
            <p:cNvSpPr/>
            <p:nvPr/>
          </p:nvSpPr>
          <p:spPr>
            <a:xfrm flipH="false" flipV="false" rot="0">
              <a:off x="0" y="6381146"/>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0" id="30"/>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1" id="31"/>
            <p:cNvSpPr/>
            <p:nvPr/>
          </p:nvSpPr>
          <p:spPr>
            <a:xfrm flipH="false" flipV="false" rot="0">
              <a:off x="0" y="913931"/>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2" id="32"/>
            <p:cNvSpPr/>
            <p:nvPr/>
          </p:nvSpPr>
          <p:spPr>
            <a:xfrm flipH="false" flipV="false" rot="0">
              <a:off x="0"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3" id="33"/>
            <p:cNvSpPr/>
            <p:nvPr/>
          </p:nvSpPr>
          <p:spPr>
            <a:xfrm flipH="false" flipV="false" rot="0">
              <a:off x="0" y="274179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grpSp>
        <p:nvGrpSpPr>
          <p:cNvPr name="Group 34" id="34"/>
          <p:cNvGrpSpPr/>
          <p:nvPr/>
        </p:nvGrpSpPr>
        <p:grpSpPr>
          <a:xfrm rot="0">
            <a:off x="16997878" y="2866521"/>
            <a:ext cx="522843" cy="5291591"/>
            <a:chOff x="0" y="0"/>
            <a:chExt cx="697124" cy="7055455"/>
          </a:xfrm>
        </p:grpSpPr>
        <p:sp>
          <p:nvSpPr>
            <p:cNvPr name="Freeform 35" id="35"/>
            <p:cNvSpPr/>
            <p:nvPr/>
          </p:nvSpPr>
          <p:spPr>
            <a:xfrm flipH="false" flipV="false" rot="0">
              <a:off x="0" y="363935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6" id="36"/>
            <p:cNvSpPr/>
            <p:nvPr/>
          </p:nvSpPr>
          <p:spPr>
            <a:xfrm flipH="false" flipV="false" rot="0">
              <a:off x="0" y="4553284"/>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7" id="37"/>
            <p:cNvSpPr/>
            <p:nvPr/>
          </p:nvSpPr>
          <p:spPr>
            <a:xfrm flipH="false" flipV="false" rot="0">
              <a:off x="0" y="5467215"/>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8" id="38"/>
            <p:cNvSpPr/>
            <p:nvPr/>
          </p:nvSpPr>
          <p:spPr>
            <a:xfrm flipH="false" flipV="false" rot="0">
              <a:off x="0" y="6381146"/>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0" id="40"/>
            <p:cNvSpPr/>
            <p:nvPr/>
          </p:nvSpPr>
          <p:spPr>
            <a:xfrm flipH="false" flipV="false" rot="0">
              <a:off x="0" y="913931"/>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1" id="41"/>
            <p:cNvSpPr/>
            <p:nvPr/>
          </p:nvSpPr>
          <p:spPr>
            <a:xfrm flipH="false" flipV="false" rot="0">
              <a:off x="0"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2" id="42"/>
            <p:cNvSpPr/>
            <p:nvPr/>
          </p:nvSpPr>
          <p:spPr>
            <a:xfrm flipH="false" flipV="false" rot="0">
              <a:off x="0" y="274179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graphicFrame>
        <p:nvGraphicFramePr>
          <p:cNvPr name="Table 43" id="43"/>
          <p:cNvGraphicFramePr>
            <a:graphicFrameLocks noGrp="true"/>
          </p:cNvGraphicFramePr>
          <p:nvPr/>
        </p:nvGraphicFramePr>
        <p:xfrm>
          <a:off x="3442785" y="1691765"/>
          <a:ext cx="11402430" cy="6838950"/>
        </p:xfrm>
        <a:graphic>
          <a:graphicData uri="http://schemas.openxmlformats.org/drawingml/2006/table">
            <a:tbl>
              <a:tblPr/>
              <a:tblGrid>
                <a:gridCol w="1825374"/>
                <a:gridCol w="1809026"/>
                <a:gridCol w="3251834"/>
                <a:gridCol w="4516196"/>
              </a:tblGrid>
              <a:tr h="1044041">
                <a:tc>
                  <a:txBody>
                    <a:bodyPr anchor="t" rtlCol="false"/>
                    <a:lstStyle/>
                    <a:p>
                      <a:pPr algn="ctr">
                        <a:lnSpc>
                          <a:spcPts val="4900"/>
                        </a:lnSpc>
                        <a:defRPr/>
                      </a:pPr>
                      <a:r>
                        <a:rPr lang="en-US" sz="3500">
                          <a:solidFill>
                            <a:srgbClr val="000000"/>
                          </a:solidFill>
                          <a:latin typeface="Marykate"/>
                          <a:ea typeface="Marykate"/>
                          <a:cs typeface="Marykate"/>
                          <a:sym typeface="Marykate"/>
                        </a:rPr>
                        <a:t>Video</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c>
                  <a:txBody>
                    <a:bodyPr anchor="t" rtlCol="false"/>
                    <a:lstStyle/>
                    <a:p>
                      <a:pPr algn="ctr">
                        <a:lnSpc>
                          <a:spcPts val="4480"/>
                        </a:lnSpc>
                        <a:defRPr/>
                      </a:pPr>
                      <a:r>
                        <a:rPr lang="en-US" sz="3200">
                          <a:solidFill>
                            <a:srgbClr val="000000"/>
                          </a:solidFill>
                          <a:latin typeface="Marykate"/>
                          <a:ea typeface="Marykate"/>
                          <a:cs typeface="Marykate"/>
                          <a:sym typeface="Marykate"/>
                        </a:rPr>
                        <a:t>Timestamp</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c>
                  <a:txBody>
                    <a:bodyPr anchor="t" rtlCol="false"/>
                    <a:lstStyle/>
                    <a:p>
                      <a:pPr algn="ctr">
                        <a:lnSpc>
                          <a:spcPts val="4865"/>
                        </a:lnSpc>
                        <a:defRPr/>
                      </a:pPr>
                      <a:r>
                        <a:rPr lang="en-US" sz="3475">
                          <a:solidFill>
                            <a:srgbClr val="000000"/>
                          </a:solidFill>
                          <a:latin typeface="Marykate"/>
                          <a:ea typeface="Marykate"/>
                          <a:cs typeface="Marykate"/>
                          <a:sym typeface="Marykate"/>
                        </a:rPr>
                        <a:t>Parafrase</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c>
                  <a:txBody>
                    <a:bodyPr anchor="t" rtlCol="false"/>
                    <a:lstStyle/>
                    <a:p>
                      <a:pPr algn="ctr">
                        <a:lnSpc>
                          <a:spcPts val="3745"/>
                        </a:lnSpc>
                        <a:defRPr/>
                      </a:pPr>
                      <a:r>
                        <a:rPr lang="en-US" sz="2675">
                          <a:solidFill>
                            <a:srgbClr val="000000"/>
                          </a:solidFill>
                          <a:latin typeface="Marykate"/>
                          <a:ea typeface="Marykate"/>
                          <a:cs typeface="Marykate"/>
                          <a:sym typeface="Marykate"/>
                        </a:rPr>
                        <a:t>Konsep yang Dibahas</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r>
              <a:tr h="1685792">
                <a:tc>
                  <a:txBody>
                    <a:bodyPr anchor="t" rtlCol="false"/>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605"/>
                        </a:lnSpc>
                        <a:defRPr/>
                      </a:pPr>
                      <a:r>
                        <a:rPr lang="en-US" sz="2575">
                          <a:solidFill>
                            <a:srgbClr val="000000"/>
                          </a:solidFill>
                          <a:latin typeface="Marykate"/>
                          <a:ea typeface="Marykate"/>
                          <a:cs typeface="Marykate"/>
                          <a:sym typeface="Marykate"/>
                        </a:rPr>
                        <a:t>39:25</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Sistem AI bisa menarik kesimpulan dengan dua cara, yaitu maju dari fakta ke tujuan (forward) atau mundur dari tujuan untuk mencari fakta pendukung (backward).</a:t>
                      </a:r>
                      <a:r>
                        <a:rPr lang="en-US" sz="1775">
                          <a:solidFill>
                            <a:srgbClr val="000000"/>
                          </a:solidFill>
                          <a:latin typeface="Marykate"/>
                          <a:ea typeface="Marykate"/>
                          <a:cs typeface="Marykate"/>
                          <a:sym typeface="Marykate"/>
                        </a:rPr>
                        <a:t> </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Dua metode penalaran</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r h="1369706">
                <a:tc>
                  <a:txBody>
                    <a:bodyPr anchor="t" rtlCol="false"/>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51:19</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Pengetahuan bisa digambarkan secara visual memakai grafik, di mana objek menjadi titik (node) dan garis (arch) menunjukkan hubungan antar objeknya.</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Jaringan Semantik</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r h="1369706">
                <a:tc>
                  <a:txBody>
                    <a:bodyPr anchor="t" rtlCol="false"/>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01:51</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Pengetahuan yang dimasukkan ke AI dibagi dua, yaitu deklaratif yang berisi kumpulan fakta, dan prosedural yang berisi langkah-langkah atau aksi.</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605"/>
                        </a:lnSpc>
                        <a:defRPr/>
                      </a:pPr>
                      <a:r>
                        <a:rPr lang="en-US" sz="2575">
                          <a:solidFill>
                            <a:srgbClr val="000000"/>
                          </a:solidFill>
                          <a:latin typeface="Marykate"/>
                          <a:ea typeface="Marykate"/>
                          <a:cs typeface="Marykate"/>
                          <a:sym typeface="Marykate"/>
                        </a:rPr>
                        <a:t>Skema Representasi Pengetahuan</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r h="1369706">
                <a:tc>
                  <a:txBody>
                    <a:bodyPr anchor="t" rtlCol="false"/>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10:34</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Logika predikat membedah sebuah pernyataan menjadi objek dan karakteristiknya, sehingga jauh lebih detail dari logika proposisi.</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605"/>
                        </a:lnSpc>
                        <a:defRPr/>
                      </a:pPr>
                      <a:r>
                        <a:rPr lang="en-US" sz="2575">
                          <a:solidFill>
                            <a:srgbClr val="000000"/>
                          </a:solidFill>
                          <a:latin typeface="Marykate"/>
                          <a:ea typeface="Marykate"/>
                          <a:cs typeface="Marykate"/>
                          <a:sym typeface="Marykate"/>
                        </a:rPr>
                        <a:t>Logika Predikat</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bl>
          </a:graphicData>
        </a:graphic>
      </p:graphicFrame>
      <p:sp>
        <p:nvSpPr>
          <p:cNvPr name="TextBox 44" id="44"/>
          <p:cNvSpPr txBox="true"/>
          <p:nvPr/>
        </p:nvSpPr>
        <p:spPr>
          <a:xfrm rot="0">
            <a:off x="5352993" y="181715"/>
            <a:ext cx="7628267" cy="846985"/>
          </a:xfrm>
          <a:prstGeom prst="rect">
            <a:avLst/>
          </a:prstGeom>
        </p:spPr>
        <p:txBody>
          <a:bodyPr anchor="t" rtlCol="false" tIns="0" lIns="0" bIns="0" rIns="0">
            <a:spAutoFit/>
          </a:bodyPr>
          <a:lstStyle/>
          <a:p>
            <a:pPr algn="ctr">
              <a:lnSpc>
                <a:spcPts val="5714"/>
              </a:lnSpc>
            </a:pPr>
            <a:r>
              <a:rPr lang="en-US" sz="5195">
                <a:solidFill>
                  <a:srgbClr val="3A3E61"/>
                </a:solidFill>
                <a:latin typeface="Unique"/>
                <a:ea typeface="Unique"/>
                <a:cs typeface="Unique"/>
                <a:sym typeface="Unique"/>
              </a:rPr>
              <a:t>Timestamp dhika</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0">
            <a:off x="13758234" y="-1180902"/>
            <a:ext cx="11580664" cy="11580664"/>
          </a:xfrm>
          <a:custGeom>
            <a:avLst/>
            <a:gdLst/>
            <a:ahLst/>
            <a:cxnLst/>
            <a:rect r="r" b="b" t="t" l="l"/>
            <a:pathLst>
              <a:path h="11580664" w="11580664">
                <a:moveTo>
                  <a:pt x="0" y="0"/>
                </a:moveTo>
                <a:lnTo>
                  <a:pt x="11580664" y="0"/>
                </a:lnTo>
                <a:lnTo>
                  <a:pt x="11580664" y="11580665"/>
                </a:lnTo>
                <a:lnTo>
                  <a:pt x="0" y="11580665"/>
                </a:lnTo>
                <a:lnTo>
                  <a:pt x="0" y="0"/>
                </a:lnTo>
                <a:close/>
              </a:path>
            </a:pathLst>
          </a:custGeom>
          <a:blipFill>
            <a:blip r:embed="rId2"/>
            <a:stretch>
              <a:fillRect l="0" t="0" r="0" b="0"/>
            </a:stretch>
          </a:blipFill>
        </p:spPr>
      </p:sp>
      <p:sp>
        <p:nvSpPr>
          <p:cNvPr name="Freeform 3" id="3"/>
          <p:cNvSpPr/>
          <p:nvPr/>
        </p:nvSpPr>
        <p:spPr>
          <a:xfrm flipH="false" flipV="false" rot="0">
            <a:off x="-7053475" y="0"/>
            <a:ext cx="11580664" cy="11580664"/>
          </a:xfrm>
          <a:custGeom>
            <a:avLst/>
            <a:gdLst/>
            <a:ahLst/>
            <a:cxnLst/>
            <a:rect r="r" b="b" t="t" l="l"/>
            <a:pathLst>
              <a:path h="11580664" w="11580664">
                <a:moveTo>
                  <a:pt x="0" y="0"/>
                </a:moveTo>
                <a:lnTo>
                  <a:pt x="11580664" y="0"/>
                </a:lnTo>
                <a:lnTo>
                  <a:pt x="11580664" y="11580664"/>
                </a:lnTo>
                <a:lnTo>
                  <a:pt x="0" y="11580664"/>
                </a:lnTo>
                <a:lnTo>
                  <a:pt x="0" y="0"/>
                </a:lnTo>
                <a:close/>
              </a:path>
            </a:pathLst>
          </a:custGeom>
          <a:blipFill>
            <a:blip r:embed="rId2"/>
            <a:stretch>
              <a:fillRect l="0" t="0" r="0" b="0"/>
            </a:stretch>
          </a:blipFill>
        </p:spPr>
      </p:sp>
      <p:sp>
        <p:nvSpPr>
          <p:cNvPr name="Freeform 4" id="4"/>
          <p:cNvSpPr/>
          <p:nvPr/>
        </p:nvSpPr>
        <p:spPr>
          <a:xfrm flipH="false" flipV="false" rot="0">
            <a:off x="1383715" y="1028700"/>
            <a:ext cx="15520570" cy="8229600"/>
          </a:xfrm>
          <a:custGeom>
            <a:avLst/>
            <a:gdLst/>
            <a:ahLst/>
            <a:cxnLst/>
            <a:rect r="r" b="b" t="t" l="l"/>
            <a:pathLst>
              <a:path h="8229600" w="15520570">
                <a:moveTo>
                  <a:pt x="0" y="0"/>
                </a:moveTo>
                <a:lnTo>
                  <a:pt x="15520570" y="0"/>
                </a:lnTo>
                <a:lnTo>
                  <a:pt x="15520570" y="8229600"/>
                </a:lnTo>
                <a:lnTo>
                  <a:pt x="0" y="8229600"/>
                </a:lnTo>
                <a:lnTo>
                  <a:pt x="0" y="0"/>
                </a:lnTo>
                <a:close/>
              </a:path>
            </a:pathLst>
          </a:custGeom>
          <a:blipFill>
            <a:blip r:embed="rId3"/>
            <a:stretch>
              <a:fillRect l="0" t="-9951" r="0" b="-15699"/>
            </a:stretch>
          </a:blipFill>
        </p:spPr>
      </p:sp>
      <p:sp>
        <p:nvSpPr>
          <p:cNvPr name="Freeform 5" id="5"/>
          <p:cNvSpPr/>
          <p:nvPr/>
        </p:nvSpPr>
        <p:spPr>
          <a:xfrm flipH="false" flipV="false" rot="-5400000">
            <a:off x="5434194" y="-2271724"/>
            <a:ext cx="7465864" cy="14813868"/>
          </a:xfrm>
          <a:custGeom>
            <a:avLst/>
            <a:gdLst/>
            <a:ahLst/>
            <a:cxnLst/>
            <a:rect r="r" b="b" t="t" l="l"/>
            <a:pathLst>
              <a:path h="14813868" w="7465864">
                <a:moveTo>
                  <a:pt x="0" y="0"/>
                </a:moveTo>
                <a:lnTo>
                  <a:pt x="7465865" y="0"/>
                </a:lnTo>
                <a:lnTo>
                  <a:pt x="7465865" y="14813868"/>
                </a:lnTo>
                <a:lnTo>
                  <a:pt x="0" y="14813868"/>
                </a:lnTo>
                <a:lnTo>
                  <a:pt x="0" y="0"/>
                </a:lnTo>
                <a:close/>
              </a:path>
            </a:pathLst>
          </a:custGeom>
          <a:blipFill>
            <a:blip r:embed="rId4"/>
            <a:stretch>
              <a:fillRect l="-29965" t="0" r="0" b="0"/>
            </a:stretch>
          </a:blipFill>
        </p:spPr>
      </p:sp>
      <p:grpSp>
        <p:nvGrpSpPr>
          <p:cNvPr name="Group 6" id="6"/>
          <p:cNvGrpSpPr/>
          <p:nvPr/>
        </p:nvGrpSpPr>
        <p:grpSpPr>
          <a:xfrm rot="0">
            <a:off x="2002909" y="1605368"/>
            <a:ext cx="14217672" cy="7011744"/>
            <a:chOff x="0" y="0"/>
            <a:chExt cx="3744572" cy="1846714"/>
          </a:xfrm>
        </p:grpSpPr>
        <p:sp>
          <p:nvSpPr>
            <p:cNvPr name="Freeform 7" id="7"/>
            <p:cNvSpPr/>
            <p:nvPr/>
          </p:nvSpPr>
          <p:spPr>
            <a:xfrm flipH="false" flipV="false" rot="0">
              <a:off x="0" y="0"/>
              <a:ext cx="3744572" cy="1846714"/>
            </a:xfrm>
            <a:custGeom>
              <a:avLst/>
              <a:gdLst/>
              <a:ahLst/>
              <a:cxnLst/>
              <a:rect r="r" b="b" t="t" l="l"/>
              <a:pathLst>
                <a:path h="1846714" w="3744572">
                  <a:moveTo>
                    <a:pt x="0" y="0"/>
                  </a:moveTo>
                  <a:lnTo>
                    <a:pt x="3744572" y="0"/>
                  </a:lnTo>
                  <a:lnTo>
                    <a:pt x="3744572" y="1846714"/>
                  </a:lnTo>
                  <a:lnTo>
                    <a:pt x="0" y="1846714"/>
                  </a:lnTo>
                  <a:close/>
                </a:path>
              </a:pathLst>
            </a:custGeom>
            <a:solidFill>
              <a:srgbClr val="FFFFFF">
                <a:alpha val="52941"/>
              </a:srgbClr>
            </a:solidFill>
          </p:spPr>
        </p:sp>
        <p:sp>
          <p:nvSpPr>
            <p:cNvPr name="TextBox 8" id="8"/>
            <p:cNvSpPr txBox="true"/>
            <p:nvPr/>
          </p:nvSpPr>
          <p:spPr>
            <a:xfrm>
              <a:off x="0" y="-47625"/>
              <a:ext cx="3744572" cy="1894339"/>
            </a:xfrm>
            <a:prstGeom prst="rect">
              <a:avLst/>
            </a:prstGeom>
          </p:spPr>
          <p:txBody>
            <a:bodyPr anchor="ctr" rtlCol="false" tIns="50800" lIns="50800" bIns="50800" rIns="50800"/>
            <a:lstStyle/>
            <a:p>
              <a:pPr algn="ctr">
                <a:lnSpc>
                  <a:spcPts val="2485"/>
                </a:lnSpc>
              </a:pPr>
              <a:r>
                <a:rPr lang="en-US" sz="1775">
                  <a:solidFill>
                    <a:srgbClr val="FFFFFF">
                      <a:alpha val="52941"/>
                    </a:srgbClr>
                  </a:solidFill>
                  <a:latin typeface="Marykate"/>
                  <a:ea typeface="Marykate"/>
                  <a:cs typeface="Marykate"/>
                  <a:sym typeface="Marykate"/>
                </a:rPr>
                <a:t> </a:t>
              </a:r>
            </a:p>
          </p:txBody>
        </p:sp>
      </p:grpSp>
      <p:grpSp>
        <p:nvGrpSpPr>
          <p:cNvPr name="Group 9" id="9"/>
          <p:cNvGrpSpPr/>
          <p:nvPr/>
        </p:nvGrpSpPr>
        <p:grpSpPr>
          <a:xfrm rot="5400000">
            <a:off x="341991" y="293191"/>
            <a:ext cx="1420060" cy="1420060"/>
            <a:chOff x="0" y="0"/>
            <a:chExt cx="1893413" cy="1893413"/>
          </a:xfrm>
        </p:grpSpPr>
        <p:sp>
          <p:nvSpPr>
            <p:cNvPr name="Freeform 10" id="10"/>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5"/>
              <a:stretch>
                <a:fillRect l="0" t="0" r="0" b="0"/>
              </a:stretch>
            </a:blipFill>
          </p:spPr>
        </p:sp>
        <p:grpSp>
          <p:nvGrpSpPr>
            <p:cNvPr name="Group 11" id="11"/>
            <p:cNvGrpSpPr/>
            <p:nvPr/>
          </p:nvGrpSpPr>
          <p:grpSpPr>
            <a:xfrm rot="0">
              <a:off x="839799" y="527514"/>
              <a:ext cx="213816" cy="213816"/>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4" id="14"/>
            <p:cNvGrpSpPr/>
            <p:nvPr/>
          </p:nvGrpSpPr>
          <p:grpSpPr>
            <a:xfrm rot="0">
              <a:off x="839799" y="1152084"/>
              <a:ext cx="213816" cy="213816"/>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17" id="17"/>
          <p:cNvGrpSpPr/>
          <p:nvPr/>
        </p:nvGrpSpPr>
        <p:grpSpPr>
          <a:xfrm rot="5400000">
            <a:off x="16549270" y="8548270"/>
            <a:ext cx="1420060" cy="1420060"/>
            <a:chOff x="0" y="0"/>
            <a:chExt cx="1893413" cy="1893413"/>
          </a:xfrm>
        </p:grpSpPr>
        <p:sp>
          <p:nvSpPr>
            <p:cNvPr name="Freeform 18" id="18"/>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5"/>
              <a:stretch>
                <a:fillRect l="0" t="0" r="0" b="0"/>
              </a:stretch>
            </a:blipFill>
          </p:spPr>
        </p:sp>
        <p:grpSp>
          <p:nvGrpSpPr>
            <p:cNvPr name="Group 19" id="19"/>
            <p:cNvGrpSpPr/>
            <p:nvPr/>
          </p:nvGrpSpPr>
          <p:grpSpPr>
            <a:xfrm rot="0">
              <a:off x="839799" y="527514"/>
              <a:ext cx="213816" cy="213816"/>
              <a:chOff x="0" y="0"/>
              <a:chExt cx="812800" cy="812800"/>
            </a:xfrm>
          </p:grpSpPr>
          <p:sp>
            <p:nvSpPr>
              <p:cNvPr name="Freeform 20" id="2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1" id="21"/>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22" id="22"/>
            <p:cNvGrpSpPr/>
            <p:nvPr/>
          </p:nvGrpSpPr>
          <p:grpSpPr>
            <a:xfrm rot="0">
              <a:off x="839799" y="1152084"/>
              <a:ext cx="213816" cy="213816"/>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4" id="24"/>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grpSp>
        <p:nvGrpSpPr>
          <p:cNvPr name="Group 25" id="25"/>
          <p:cNvGrpSpPr/>
          <p:nvPr/>
        </p:nvGrpSpPr>
        <p:grpSpPr>
          <a:xfrm rot="0">
            <a:off x="790599" y="1963635"/>
            <a:ext cx="522843" cy="5291591"/>
            <a:chOff x="0" y="0"/>
            <a:chExt cx="697124" cy="7055455"/>
          </a:xfrm>
        </p:grpSpPr>
        <p:sp>
          <p:nvSpPr>
            <p:cNvPr name="Freeform 26" id="26"/>
            <p:cNvSpPr/>
            <p:nvPr/>
          </p:nvSpPr>
          <p:spPr>
            <a:xfrm flipH="false" flipV="false" rot="0">
              <a:off x="0" y="363935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7" id="27"/>
            <p:cNvSpPr/>
            <p:nvPr/>
          </p:nvSpPr>
          <p:spPr>
            <a:xfrm flipH="false" flipV="false" rot="0">
              <a:off x="0" y="4553284"/>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8" id="28"/>
            <p:cNvSpPr/>
            <p:nvPr/>
          </p:nvSpPr>
          <p:spPr>
            <a:xfrm flipH="false" flipV="false" rot="0">
              <a:off x="0" y="5467215"/>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9" id="29"/>
            <p:cNvSpPr/>
            <p:nvPr/>
          </p:nvSpPr>
          <p:spPr>
            <a:xfrm flipH="false" flipV="false" rot="0">
              <a:off x="0" y="6381146"/>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0" id="30"/>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1" id="31"/>
            <p:cNvSpPr/>
            <p:nvPr/>
          </p:nvSpPr>
          <p:spPr>
            <a:xfrm flipH="false" flipV="false" rot="0">
              <a:off x="0" y="913931"/>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2" id="32"/>
            <p:cNvSpPr/>
            <p:nvPr/>
          </p:nvSpPr>
          <p:spPr>
            <a:xfrm flipH="false" flipV="false" rot="0">
              <a:off x="0"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3" id="33"/>
            <p:cNvSpPr/>
            <p:nvPr/>
          </p:nvSpPr>
          <p:spPr>
            <a:xfrm flipH="false" flipV="false" rot="0">
              <a:off x="0" y="274179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grpSp>
        <p:nvGrpSpPr>
          <p:cNvPr name="Group 34" id="34"/>
          <p:cNvGrpSpPr/>
          <p:nvPr/>
        </p:nvGrpSpPr>
        <p:grpSpPr>
          <a:xfrm rot="0">
            <a:off x="16997878" y="2866521"/>
            <a:ext cx="522843" cy="5291591"/>
            <a:chOff x="0" y="0"/>
            <a:chExt cx="697124" cy="7055455"/>
          </a:xfrm>
        </p:grpSpPr>
        <p:sp>
          <p:nvSpPr>
            <p:cNvPr name="Freeform 35" id="35"/>
            <p:cNvSpPr/>
            <p:nvPr/>
          </p:nvSpPr>
          <p:spPr>
            <a:xfrm flipH="false" flipV="false" rot="0">
              <a:off x="0" y="363935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6" id="36"/>
            <p:cNvSpPr/>
            <p:nvPr/>
          </p:nvSpPr>
          <p:spPr>
            <a:xfrm flipH="false" flipV="false" rot="0">
              <a:off x="0" y="4553284"/>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7" id="37"/>
            <p:cNvSpPr/>
            <p:nvPr/>
          </p:nvSpPr>
          <p:spPr>
            <a:xfrm flipH="false" flipV="false" rot="0">
              <a:off x="0" y="5467215"/>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8" id="38"/>
            <p:cNvSpPr/>
            <p:nvPr/>
          </p:nvSpPr>
          <p:spPr>
            <a:xfrm flipH="false" flipV="false" rot="0">
              <a:off x="0" y="6381146"/>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0" id="40"/>
            <p:cNvSpPr/>
            <p:nvPr/>
          </p:nvSpPr>
          <p:spPr>
            <a:xfrm flipH="false" flipV="false" rot="0">
              <a:off x="0" y="913931"/>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1" id="41"/>
            <p:cNvSpPr/>
            <p:nvPr/>
          </p:nvSpPr>
          <p:spPr>
            <a:xfrm flipH="false" flipV="false" rot="0">
              <a:off x="0"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2" id="42"/>
            <p:cNvSpPr/>
            <p:nvPr/>
          </p:nvSpPr>
          <p:spPr>
            <a:xfrm flipH="false" flipV="false" rot="0">
              <a:off x="0" y="2741793"/>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graphicFrame>
        <p:nvGraphicFramePr>
          <p:cNvPr name="Table 43" id="43"/>
          <p:cNvGraphicFramePr>
            <a:graphicFrameLocks noGrp="true"/>
          </p:cNvGraphicFramePr>
          <p:nvPr/>
        </p:nvGraphicFramePr>
        <p:xfrm>
          <a:off x="3442785" y="1691765"/>
          <a:ext cx="11402430" cy="5581650"/>
        </p:xfrm>
        <a:graphic>
          <a:graphicData uri="http://schemas.openxmlformats.org/drawingml/2006/table">
            <a:tbl>
              <a:tblPr/>
              <a:tblGrid>
                <a:gridCol w="1825374"/>
                <a:gridCol w="1809026"/>
                <a:gridCol w="3251834"/>
                <a:gridCol w="4516196"/>
              </a:tblGrid>
              <a:tr h="1045361">
                <a:tc>
                  <a:txBody>
                    <a:bodyPr anchor="t" rtlCol="false"/>
                    <a:lstStyle/>
                    <a:p>
                      <a:pPr algn="ctr">
                        <a:lnSpc>
                          <a:spcPts val="4900"/>
                        </a:lnSpc>
                        <a:defRPr/>
                      </a:pPr>
                      <a:r>
                        <a:rPr lang="en-US" sz="3500">
                          <a:solidFill>
                            <a:srgbClr val="000000"/>
                          </a:solidFill>
                          <a:latin typeface="Marykate"/>
                          <a:ea typeface="Marykate"/>
                          <a:cs typeface="Marykate"/>
                          <a:sym typeface="Marykate"/>
                        </a:rPr>
                        <a:t>Video</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c>
                  <a:txBody>
                    <a:bodyPr anchor="t" rtlCol="false"/>
                    <a:lstStyle/>
                    <a:p>
                      <a:pPr algn="ctr">
                        <a:lnSpc>
                          <a:spcPts val="4480"/>
                        </a:lnSpc>
                        <a:defRPr/>
                      </a:pPr>
                      <a:r>
                        <a:rPr lang="en-US" sz="3200">
                          <a:solidFill>
                            <a:srgbClr val="000000"/>
                          </a:solidFill>
                          <a:latin typeface="Marykate"/>
                          <a:ea typeface="Marykate"/>
                          <a:cs typeface="Marykate"/>
                          <a:sym typeface="Marykate"/>
                        </a:rPr>
                        <a:t>Timestamp</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c>
                  <a:txBody>
                    <a:bodyPr anchor="t" rtlCol="false"/>
                    <a:lstStyle/>
                    <a:p>
                      <a:pPr algn="ctr">
                        <a:lnSpc>
                          <a:spcPts val="3745"/>
                        </a:lnSpc>
                        <a:defRPr/>
                      </a:pPr>
                      <a:r>
                        <a:rPr lang="en-US" sz="2675">
                          <a:solidFill>
                            <a:srgbClr val="000000"/>
                          </a:solidFill>
                          <a:latin typeface="Marykate"/>
                          <a:ea typeface="Marykate"/>
                          <a:cs typeface="Marykate"/>
                          <a:sym typeface="Marykate"/>
                        </a:rPr>
                        <a:t>Konsep yang Dibahas</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c>
                  <a:txBody>
                    <a:bodyPr anchor="t" rtlCol="false"/>
                    <a:lstStyle/>
                    <a:p>
                      <a:pPr algn="ctr">
                        <a:lnSpc>
                          <a:spcPts val="4865"/>
                        </a:lnSpc>
                        <a:defRPr/>
                      </a:pPr>
                      <a:r>
                        <a:rPr lang="en-US" sz="3475">
                          <a:solidFill>
                            <a:srgbClr val="000000"/>
                          </a:solidFill>
                          <a:latin typeface="Marykate"/>
                          <a:ea typeface="Marykate"/>
                          <a:cs typeface="Marykate"/>
                          <a:sym typeface="Marykate"/>
                        </a:rPr>
                        <a:t>Parafrase</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solidFill>
                      <a:srgbClr val="CDD6FF"/>
                    </a:solidFill>
                  </a:tcPr>
                </a:tc>
              </a:tr>
              <a:tr h="1371436">
                <a:tc>
                  <a:txBody>
                    <a:bodyPr anchor="t" rtlCol="false"/>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605"/>
                        </a:lnSpc>
                        <a:defRPr/>
                      </a:pPr>
                      <a:r>
                        <a:rPr lang="en-US" sz="2575">
                          <a:solidFill>
                            <a:srgbClr val="000000"/>
                          </a:solidFill>
                          <a:latin typeface="Marykate"/>
                          <a:ea typeface="Marykate"/>
                          <a:cs typeface="Marykate"/>
                          <a:sym typeface="Marykate"/>
                        </a:rPr>
                        <a:t>26:15</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Dua bagian dasar AI </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Sistem AI ibarat otak yang butuh dua hal utama: tempat menyimpan fakta (basis pengetahuan) dan mesin penggerak untuk berpikir (mesin inferensi).</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r h="1054951">
                <a:tc>
                  <a:txBody>
                    <a:bodyPr anchor="t" rtlCol="false"/>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32:56</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Prosedural reasoning </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Salah satu cara AI bernalar adalah menggunakan aturan sebab-akibat sederhana, yaitu IF-THEN.</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r h="1054951">
                <a:tc>
                  <a:txBody>
                    <a:bodyPr anchor="t" rtlCol="false"/>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06:09</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605"/>
                        </a:lnSpc>
                        <a:defRPr/>
                      </a:pPr>
                      <a:r>
                        <a:rPr lang="en-US" sz="2575">
                          <a:solidFill>
                            <a:srgbClr val="000000"/>
                          </a:solidFill>
                          <a:latin typeface="Marykate"/>
                          <a:ea typeface="Marykate"/>
                          <a:cs typeface="Marykate"/>
                          <a:sym typeface="Marykate"/>
                        </a:rPr>
                        <a:t>Logika Proposisional</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Logika proposisi berfokus pada pernyataan sederhana yang jawabannya mutlak antara benar atau salah.</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r h="1054951">
                <a:tc>
                  <a:txBody>
                    <a:bodyPr anchor="t" rtlCol="false"/>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499"/>
                        </a:lnSpc>
                        <a:defRPr/>
                      </a:pPr>
                      <a:r>
                        <a:rPr lang="en-US" sz="2499">
                          <a:solidFill>
                            <a:srgbClr val="000000"/>
                          </a:solidFill>
                          <a:latin typeface="Marykate"/>
                          <a:ea typeface="Marykate"/>
                          <a:cs typeface="Marykate"/>
                          <a:sym typeface="Marykate"/>
                        </a:rPr>
                        <a:t>16:58</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3605"/>
                        </a:lnSpc>
                        <a:defRPr/>
                      </a:pPr>
                      <a:r>
                        <a:rPr lang="en-US" sz="2575">
                          <a:solidFill>
                            <a:srgbClr val="000000"/>
                          </a:solidFill>
                          <a:latin typeface="Marykate"/>
                          <a:ea typeface="Marykate"/>
                          <a:cs typeface="Marykate"/>
                          <a:sym typeface="Marykate"/>
                        </a:rPr>
                        <a:t>Kaidah manipulasi logika </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c>
                  <a:txBody>
                    <a:bodyPr anchor="t" rtlCol="false"/>
                    <a:lstStyle/>
                    <a:p>
                      <a:pPr algn="ctr">
                        <a:lnSpc>
                          <a:spcPts val="2485"/>
                        </a:lnSpc>
                        <a:defRPr/>
                      </a:pPr>
                      <a:r>
                        <a:rPr lang="en-US" sz="1775">
                          <a:solidFill>
                            <a:srgbClr val="000000"/>
                          </a:solidFill>
                          <a:latin typeface="Marykate"/>
                          <a:ea typeface="Marykate"/>
                          <a:cs typeface="Marykate"/>
                          <a:sym typeface="Marykate"/>
                        </a:rPr>
                        <a:t>Agar kesimpulan yang dihasilkan AI tidak melenceng, sistem harus memakai aturan baku manipulasi logika.</a:t>
                      </a:r>
                      <a:endParaRPr lang="en-US" sz="1100"/>
                    </a:p>
                  </a:txBody>
                  <a:tcPr marL="190500" marR="190500" marT="190500" marB="190500" anchor="ctr">
                    <a:lnL cmpd="sng" algn="ctr" cap="flat" w="38100">
                      <a:solidFill>
                        <a:srgbClr val="99ACFF"/>
                      </a:solidFill>
                      <a:prstDash val="solid"/>
                      <a:round/>
                      <a:headEnd type="none" w="med" len="med"/>
                      <a:tailEnd type="none" w="med" len="med"/>
                    </a:lnL>
                    <a:lnR cmpd="sng" algn="ctr" cap="flat" w="38100">
                      <a:solidFill>
                        <a:srgbClr val="99ACFF"/>
                      </a:solidFill>
                      <a:prstDash val="solid"/>
                      <a:round/>
                      <a:headEnd type="none" w="med" len="med"/>
                      <a:tailEnd type="none" w="med" len="med"/>
                    </a:lnR>
                    <a:lnT cmpd="sng" algn="ctr" cap="flat" w="38100">
                      <a:solidFill>
                        <a:srgbClr val="99ACFF"/>
                      </a:solidFill>
                      <a:prstDash val="solid"/>
                      <a:round/>
                      <a:headEnd type="none" w="med" len="med"/>
                      <a:tailEnd type="none" w="med" len="med"/>
                    </a:lnT>
                    <a:lnB cmpd="sng" algn="ctr" cap="flat" w="38100">
                      <a:solidFill>
                        <a:srgbClr val="99ACFF"/>
                      </a:solidFill>
                      <a:prstDash val="solid"/>
                      <a:round/>
                      <a:headEnd type="none" w="med" len="med"/>
                      <a:tailEnd type="none" w="med" len="med"/>
                    </a:lnB>
                  </a:tcPr>
                </a:tc>
              </a:tr>
            </a:tbl>
          </a:graphicData>
        </a:graphic>
      </p:graphicFrame>
      <p:sp>
        <p:nvSpPr>
          <p:cNvPr name="TextBox 44" id="44"/>
          <p:cNvSpPr txBox="true"/>
          <p:nvPr/>
        </p:nvSpPr>
        <p:spPr>
          <a:xfrm rot="0">
            <a:off x="5352993" y="181715"/>
            <a:ext cx="7628267" cy="846985"/>
          </a:xfrm>
          <a:prstGeom prst="rect">
            <a:avLst/>
          </a:prstGeom>
        </p:spPr>
        <p:txBody>
          <a:bodyPr anchor="t" rtlCol="false" tIns="0" lIns="0" bIns="0" rIns="0">
            <a:spAutoFit/>
          </a:bodyPr>
          <a:lstStyle/>
          <a:p>
            <a:pPr algn="ctr">
              <a:lnSpc>
                <a:spcPts val="5714"/>
              </a:lnSpc>
            </a:pPr>
            <a:r>
              <a:rPr lang="en-US" sz="5195">
                <a:solidFill>
                  <a:srgbClr val="3A3E61"/>
                </a:solidFill>
                <a:latin typeface="Unique"/>
                <a:ea typeface="Unique"/>
                <a:cs typeface="Unique"/>
                <a:sym typeface="Unique"/>
              </a:rPr>
              <a:t>Timestamp Nabil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2512816">
            <a:off x="-4292634" y="-1843060"/>
            <a:ext cx="13973120" cy="13973120"/>
          </a:xfrm>
          <a:custGeom>
            <a:avLst/>
            <a:gdLst/>
            <a:ahLst/>
            <a:cxnLst/>
            <a:rect r="r" b="b" t="t" l="l"/>
            <a:pathLst>
              <a:path h="13973120" w="13973120">
                <a:moveTo>
                  <a:pt x="0" y="0"/>
                </a:moveTo>
                <a:lnTo>
                  <a:pt x="13973120" y="0"/>
                </a:lnTo>
                <a:lnTo>
                  <a:pt x="13973120" y="13973120"/>
                </a:lnTo>
                <a:lnTo>
                  <a:pt x="0" y="13973120"/>
                </a:lnTo>
                <a:lnTo>
                  <a:pt x="0" y="0"/>
                </a:lnTo>
                <a:close/>
              </a:path>
            </a:pathLst>
          </a:custGeom>
          <a:blipFill>
            <a:blip r:embed="rId2"/>
            <a:stretch>
              <a:fillRect l="0" t="0" r="0" b="0"/>
            </a:stretch>
          </a:blipFill>
        </p:spPr>
      </p:sp>
      <p:sp>
        <p:nvSpPr>
          <p:cNvPr name="Freeform 3" id="3"/>
          <p:cNvSpPr/>
          <p:nvPr/>
        </p:nvSpPr>
        <p:spPr>
          <a:xfrm flipH="false" flipV="false" rot="0">
            <a:off x="1915720" y="1034564"/>
            <a:ext cx="14456560" cy="7665421"/>
          </a:xfrm>
          <a:custGeom>
            <a:avLst/>
            <a:gdLst/>
            <a:ahLst/>
            <a:cxnLst/>
            <a:rect r="r" b="b" t="t" l="l"/>
            <a:pathLst>
              <a:path h="7665421" w="14456560">
                <a:moveTo>
                  <a:pt x="0" y="0"/>
                </a:moveTo>
                <a:lnTo>
                  <a:pt x="14456560" y="0"/>
                </a:lnTo>
                <a:lnTo>
                  <a:pt x="14456560" y="7665422"/>
                </a:lnTo>
                <a:lnTo>
                  <a:pt x="0" y="7665422"/>
                </a:lnTo>
                <a:lnTo>
                  <a:pt x="0" y="0"/>
                </a:lnTo>
                <a:close/>
              </a:path>
            </a:pathLst>
          </a:custGeom>
          <a:blipFill>
            <a:blip r:embed="rId3"/>
            <a:stretch>
              <a:fillRect l="0" t="-9951" r="0" b="-15699"/>
            </a:stretch>
          </a:blipFill>
        </p:spPr>
      </p:sp>
      <p:sp>
        <p:nvSpPr>
          <p:cNvPr name="Freeform 4" id="4"/>
          <p:cNvSpPr/>
          <p:nvPr/>
        </p:nvSpPr>
        <p:spPr>
          <a:xfrm flipH="false" flipV="false" rot="-5400000">
            <a:off x="5688519" y="-2039600"/>
            <a:ext cx="6954044" cy="13798307"/>
          </a:xfrm>
          <a:custGeom>
            <a:avLst/>
            <a:gdLst/>
            <a:ahLst/>
            <a:cxnLst/>
            <a:rect r="r" b="b" t="t" l="l"/>
            <a:pathLst>
              <a:path h="13798307" w="6954044">
                <a:moveTo>
                  <a:pt x="0" y="0"/>
                </a:moveTo>
                <a:lnTo>
                  <a:pt x="6954044" y="0"/>
                </a:lnTo>
                <a:lnTo>
                  <a:pt x="6954044" y="13798307"/>
                </a:lnTo>
                <a:lnTo>
                  <a:pt x="0" y="13798307"/>
                </a:lnTo>
                <a:lnTo>
                  <a:pt x="0" y="0"/>
                </a:lnTo>
                <a:close/>
              </a:path>
            </a:pathLst>
          </a:custGeom>
          <a:blipFill>
            <a:blip r:embed="rId4"/>
            <a:stretch>
              <a:fillRect l="-29965" t="0" r="0" b="0"/>
            </a:stretch>
          </a:blipFill>
        </p:spPr>
      </p:sp>
      <p:grpSp>
        <p:nvGrpSpPr>
          <p:cNvPr name="Group 5" id="5"/>
          <p:cNvGrpSpPr/>
          <p:nvPr/>
        </p:nvGrpSpPr>
        <p:grpSpPr>
          <a:xfrm rot="0">
            <a:off x="2492465" y="1571699"/>
            <a:ext cx="13242983" cy="6531055"/>
            <a:chOff x="0" y="0"/>
            <a:chExt cx="3744572" cy="1846714"/>
          </a:xfrm>
        </p:grpSpPr>
        <p:sp>
          <p:nvSpPr>
            <p:cNvPr name="Freeform 6" id="6"/>
            <p:cNvSpPr/>
            <p:nvPr/>
          </p:nvSpPr>
          <p:spPr>
            <a:xfrm flipH="false" flipV="false" rot="0">
              <a:off x="0" y="0"/>
              <a:ext cx="3744572" cy="1846714"/>
            </a:xfrm>
            <a:custGeom>
              <a:avLst/>
              <a:gdLst/>
              <a:ahLst/>
              <a:cxnLst/>
              <a:rect r="r" b="b" t="t" l="l"/>
              <a:pathLst>
                <a:path h="1846714" w="3744572">
                  <a:moveTo>
                    <a:pt x="0" y="0"/>
                  </a:moveTo>
                  <a:lnTo>
                    <a:pt x="3744572" y="0"/>
                  </a:lnTo>
                  <a:lnTo>
                    <a:pt x="3744572" y="1846714"/>
                  </a:lnTo>
                  <a:lnTo>
                    <a:pt x="0" y="1846714"/>
                  </a:lnTo>
                  <a:close/>
                </a:path>
              </a:pathLst>
            </a:custGeom>
            <a:solidFill>
              <a:srgbClr val="FFFFFF">
                <a:alpha val="52941"/>
              </a:srgbClr>
            </a:solidFill>
          </p:spPr>
        </p:sp>
        <p:sp>
          <p:nvSpPr>
            <p:cNvPr name="TextBox 7" id="7"/>
            <p:cNvSpPr txBox="true"/>
            <p:nvPr/>
          </p:nvSpPr>
          <p:spPr>
            <a:xfrm>
              <a:off x="0" y="-47625"/>
              <a:ext cx="3744572" cy="1894339"/>
            </a:xfrm>
            <a:prstGeom prst="rect">
              <a:avLst/>
            </a:prstGeom>
          </p:spPr>
          <p:txBody>
            <a:bodyPr anchor="ctr" rtlCol="false" tIns="50800" lIns="50800" bIns="50800" rIns="50800"/>
            <a:lstStyle/>
            <a:p>
              <a:pPr algn="ctr">
                <a:lnSpc>
                  <a:spcPts val="2485"/>
                </a:lnSpc>
              </a:pPr>
              <a:r>
                <a:rPr lang="en-US" sz="1775">
                  <a:solidFill>
                    <a:srgbClr val="FFFFFF">
                      <a:alpha val="52941"/>
                    </a:srgbClr>
                  </a:solidFill>
                  <a:latin typeface="Marykate"/>
                  <a:ea typeface="Marykate"/>
                  <a:cs typeface="Marykate"/>
                  <a:sym typeface="Marykate"/>
                </a:rPr>
                <a:t> </a:t>
              </a:r>
            </a:p>
          </p:txBody>
        </p:sp>
      </p:grpSp>
      <p:sp>
        <p:nvSpPr>
          <p:cNvPr name="TextBox 8" id="8"/>
          <p:cNvSpPr txBox="true"/>
          <p:nvPr/>
        </p:nvSpPr>
        <p:spPr>
          <a:xfrm rot="0">
            <a:off x="4678567" y="1803792"/>
            <a:ext cx="8870777" cy="846985"/>
          </a:xfrm>
          <a:prstGeom prst="rect">
            <a:avLst/>
          </a:prstGeom>
        </p:spPr>
        <p:txBody>
          <a:bodyPr anchor="t" rtlCol="false" tIns="0" lIns="0" bIns="0" rIns="0">
            <a:spAutoFit/>
          </a:bodyPr>
          <a:lstStyle/>
          <a:p>
            <a:pPr algn="ctr">
              <a:lnSpc>
                <a:spcPts val="5714"/>
              </a:lnSpc>
            </a:pPr>
            <a:r>
              <a:rPr lang="en-US" sz="5195">
                <a:solidFill>
                  <a:srgbClr val="3A3E61"/>
                </a:solidFill>
                <a:latin typeface="Unique"/>
                <a:ea typeface="Unique"/>
                <a:cs typeface="Unique"/>
                <a:sym typeface="Unique"/>
              </a:rPr>
              <a:t>5 konsep utama dalam video 1</a:t>
            </a:r>
          </a:p>
        </p:txBody>
      </p:sp>
      <p:sp>
        <p:nvSpPr>
          <p:cNvPr name="TextBox 9" id="9"/>
          <p:cNvSpPr txBox="true"/>
          <p:nvPr/>
        </p:nvSpPr>
        <p:spPr>
          <a:xfrm rot="0">
            <a:off x="2693926" y="2908064"/>
            <a:ext cx="13041521" cy="4937853"/>
          </a:xfrm>
          <a:prstGeom prst="rect">
            <a:avLst/>
          </a:prstGeom>
        </p:spPr>
        <p:txBody>
          <a:bodyPr anchor="t" rtlCol="false" tIns="0" lIns="0" bIns="0" rIns="0">
            <a:spAutoFit/>
          </a:bodyPr>
          <a:lstStyle/>
          <a:p>
            <a:pPr algn="l">
              <a:lnSpc>
                <a:spcPts val="2848"/>
              </a:lnSpc>
            </a:pPr>
            <a:r>
              <a:rPr lang="en-US" sz="2334">
                <a:solidFill>
                  <a:srgbClr val="3A3E61"/>
                </a:solidFill>
                <a:latin typeface="Vintii"/>
                <a:ea typeface="Vintii"/>
                <a:cs typeface="Vintii"/>
                <a:sym typeface="Vintii"/>
              </a:rPr>
              <a:t>1. </a:t>
            </a:r>
            <a:r>
              <a:rPr lang="en-US" sz="2334" u="sng">
                <a:solidFill>
                  <a:srgbClr val="434887"/>
                </a:solidFill>
                <a:latin typeface="Vintii"/>
                <a:ea typeface="Vintii"/>
                <a:cs typeface="Vintii"/>
                <a:sym typeface="Vintii"/>
              </a:rPr>
              <a:t>Definisi dan Arsitektur Agen (02:27)</a:t>
            </a:r>
            <a:r>
              <a:rPr lang="en-US" sz="2334">
                <a:solidFill>
                  <a:srgbClr val="3A3E61"/>
                </a:solidFill>
                <a:latin typeface="Vintii"/>
                <a:ea typeface="Vintii"/>
                <a:cs typeface="Vintii"/>
                <a:sym typeface="Vintii"/>
              </a:rPr>
              <a:t>: Agen didefinisikan sebagai sistem komputer yang berada dalam lingkungan tertentu dan memiliki kemampuan untuk bertindak secara otonom untuk mencapai sasaran. Struktur agen terdiri dari sensor (menangkap persepsi), aktuator (melakukan aksi), dan program.</a:t>
            </a:r>
          </a:p>
          <a:p>
            <a:pPr algn="l">
              <a:lnSpc>
                <a:spcPts val="2848"/>
              </a:lnSpc>
            </a:pPr>
            <a:r>
              <a:rPr lang="en-US" sz="2334">
                <a:solidFill>
                  <a:srgbClr val="3A3E61"/>
                </a:solidFill>
                <a:latin typeface="Vintii"/>
                <a:ea typeface="Vintii"/>
                <a:cs typeface="Vintii"/>
                <a:sym typeface="Vintii"/>
              </a:rPr>
              <a:t>2. </a:t>
            </a:r>
            <a:r>
              <a:rPr lang="en-US" sz="2334" u="sng">
                <a:solidFill>
                  <a:srgbClr val="434887"/>
                </a:solidFill>
                <a:latin typeface="Vintii"/>
                <a:ea typeface="Vintii"/>
                <a:cs typeface="Vintii"/>
                <a:sym typeface="Vintii"/>
              </a:rPr>
              <a:t>Rasionalitas Agen dan PEAS (09:57)</a:t>
            </a:r>
            <a:r>
              <a:rPr lang="en-US" sz="2334">
                <a:solidFill>
                  <a:srgbClr val="3A3E61"/>
                </a:solidFill>
                <a:latin typeface="Vintii"/>
                <a:ea typeface="Vintii"/>
                <a:cs typeface="Vintii"/>
                <a:sym typeface="Vintii"/>
              </a:rPr>
              <a:t>: Agen dikatakan rasional jika mampu memilih tindakan terbaik untuk mencapai kesuksesan. Untuk mengukur performa ini, digunakan model PEAS yang mencakup Performance measure, Environment, Actuators, dan Sensors.</a:t>
            </a:r>
          </a:p>
          <a:p>
            <a:pPr algn="l">
              <a:lnSpc>
                <a:spcPts val="2848"/>
              </a:lnSpc>
            </a:pPr>
            <a:r>
              <a:rPr lang="en-US" sz="2334">
                <a:solidFill>
                  <a:srgbClr val="3A3E61"/>
                </a:solidFill>
                <a:latin typeface="Vintii"/>
                <a:ea typeface="Vintii"/>
                <a:cs typeface="Vintii"/>
                <a:sym typeface="Vintii"/>
              </a:rPr>
              <a:t>3. </a:t>
            </a:r>
            <a:r>
              <a:rPr lang="en-US" sz="2334" u="sng">
                <a:solidFill>
                  <a:srgbClr val="434887"/>
                </a:solidFill>
                <a:latin typeface="Vintii"/>
                <a:ea typeface="Vintii"/>
                <a:cs typeface="Vintii"/>
                <a:sym typeface="Vintii"/>
              </a:rPr>
              <a:t>Representasi Pengetahuan (22:42)</a:t>
            </a:r>
            <a:r>
              <a:rPr lang="en-US" sz="2334">
                <a:solidFill>
                  <a:srgbClr val="3A3E61"/>
                </a:solidFill>
                <a:latin typeface="Vintii"/>
                <a:ea typeface="Vintii"/>
                <a:cs typeface="Vintii"/>
                <a:sym typeface="Vintii"/>
              </a:rPr>
              <a:t>: Konsep ini adalah metode untuk mengkodekan pengetahuan ke dalam sistem agar bisa diproses oleh mesin. Klasifikasinya mencakup pengetahuan prosedural, deklaratif, dan tasyid.</a:t>
            </a:r>
          </a:p>
          <a:p>
            <a:pPr algn="l">
              <a:lnSpc>
                <a:spcPts val="2848"/>
              </a:lnSpc>
            </a:pPr>
            <a:r>
              <a:rPr lang="en-US" sz="2334">
                <a:solidFill>
                  <a:srgbClr val="3A3E61"/>
                </a:solidFill>
                <a:latin typeface="Vintii"/>
                <a:ea typeface="Vintii"/>
                <a:cs typeface="Vintii"/>
                <a:sym typeface="Vintii"/>
              </a:rPr>
              <a:t>4. </a:t>
            </a:r>
            <a:r>
              <a:rPr lang="en-US" sz="2334" u="sng">
                <a:solidFill>
                  <a:srgbClr val="434887"/>
                </a:solidFill>
                <a:latin typeface="Vintii"/>
                <a:ea typeface="Vintii"/>
                <a:cs typeface="Vintii"/>
                <a:sym typeface="Vintii"/>
              </a:rPr>
              <a:t>Logika sebagai Representasi (35:36)</a:t>
            </a:r>
            <a:r>
              <a:rPr lang="en-US" sz="2334">
                <a:solidFill>
                  <a:srgbClr val="3A3E61"/>
                </a:solidFill>
                <a:latin typeface="Vintii"/>
                <a:ea typeface="Vintii"/>
                <a:cs typeface="Vintii"/>
                <a:sym typeface="Vintii"/>
              </a:rPr>
              <a:t>: Penggunaan logika proposisi dan logika predikat untuk merepresentasikan fakta dalam bentuk simbolis. Ini sering dikonversi menjadi Conjunctive Normal Form (CNF) atau Klausa sebagai standar dalam sistem pakar.</a:t>
            </a:r>
          </a:p>
          <a:p>
            <a:pPr algn="l">
              <a:lnSpc>
                <a:spcPts val="2848"/>
              </a:lnSpc>
            </a:pPr>
            <a:r>
              <a:rPr lang="en-US" sz="2334">
                <a:solidFill>
                  <a:srgbClr val="3A3E61"/>
                </a:solidFill>
                <a:latin typeface="Vintii"/>
                <a:ea typeface="Vintii"/>
                <a:cs typeface="Vintii"/>
                <a:sym typeface="Vintii"/>
              </a:rPr>
              <a:t>5. </a:t>
            </a:r>
            <a:r>
              <a:rPr lang="en-US" sz="2334" u="sng">
                <a:solidFill>
                  <a:srgbClr val="434887"/>
                </a:solidFill>
                <a:latin typeface="Vintii"/>
                <a:ea typeface="Vintii"/>
                <a:cs typeface="Vintii"/>
                <a:sym typeface="Vintii"/>
              </a:rPr>
              <a:t>Metode Penalaran (39:25)</a:t>
            </a:r>
            <a:r>
              <a:rPr lang="en-US" sz="2334">
                <a:solidFill>
                  <a:srgbClr val="3A3E61"/>
                </a:solidFill>
                <a:latin typeface="Vintii"/>
                <a:ea typeface="Vintii"/>
                <a:cs typeface="Vintii"/>
                <a:sym typeface="Vintii"/>
              </a:rPr>
              <a:t>: Teknik untuk menarik kesimpulan baru dari basis pengetahuan yang ada, yaitu Forward Chaining (penalaran maju dari fakta ke tujuan) dan Backward Chaining (penalaran mundur dari hipotesa ke fakta awal).</a:t>
            </a:r>
          </a:p>
        </p:txBody>
      </p:sp>
      <p:sp>
        <p:nvSpPr>
          <p:cNvPr name="Freeform 10" id="10"/>
          <p:cNvSpPr/>
          <p:nvPr/>
        </p:nvSpPr>
        <p:spPr>
          <a:xfrm flipH="false" flipV="false" rot="-2700000">
            <a:off x="364516" y="631975"/>
            <a:ext cx="2381963" cy="2457935"/>
          </a:xfrm>
          <a:custGeom>
            <a:avLst/>
            <a:gdLst/>
            <a:ahLst/>
            <a:cxnLst/>
            <a:rect r="r" b="b" t="t" l="l"/>
            <a:pathLst>
              <a:path h="2457935" w="2381963">
                <a:moveTo>
                  <a:pt x="0" y="0"/>
                </a:moveTo>
                <a:lnTo>
                  <a:pt x="2381963" y="0"/>
                </a:lnTo>
                <a:lnTo>
                  <a:pt x="2381963" y="2457935"/>
                </a:lnTo>
                <a:lnTo>
                  <a:pt x="0" y="245793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2499016">
            <a:off x="15556636" y="7348224"/>
            <a:ext cx="2381963" cy="2457935"/>
          </a:xfrm>
          <a:custGeom>
            <a:avLst/>
            <a:gdLst/>
            <a:ahLst/>
            <a:cxnLst/>
            <a:rect r="r" b="b" t="t" l="l"/>
            <a:pathLst>
              <a:path h="2457935" w="2381963">
                <a:moveTo>
                  <a:pt x="0" y="0"/>
                </a:moveTo>
                <a:lnTo>
                  <a:pt x="2381963" y="0"/>
                </a:lnTo>
                <a:lnTo>
                  <a:pt x="2381963" y="2457935"/>
                </a:lnTo>
                <a:lnTo>
                  <a:pt x="0" y="245793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2" id="12"/>
          <p:cNvSpPr/>
          <p:nvPr/>
        </p:nvSpPr>
        <p:spPr>
          <a:xfrm>
            <a:off x="-540252" y="3407153"/>
            <a:ext cx="1607052" cy="5170039"/>
          </a:xfrm>
          <a:custGeom>
            <a:avLst/>
            <a:gdLst/>
            <a:ahLst/>
            <a:cxnLst/>
            <a:rect r="r" b="b" t="t" l="l"/>
            <a:pathLst>
              <a:path h="5170039" w="1607052">
                <a:moveTo>
                  <a:pt x="1568952" y="0"/>
                </a:moveTo>
                <a:lnTo>
                  <a:pt x="1588002" y="0"/>
                </a:lnTo>
                <a:cubicBezTo>
                  <a:pt x="1593054" y="0"/>
                  <a:pt x="1597900" y="2008"/>
                  <a:pt x="1601472" y="5580"/>
                </a:cubicBezTo>
                <a:cubicBezTo>
                  <a:pt x="1605045" y="9152"/>
                  <a:pt x="1607052" y="13998"/>
                  <a:pt x="1607052" y="19050"/>
                </a:cubicBezTo>
                <a:lnTo>
                  <a:pt x="1607052" y="4941439"/>
                </a:lnTo>
                <a:cubicBezTo>
                  <a:pt x="1607052" y="5067691"/>
                  <a:pt x="1504704" y="5170039"/>
                  <a:pt x="1378452" y="5170039"/>
                </a:cubicBezTo>
                <a:lnTo>
                  <a:pt x="0" y="5170039"/>
                </a:lnTo>
              </a:path>
            </a:pathLst>
          </a:custGeom>
          <a:ln cap="rnd" w="76200">
            <a:solidFill>
              <a:srgbClr val="9AA5DF"/>
            </a:solidFill>
            <a:prstDash val="sysDash"/>
            <a:headEnd type="none" len="sm" w="sm"/>
            <a:tailEnd type="none" len="sm" w="sm"/>
          </a:ln>
        </p:spPr>
      </p:sp>
      <p:sp>
        <p:nvSpPr>
          <p:cNvPr name="Freeform 13" id="13"/>
          <p:cNvSpPr/>
          <p:nvPr/>
        </p:nvSpPr>
        <p:spPr>
          <a:xfrm>
            <a:off x="1283133" y="3701157"/>
            <a:ext cx="38100" cy="6991254"/>
          </a:xfrm>
          <a:custGeom>
            <a:avLst/>
            <a:gdLst/>
            <a:ahLst/>
            <a:cxnLst/>
            <a:rect r="r" b="b" t="t" l="l"/>
            <a:pathLst>
              <a:path h="6991254" w="38100">
                <a:moveTo>
                  <a:pt x="0" y="0"/>
                </a:moveTo>
                <a:lnTo>
                  <a:pt x="19050" y="0"/>
                </a:lnTo>
                <a:cubicBezTo>
                  <a:pt x="24102" y="0"/>
                  <a:pt x="28948" y="2007"/>
                  <a:pt x="32520" y="5580"/>
                </a:cubicBezTo>
                <a:cubicBezTo>
                  <a:pt x="36093" y="9152"/>
                  <a:pt x="38100" y="13998"/>
                  <a:pt x="38100" y="19050"/>
                </a:cubicBezTo>
                <a:lnTo>
                  <a:pt x="38100" y="6991254"/>
                </a:lnTo>
              </a:path>
            </a:pathLst>
          </a:custGeom>
          <a:ln cap="rnd" w="76200">
            <a:solidFill>
              <a:srgbClr val="9AA5DF"/>
            </a:solidFill>
            <a:prstDash val="sysDash"/>
            <a:headEnd type="none" len="sm" w="sm"/>
            <a:tailEnd type="none" len="sm" w="sm"/>
          </a:ln>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2512816">
            <a:off x="-4292634" y="-1843060"/>
            <a:ext cx="13973120" cy="13973120"/>
          </a:xfrm>
          <a:custGeom>
            <a:avLst/>
            <a:gdLst/>
            <a:ahLst/>
            <a:cxnLst/>
            <a:rect r="r" b="b" t="t" l="l"/>
            <a:pathLst>
              <a:path h="13973120" w="13973120">
                <a:moveTo>
                  <a:pt x="0" y="0"/>
                </a:moveTo>
                <a:lnTo>
                  <a:pt x="13973120" y="0"/>
                </a:lnTo>
                <a:lnTo>
                  <a:pt x="13973120" y="13973120"/>
                </a:lnTo>
                <a:lnTo>
                  <a:pt x="0" y="13973120"/>
                </a:lnTo>
                <a:lnTo>
                  <a:pt x="0" y="0"/>
                </a:lnTo>
                <a:close/>
              </a:path>
            </a:pathLst>
          </a:custGeom>
          <a:blipFill>
            <a:blip r:embed="rId2"/>
            <a:stretch>
              <a:fillRect l="0" t="0" r="0" b="0"/>
            </a:stretch>
          </a:blipFill>
        </p:spPr>
      </p:sp>
      <p:sp>
        <p:nvSpPr>
          <p:cNvPr name="Freeform 3" id="3"/>
          <p:cNvSpPr/>
          <p:nvPr/>
        </p:nvSpPr>
        <p:spPr>
          <a:xfrm flipH="false" flipV="false" rot="0">
            <a:off x="1915720" y="1034564"/>
            <a:ext cx="14456560" cy="7665421"/>
          </a:xfrm>
          <a:custGeom>
            <a:avLst/>
            <a:gdLst/>
            <a:ahLst/>
            <a:cxnLst/>
            <a:rect r="r" b="b" t="t" l="l"/>
            <a:pathLst>
              <a:path h="7665421" w="14456560">
                <a:moveTo>
                  <a:pt x="0" y="0"/>
                </a:moveTo>
                <a:lnTo>
                  <a:pt x="14456560" y="0"/>
                </a:lnTo>
                <a:lnTo>
                  <a:pt x="14456560" y="7665422"/>
                </a:lnTo>
                <a:lnTo>
                  <a:pt x="0" y="7665422"/>
                </a:lnTo>
                <a:lnTo>
                  <a:pt x="0" y="0"/>
                </a:lnTo>
                <a:close/>
              </a:path>
            </a:pathLst>
          </a:custGeom>
          <a:blipFill>
            <a:blip r:embed="rId3"/>
            <a:stretch>
              <a:fillRect l="0" t="-9951" r="0" b="-15699"/>
            </a:stretch>
          </a:blipFill>
        </p:spPr>
      </p:sp>
      <p:sp>
        <p:nvSpPr>
          <p:cNvPr name="Freeform 4" id="4"/>
          <p:cNvSpPr/>
          <p:nvPr/>
        </p:nvSpPr>
        <p:spPr>
          <a:xfrm flipH="false" flipV="false" rot="-5400000">
            <a:off x="5688519" y="-2039600"/>
            <a:ext cx="6954044" cy="13798307"/>
          </a:xfrm>
          <a:custGeom>
            <a:avLst/>
            <a:gdLst/>
            <a:ahLst/>
            <a:cxnLst/>
            <a:rect r="r" b="b" t="t" l="l"/>
            <a:pathLst>
              <a:path h="13798307" w="6954044">
                <a:moveTo>
                  <a:pt x="0" y="0"/>
                </a:moveTo>
                <a:lnTo>
                  <a:pt x="6954044" y="0"/>
                </a:lnTo>
                <a:lnTo>
                  <a:pt x="6954044" y="13798307"/>
                </a:lnTo>
                <a:lnTo>
                  <a:pt x="0" y="13798307"/>
                </a:lnTo>
                <a:lnTo>
                  <a:pt x="0" y="0"/>
                </a:lnTo>
                <a:close/>
              </a:path>
            </a:pathLst>
          </a:custGeom>
          <a:blipFill>
            <a:blip r:embed="rId4"/>
            <a:stretch>
              <a:fillRect l="-29965" t="0" r="0" b="0"/>
            </a:stretch>
          </a:blipFill>
        </p:spPr>
      </p:sp>
      <p:grpSp>
        <p:nvGrpSpPr>
          <p:cNvPr name="Group 5" id="5"/>
          <p:cNvGrpSpPr/>
          <p:nvPr/>
        </p:nvGrpSpPr>
        <p:grpSpPr>
          <a:xfrm rot="0">
            <a:off x="2492465" y="1571699"/>
            <a:ext cx="13242983" cy="6531055"/>
            <a:chOff x="0" y="0"/>
            <a:chExt cx="3744572" cy="1846714"/>
          </a:xfrm>
        </p:grpSpPr>
        <p:sp>
          <p:nvSpPr>
            <p:cNvPr name="Freeform 6" id="6"/>
            <p:cNvSpPr/>
            <p:nvPr/>
          </p:nvSpPr>
          <p:spPr>
            <a:xfrm flipH="false" flipV="false" rot="0">
              <a:off x="0" y="0"/>
              <a:ext cx="3744572" cy="1846714"/>
            </a:xfrm>
            <a:custGeom>
              <a:avLst/>
              <a:gdLst/>
              <a:ahLst/>
              <a:cxnLst/>
              <a:rect r="r" b="b" t="t" l="l"/>
              <a:pathLst>
                <a:path h="1846714" w="3744572">
                  <a:moveTo>
                    <a:pt x="0" y="0"/>
                  </a:moveTo>
                  <a:lnTo>
                    <a:pt x="3744572" y="0"/>
                  </a:lnTo>
                  <a:lnTo>
                    <a:pt x="3744572" y="1846714"/>
                  </a:lnTo>
                  <a:lnTo>
                    <a:pt x="0" y="1846714"/>
                  </a:lnTo>
                  <a:close/>
                </a:path>
              </a:pathLst>
            </a:custGeom>
            <a:solidFill>
              <a:srgbClr val="FFFFFF">
                <a:alpha val="52941"/>
              </a:srgbClr>
            </a:solidFill>
          </p:spPr>
        </p:sp>
        <p:sp>
          <p:nvSpPr>
            <p:cNvPr name="TextBox 7" id="7"/>
            <p:cNvSpPr txBox="true"/>
            <p:nvPr/>
          </p:nvSpPr>
          <p:spPr>
            <a:xfrm>
              <a:off x="0" y="-47625"/>
              <a:ext cx="3744572" cy="1894339"/>
            </a:xfrm>
            <a:prstGeom prst="rect">
              <a:avLst/>
            </a:prstGeom>
          </p:spPr>
          <p:txBody>
            <a:bodyPr anchor="ctr" rtlCol="false" tIns="50800" lIns="50800" bIns="50800" rIns="50800"/>
            <a:lstStyle/>
            <a:p>
              <a:pPr algn="ctr">
                <a:lnSpc>
                  <a:spcPts val="2485"/>
                </a:lnSpc>
              </a:pPr>
              <a:r>
                <a:rPr lang="en-US" sz="1775">
                  <a:solidFill>
                    <a:srgbClr val="FFFFFF">
                      <a:alpha val="52941"/>
                    </a:srgbClr>
                  </a:solidFill>
                  <a:latin typeface="Marykate"/>
                  <a:ea typeface="Marykate"/>
                  <a:cs typeface="Marykate"/>
                  <a:sym typeface="Marykate"/>
                </a:rPr>
                <a:t> </a:t>
              </a:r>
            </a:p>
          </p:txBody>
        </p:sp>
      </p:grpSp>
      <p:sp>
        <p:nvSpPr>
          <p:cNvPr name="TextBox 8" id="8"/>
          <p:cNvSpPr txBox="true"/>
          <p:nvPr/>
        </p:nvSpPr>
        <p:spPr>
          <a:xfrm rot="0">
            <a:off x="4678567" y="1803792"/>
            <a:ext cx="8870777" cy="846985"/>
          </a:xfrm>
          <a:prstGeom prst="rect">
            <a:avLst/>
          </a:prstGeom>
        </p:spPr>
        <p:txBody>
          <a:bodyPr anchor="t" rtlCol="false" tIns="0" lIns="0" bIns="0" rIns="0">
            <a:spAutoFit/>
          </a:bodyPr>
          <a:lstStyle/>
          <a:p>
            <a:pPr algn="ctr">
              <a:lnSpc>
                <a:spcPts val="5714"/>
              </a:lnSpc>
            </a:pPr>
            <a:r>
              <a:rPr lang="en-US" sz="5195">
                <a:solidFill>
                  <a:srgbClr val="3A3E61"/>
                </a:solidFill>
                <a:latin typeface="Unique"/>
                <a:ea typeface="Unique"/>
                <a:cs typeface="Unique"/>
                <a:sym typeface="Unique"/>
              </a:rPr>
              <a:t>5 konsep utama dalam video 2</a:t>
            </a:r>
          </a:p>
        </p:txBody>
      </p:sp>
      <p:sp>
        <p:nvSpPr>
          <p:cNvPr name="TextBox 9" id="9"/>
          <p:cNvSpPr txBox="true"/>
          <p:nvPr/>
        </p:nvSpPr>
        <p:spPr>
          <a:xfrm rot="0">
            <a:off x="2655826" y="2908064"/>
            <a:ext cx="13041521" cy="5136277"/>
          </a:xfrm>
          <a:prstGeom prst="rect">
            <a:avLst/>
          </a:prstGeom>
        </p:spPr>
        <p:txBody>
          <a:bodyPr anchor="t" rtlCol="false" tIns="0" lIns="0" bIns="0" rIns="0">
            <a:spAutoFit/>
          </a:bodyPr>
          <a:lstStyle/>
          <a:p>
            <a:pPr algn="l">
              <a:lnSpc>
                <a:spcPts val="3702"/>
              </a:lnSpc>
            </a:pPr>
            <a:r>
              <a:rPr lang="en-US" sz="3034">
                <a:solidFill>
                  <a:srgbClr val="3A3E61"/>
                </a:solidFill>
                <a:latin typeface="Vintii"/>
                <a:ea typeface="Vintii"/>
                <a:cs typeface="Vintii"/>
                <a:sym typeface="Vintii"/>
              </a:rPr>
              <a:t>1. </a:t>
            </a:r>
            <a:r>
              <a:rPr lang="en-US" sz="3034" u="sng">
                <a:solidFill>
                  <a:srgbClr val="434887"/>
                </a:solidFill>
                <a:latin typeface="Vintii"/>
                <a:ea typeface="Vintii"/>
                <a:cs typeface="Vintii"/>
                <a:sym typeface="Vintii"/>
              </a:rPr>
              <a:t>Basis Pengetahuan &amp; Inferensi (0:30)</a:t>
            </a:r>
            <a:r>
              <a:rPr lang="en-US" sz="3034">
                <a:solidFill>
                  <a:srgbClr val="3A3E61"/>
                </a:solidFill>
                <a:latin typeface="Vintii"/>
                <a:ea typeface="Vintii"/>
                <a:cs typeface="Vintii"/>
                <a:sym typeface="Vintii"/>
              </a:rPr>
              <a:t>: AI adalah kombinasi data/fakta (basis pengetahuan) dan </a:t>
            </a:r>
            <a:r>
              <a:rPr lang="en-US" sz="3034" u="none">
                <a:solidFill>
                  <a:srgbClr val="3A3E61"/>
                </a:solidFill>
                <a:latin typeface="Vintii"/>
                <a:ea typeface="Vintii"/>
                <a:cs typeface="Vintii"/>
                <a:sym typeface="Vintii"/>
              </a:rPr>
              <a:t>si</a:t>
            </a:r>
            <a:r>
              <a:rPr lang="en-US" sz="3034">
                <a:solidFill>
                  <a:srgbClr val="3A3E61"/>
                </a:solidFill>
                <a:latin typeface="Vintii"/>
                <a:ea typeface="Vintii"/>
                <a:cs typeface="Vintii"/>
                <a:sym typeface="Vintii"/>
              </a:rPr>
              <a:t>s</a:t>
            </a:r>
            <a:r>
              <a:rPr lang="en-US" sz="3034" u="none">
                <a:solidFill>
                  <a:srgbClr val="3A3E61"/>
                </a:solidFill>
                <a:latin typeface="Vintii"/>
                <a:ea typeface="Vintii"/>
                <a:cs typeface="Vintii"/>
                <a:sym typeface="Vintii"/>
              </a:rPr>
              <a:t>te</a:t>
            </a:r>
            <a:r>
              <a:rPr lang="en-US" sz="3034">
                <a:solidFill>
                  <a:srgbClr val="3A3E61"/>
                </a:solidFill>
                <a:latin typeface="Vintii"/>
                <a:ea typeface="Vintii"/>
                <a:cs typeface="Vintii"/>
                <a:sym typeface="Vintii"/>
              </a:rPr>
              <a:t>m</a:t>
            </a:r>
            <a:r>
              <a:rPr lang="en-US" sz="3034" u="none">
                <a:solidFill>
                  <a:srgbClr val="3A3E61"/>
                </a:solidFill>
                <a:latin typeface="Vintii"/>
                <a:ea typeface="Vintii"/>
                <a:cs typeface="Vintii"/>
                <a:sym typeface="Vintii"/>
              </a:rPr>
              <a:t> </a:t>
            </a:r>
            <a:r>
              <a:rPr lang="en-US" sz="3034">
                <a:solidFill>
                  <a:srgbClr val="3A3E61"/>
                </a:solidFill>
                <a:latin typeface="Vintii"/>
                <a:ea typeface="Vintii"/>
                <a:cs typeface="Vintii"/>
                <a:sym typeface="Vintii"/>
              </a:rPr>
              <a:t>penalaran (inference engine) untuk mengambil kesimpulan.</a:t>
            </a:r>
          </a:p>
          <a:p>
            <a:pPr algn="l">
              <a:lnSpc>
                <a:spcPts val="3702"/>
              </a:lnSpc>
            </a:pPr>
            <a:r>
              <a:rPr lang="en-US" sz="3034">
                <a:solidFill>
                  <a:srgbClr val="3A3E61"/>
                </a:solidFill>
                <a:latin typeface="Vintii"/>
                <a:ea typeface="Vintii"/>
                <a:cs typeface="Vintii"/>
                <a:sym typeface="Vintii"/>
              </a:rPr>
              <a:t>2. </a:t>
            </a:r>
            <a:r>
              <a:rPr lang="en-US" sz="3034" u="sng">
                <a:solidFill>
                  <a:srgbClr val="434887"/>
                </a:solidFill>
                <a:latin typeface="Vintii"/>
                <a:ea typeface="Vintii"/>
                <a:cs typeface="Vintii"/>
                <a:sym typeface="Vintii"/>
              </a:rPr>
              <a:t>Skema Representasi (1:50)</a:t>
            </a:r>
            <a:r>
              <a:rPr lang="en-US" sz="3034">
                <a:solidFill>
                  <a:srgbClr val="3A3E61"/>
                </a:solidFill>
                <a:latin typeface="Vintii"/>
                <a:ea typeface="Vintii"/>
                <a:cs typeface="Vintii"/>
                <a:sym typeface="Vintii"/>
              </a:rPr>
              <a:t>: Cara komputer menyimpan pengetahuan agar bisa diproses. Terbagi menjadi deklaratif (fakta) dan prosedural (langkah tindakan).</a:t>
            </a:r>
          </a:p>
          <a:p>
            <a:pPr algn="l">
              <a:lnSpc>
                <a:spcPts val="3702"/>
              </a:lnSpc>
            </a:pPr>
            <a:r>
              <a:rPr lang="en-US" sz="3034">
                <a:solidFill>
                  <a:srgbClr val="3A3E61"/>
                </a:solidFill>
                <a:latin typeface="Vintii"/>
                <a:ea typeface="Vintii"/>
                <a:cs typeface="Vintii"/>
                <a:sym typeface="Vintii"/>
              </a:rPr>
              <a:t>3. </a:t>
            </a:r>
            <a:r>
              <a:rPr lang="en-US" sz="3034" u="sng">
                <a:solidFill>
                  <a:srgbClr val="434887"/>
                </a:solidFill>
                <a:latin typeface="Vintii"/>
                <a:ea typeface="Vintii"/>
                <a:cs typeface="Vintii"/>
                <a:sym typeface="Vintii"/>
              </a:rPr>
              <a:t>Logika Deduktif vs. Induktif (4:30)</a:t>
            </a:r>
            <a:r>
              <a:rPr lang="en-US" sz="3034">
                <a:solidFill>
                  <a:srgbClr val="3A3E61"/>
                </a:solidFill>
                <a:latin typeface="Vintii"/>
                <a:ea typeface="Vintii"/>
                <a:cs typeface="Vintii"/>
                <a:sym typeface="Vintii"/>
              </a:rPr>
              <a:t>: Deduktif menarik kesimpulan dari aturan umum ke khusus; Induktif menyimpulkan pola umum dari fakta-fakta khusus.</a:t>
            </a:r>
          </a:p>
          <a:p>
            <a:pPr algn="l">
              <a:lnSpc>
                <a:spcPts val="3702"/>
              </a:lnSpc>
            </a:pPr>
            <a:r>
              <a:rPr lang="en-US" sz="3034">
                <a:solidFill>
                  <a:srgbClr val="3A3E61"/>
                </a:solidFill>
                <a:latin typeface="Vintii"/>
                <a:ea typeface="Vintii"/>
                <a:cs typeface="Vintii"/>
                <a:sym typeface="Vintii"/>
              </a:rPr>
              <a:t>4. </a:t>
            </a:r>
            <a:r>
              <a:rPr lang="en-US" sz="3034" u="sng">
                <a:solidFill>
                  <a:srgbClr val="434887"/>
                </a:solidFill>
                <a:latin typeface="Vintii"/>
                <a:ea typeface="Vintii"/>
                <a:cs typeface="Vintii"/>
                <a:sym typeface="Vintii"/>
              </a:rPr>
              <a:t>Logika Proposisional (7:00)</a:t>
            </a:r>
            <a:r>
              <a:rPr lang="en-US" sz="3034">
                <a:solidFill>
                  <a:srgbClr val="3A3E61"/>
                </a:solidFill>
                <a:latin typeface="Vintii"/>
                <a:ea typeface="Vintii"/>
                <a:cs typeface="Vintii"/>
                <a:sym typeface="Vintii"/>
              </a:rPr>
              <a:t>: Bentuk logika paling dasar yang menilai pernyataan sebagai Benar atau Salah menggunakan operator seperti AND, OR, dan NOT.</a:t>
            </a:r>
          </a:p>
          <a:p>
            <a:pPr algn="l">
              <a:lnSpc>
                <a:spcPts val="3702"/>
              </a:lnSpc>
            </a:pPr>
            <a:r>
              <a:rPr lang="en-US" sz="3034">
                <a:solidFill>
                  <a:srgbClr val="3A3E61"/>
                </a:solidFill>
                <a:latin typeface="Vintii"/>
                <a:ea typeface="Vintii"/>
                <a:cs typeface="Vintii"/>
                <a:sym typeface="Vintii"/>
              </a:rPr>
              <a:t>5. </a:t>
            </a:r>
            <a:r>
              <a:rPr lang="en-US" sz="3034" u="sng">
                <a:solidFill>
                  <a:srgbClr val="434887"/>
                </a:solidFill>
                <a:latin typeface="Vintii"/>
                <a:ea typeface="Vintii"/>
                <a:cs typeface="Vintii"/>
                <a:sym typeface="Vintii"/>
              </a:rPr>
              <a:t>Logika Predikat (10:35)</a:t>
            </a:r>
            <a:r>
              <a:rPr lang="en-US" sz="3034">
                <a:solidFill>
                  <a:srgbClr val="3A3E61"/>
                </a:solidFill>
                <a:latin typeface="Vintii"/>
                <a:ea typeface="Vintii"/>
                <a:cs typeface="Vintii"/>
                <a:sym typeface="Vintii"/>
              </a:rPr>
              <a:t>: Versi lebih canggih yang memecah pernyataan menjadi objek dan sifatnya (predikat), memungkinkan penggunaan variabel dan simbol kuantitas (semua/ada).</a:t>
            </a:r>
          </a:p>
        </p:txBody>
      </p:sp>
      <p:sp>
        <p:nvSpPr>
          <p:cNvPr name="Freeform 10" id="10"/>
          <p:cNvSpPr/>
          <p:nvPr/>
        </p:nvSpPr>
        <p:spPr>
          <a:xfrm flipH="false" flipV="false" rot="-2700000">
            <a:off x="364516" y="631975"/>
            <a:ext cx="2381963" cy="2457935"/>
          </a:xfrm>
          <a:custGeom>
            <a:avLst/>
            <a:gdLst/>
            <a:ahLst/>
            <a:cxnLst/>
            <a:rect r="r" b="b" t="t" l="l"/>
            <a:pathLst>
              <a:path h="2457935" w="2381963">
                <a:moveTo>
                  <a:pt x="0" y="0"/>
                </a:moveTo>
                <a:lnTo>
                  <a:pt x="2381963" y="0"/>
                </a:lnTo>
                <a:lnTo>
                  <a:pt x="2381963" y="2457935"/>
                </a:lnTo>
                <a:lnTo>
                  <a:pt x="0" y="245793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2499016">
            <a:off x="15556636" y="7348224"/>
            <a:ext cx="2381963" cy="2457935"/>
          </a:xfrm>
          <a:custGeom>
            <a:avLst/>
            <a:gdLst/>
            <a:ahLst/>
            <a:cxnLst/>
            <a:rect r="r" b="b" t="t" l="l"/>
            <a:pathLst>
              <a:path h="2457935" w="2381963">
                <a:moveTo>
                  <a:pt x="0" y="0"/>
                </a:moveTo>
                <a:lnTo>
                  <a:pt x="2381963" y="0"/>
                </a:lnTo>
                <a:lnTo>
                  <a:pt x="2381963" y="2457935"/>
                </a:lnTo>
                <a:lnTo>
                  <a:pt x="0" y="245793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2" id="12"/>
          <p:cNvSpPr/>
          <p:nvPr/>
        </p:nvSpPr>
        <p:spPr>
          <a:xfrm>
            <a:off x="-540252" y="3407153"/>
            <a:ext cx="1607052" cy="5170039"/>
          </a:xfrm>
          <a:custGeom>
            <a:avLst/>
            <a:gdLst/>
            <a:ahLst/>
            <a:cxnLst/>
            <a:rect r="r" b="b" t="t" l="l"/>
            <a:pathLst>
              <a:path h="5170039" w="1607052">
                <a:moveTo>
                  <a:pt x="1568952" y="0"/>
                </a:moveTo>
                <a:lnTo>
                  <a:pt x="1588002" y="0"/>
                </a:lnTo>
                <a:cubicBezTo>
                  <a:pt x="1593054" y="0"/>
                  <a:pt x="1597900" y="2008"/>
                  <a:pt x="1601472" y="5580"/>
                </a:cubicBezTo>
                <a:cubicBezTo>
                  <a:pt x="1605045" y="9152"/>
                  <a:pt x="1607052" y="13998"/>
                  <a:pt x="1607052" y="19050"/>
                </a:cubicBezTo>
                <a:lnTo>
                  <a:pt x="1607052" y="4941439"/>
                </a:lnTo>
                <a:cubicBezTo>
                  <a:pt x="1607052" y="5067691"/>
                  <a:pt x="1504704" y="5170039"/>
                  <a:pt x="1378452" y="5170039"/>
                </a:cubicBezTo>
                <a:lnTo>
                  <a:pt x="0" y="5170039"/>
                </a:lnTo>
              </a:path>
            </a:pathLst>
          </a:custGeom>
          <a:ln cap="rnd" w="76200">
            <a:solidFill>
              <a:srgbClr val="9AA5DF"/>
            </a:solidFill>
            <a:prstDash val="sysDash"/>
            <a:headEnd type="none" len="sm" w="sm"/>
            <a:tailEnd type="none" len="sm" w="sm"/>
          </a:ln>
        </p:spPr>
      </p:sp>
      <p:sp>
        <p:nvSpPr>
          <p:cNvPr name="Freeform 13" id="13"/>
          <p:cNvSpPr/>
          <p:nvPr/>
        </p:nvSpPr>
        <p:spPr>
          <a:xfrm>
            <a:off x="1283133" y="3701157"/>
            <a:ext cx="38100" cy="6991254"/>
          </a:xfrm>
          <a:custGeom>
            <a:avLst/>
            <a:gdLst/>
            <a:ahLst/>
            <a:cxnLst/>
            <a:rect r="r" b="b" t="t" l="l"/>
            <a:pathLst>
              <a:path h="6991254" w="38100">
                <a:moveTo>
                  <a:pt x="0" y="0"/>
                </a:moveTo>
                <a:lnTo>
                  <a:pt x="19050" y="0"/>
                </a:lnTo>
                <a:cubicBezTo>
                  <a:pt x="24102" y="0"/>
                  <a:pt x="28948" y="2007"/>
                  <a:pt x="32520" y="5580"/>
                </a:cubicBezTo>
                <a:cubicBezTo>
                  <a:pt x="36093" y="9152"/>
                  <a:pt x="38100" y="13998"/>
                  <a:pt x="38100" y="19050"/>
                </a:cubicBezTo>
                <a:lnTo>
                  <a:pt x="38100" y="6991254"/>
                </a:lnTo>
              </a:path>
            </a:pathLst>
          </a:custGeom>
          <a:ln cap="rnd" w="76200">
            <a:solidFill>
              <a:srgbClr val="9AA5DF"/>
            </a:solidFill>
            <a:prstDash val="sysDash"/>
            <a:headEnd type="none" len="sm" w="sm"/>
            <a:tailEnd type="none" len="sm" w="sm"/>
          </a:ln>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true" flipV="false" rot="8262871">
            <a:off x="11615472" y="6889872"/>
            <a:ext cx="1050659" cy="936042"/>
          </a:xfrm>
          <a:custGeom>
            <a:avLst/>
            <a:gdLst/>
            <a:ahLst/>
            <a:cxnLst/>
            <a:rect r="r" b="b" t="t" l="l"/>
            <a:pathLst>
              <a:path h="936042" w="1050659">
                <a:moveTo>
                  <a:pt x="1050659" y="0"/>
                </a:moveTo>
                <a:lnTo>
                  <a:pt x="0" y="0"/>
                </a:lnTo>
                <a:lnTo>
                  <a:pt x="0" y="936042"/>
                </a:lnTo>
                <a:lnTo>
                  <a:pt x="1050659" y="936042"/>
                </a:lnTo>
                <a:lnTo>
                  <a:pt x="105065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8262871">
            <a:off x="5106653" y="6949175"/>
            <a:ext cx="1050659" cy="936042"/>
          </a:xfrm>
          <a:custGeom>
            <a:avLst/>
            <a:gdLst/>
            <a:ahLst/>
            <a:cxnLst/>
            <a:rect r="r" b="b" t="t" l="l"/>
            <a:pathLst>
              <a:path h="936042" w="1050659">
                <a:moveTo>
                  <a:pt x="1050659" y="0"/>
                </a:moveTo>
                <a:lnTo>
                  <a:pt x="0" y="0"/>
                </a:lnTo>
                <a:lnTo>
                  <a:pt x="0" y="936041"/>
                </a:lnTo>
                <a:lnTo>
                  <a:pt x="1050659" y="936041"/>
                </a:lnTo>
                <a:lnTo>
                  <a:pt x="1050659"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347348" y="3303739"/>
            <a:ext cx="17426302" cy="6465635"/>
          </a:xfrm>
          <a:custGeom>
            <a:avLst/>
            <a:gdLst/>
            <a:ahLst/>
            <a:cxnLst/>
            <a:rect r="r" b="b" t="t" l="l"/>
            <a:pathLst>
              <a:path h="6465635" w="17426302">
                <a:moveTo>
                  <a:pt x="0" y="0"/>
                </a:moveTo>
                <a:lnTo>
                  <a:pt x="17426302" y="0"/>
                </a:lnTo>
                <a:lnTo>
                  <a:pt x="17426302" y="6465634"/>
                </a:lnTo>
                <a:lnTo>
                  <a:pt x="0" y="6465634"/>
                </a:lnTo>
                <a:lnTo>
                  <a:pt x="0" y="0"/>
                </a:lnTo>
                <a:close/>
              </a:path>
            </a:pathLst>
          </a:custGeom>
          <a:blipFill>
            <a:blip r:embed="rId6"/>
            <a:stretch>
              <a:fillRect l="0" t="0" r="0" b="0"/>
            </a:stretch>
          </a:blipFill>
        </p:spPr>
      </p:sp>
      <p:sp>
        <p:nvSpPr>
          <p:cNvPr name="TextBox 5" id="5"/>
          <p:cNvSpPr txBox="true"/>
          <p:nvPr/>
        </p:nvSpPr>
        <p:spPr>
          <a:xfrm rot="0">
            <a:off x="2526428" y="1009650"/>
            <a:ext cx="12625545" cy="1231857"/>
          </a:xfrm>
          <a:prstGeom prst="rect">
            <a:avLst/>
          </a:prstGeom>
        </p:spPr>
        <p:txBody>
          <a:bodyPr anchor="t" rtlCol="false" tIns="0" lIns="0" bIns="0" rIns="0">
            <a:spAutoFit/>
          </a:bodyPr>
          <a:lstStyle/>
          <a:p>
            <a:pPr algn="ctr" marL="0" indent="0" lvl="0">
              <a:lnSpc>
                <a:spcPts val="8000"/>
              </a:lnSpc>
            </a:pPr>
            <a:r>
              <a:rPr lang="en-US" sz="8000">
                <a:solidFill>
                  <a:srgbClr val="3A3E61"/>
                </a:solidFill>
                <a:latin typeface="Unique"/>
                <a:ea typeface="Unique"/>
                <a:cs typeface="Unique"/>
                <a:sym typeface="Unique"/>
              </a:rPr>
              <a:t>mini kn</a:t>
            </a:r>
            <a:r>
              <a:rPr lang="en-US" sz="8000">
                <a:solidFill>
                  <a:srgbClr val="3A3E61"/>
                </a:solidFill>
                <a:latin typeface="Unique"/>
                <a:ea typeface="Unique"/>
                <a:cs typeface="Unique"/>
                <a:sym typeface="Unique"/>
              </a:rPr>
              <a:t>owledge base</a:t>
            </a:r>
          </a:p>
        </p:txBody>
      </p:sp>
      <p:sp>
        <p:nvSpPr>
          <p:cNvPr name="Freeform 6" id="6"/>
          <p:cNvSpPr/>
          <p:nvPr/>
        </p:nvSpPr>
        <p:spPr>
          <a:xfrm flipH="false" flipV="false" rot="-5593216">
            <a:off x="14784617" y="-2350042"/>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7"/>
            <a:stretch>
              <a:fillRect l="0" t="0" r="0" b="0"/>
            </a:stretch>
          </a:blipFill>
        </p:spPr>
      </p:sp>
      <p:sp>
        <p:nvSpPr>
          <p:cNvPr name="Freeform 7" id="7"/>
          <p:cNvSpPr/>
          <p:nvPr/>
        </p:nvSpPr>
        <p:spPr>
          <a:xfrm flipH="false" flipV="false" rot="2499016">
            <a:off x="16319550" y="8288577"/>
            <a:ext cx="1879499" cy="1939446"/>
          </a:xfrm>
          <a:custGeom>
            <a:avLst/>
            <a:gdLst/>
            <a:ahLst/>
            <a:cxnLst/>
            <a:rect r="r" b="b" t="t" l="l"/>
            <a:pathLst>
              <a:path h="1939446" w="1879499">
                <a:moveTo>
                  <a:pt x="0" y="0"/>
                </a:moveTo>
                <a:lnTo>
                  <a:pt x="1879500" y="0"/>
                </a:lnTo>
                <a:lnTo>
                  <a:pt x="1879500" y="1939446"/>
                </a:lnTo>
                <a:lnTo>
                  <a:pt x="0" y="193944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2512816">
            <a:off x="-10054260" y="-10134907"/>
            <a:ext cx="13973120" cy="13973120"/>
          </a:xfrm>
          <a:custGeom>
            <a:avLst/>
            <a:gdLst/>
            <a:ahLst/>
            <a:cxnLst/>
            <a:rect r="r" b="b" t="t" l="l"/>
            <a:pathLst>
              <a:path h="13973120" w="13973120">
                <a:moveTo>
                  <a:pt x="0" y="0"/>
                </a:moveTo>
                <a:lnTo>
                  <a:pt x="13973119" y="0"/>
                </a:lnTo>
                <a:lnTo>
                  <a:pt x="13973119" y="13973120"/>
                </a:lnTo>
                <a:lnTo>
                  <a:pt x="0" y="13973120"/>
                </a:lnTo>
                <a:lnTo>
                  <a:pt x="0" y="0"/>
                </a:lnTo>
                <a:close/>
              </a:path>
            </a:pathLst>
          </a:custGeom>
          <a:blipFill>
            <a:blip r:embed="rId10"/>
            <a:stretch>
              <a:fillRect l="0" t="0" r="0" b="0"/>
            </a:stretch>
          </a:blipFill>
        </p:spPr>
      </p:sp>
      <p:sp>
        <p:nvSpPr>
          <p:cNvPr name="TextBox 9" id="9"/>
          <p:cNvSpPr txBox="true"/>
          <p:nvPr/>
        </p:nvSpPr>
        <p:spPr>
          <a:xfrm rot="0">
            <a:off x="5958484" y="2539842"/>
            <a:ext cx="4846574" cy="465561"/>
          </a:xfrm>
          <a:prstGeom prst="rect">
            <a:avLst/>
          </a:prstGeom>
        </p:spPr>
        <p:txBody>
          <a:bodyPr anchor="t" rtlCol="false" tIns="0" lIns="0" bIns="0" rIns="0">
            <a:spAutoFit/>
          </a:bodyPr>
          <a:lstStyle/>
          <a:p>
            <a:pPr algn="ctr" marL="0" indent="0" lvl="0">
              <a:lnSpc>
                <a:spcPts val="3070"/>
              </a:lnSpc>
            </a:pPr>
            <a:r>
              <a:rPr lang="en-US" sz="3070">
                <a:solidFill>
                  <a:srgbClr val="3A3E61"/>
                </a:solidFill>
                <a:latin typeface="Unique"/>
                <a:ea typeface="Unique"/>
                <a:cs typeface="Unique"/>
                <a:sym typeface="Unique"/>
              </a:rPr>
              <a:t>fakta 8</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TextBox 2" id="2"/>
          <p:cNvSpPr txBox="true"/>
          <p:nvPr/>
        </p:nvSpPr>
        <p:spPr>
          <a:xfrm rot="0">
            <a:off x="2526428" y="1009650"/>
            <a:ext cx="12625545" cy="1231857"/>
          </a:xfrm>
          <a:prstGeom prst="rect">
            <a:avLst/>
          </a:prstGeom>
        </p:spPr>
        <p:txBody>
          <a:bodyPr anchor="t" rtlCol="false" tIns="0" lIns="0" bIns="0" rIns="0">
            <a:spAutoFit/>
          </a:bodyPr>
          <a:lstStyle/>
          <a:p>
            <a:pPr algn="ctr" marL="0" indent="0" lvl="0">
              <a:lnSpc>
                <a:spcPts val="8000"/>
              </a:lnSpc>
            </a:pPr>
            <a:r>
              <a:rPr lang="en-US" sz="8000">
                <a:solidFill>
                  <a:srgbClr val="3A3E61"/>
                </a:solidFill>
                <a:latin typeface="Unique"/>
                <a:ea typeface="Unique"/>
                <a:cs typeface="Unique"/>
                <a:sym typeface="Unique"/>
              </a:rPr>
              <a:t>mini kn</a:t>
            </a:r>
            <a:r>
              <a:rPr lang="en-US" sz="8000">
                <a:solidFill>
                  <a:srgbClr val="3A3E61"/>
                </a:solidFill>
                <a:latin typeface="Unique"/>
                <a:ea typeface="Unique"/>
                <a:cs typeface="Unique"/>
                <a:sym typeface="Unique"/>
              </a:rPr>
              <a:t>owledge base</a:t>
            </a:r>
          </a:p>
        </p:txBody>
      </p:sp>
      <p:sp>
        <p:nvSpPr>
          <p:cNvPr name="Freeform 3" id="3"/>
          <p:cNvSpPr/>
          <p:nvPr/>
        </p:nvSpPr>
        <p:spPr>
          <a:xfrm flipH="false" flipV="false" rot="-5593216">
            <a:off x="14784617" y="-2350042"/>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2"/>
            <a:stretch>
              <a:fillRect l="0" t="0" r="0" b="0"/>
            </a:stretch>
          </a:blipFill>
        </p:spPr>
      </p:sp>
      <p:sp>
        <p:nvSpPr>
          <p:cNvPr name="Freeform 4" id="4"/>
          <p:cNvSpPr/>
          <p:nvPr/>
        </p:nvSpPr>
        <p:spPr>
          <a:xfrm flipH="false" flipV="false" rot="2499016">
            <a:off x="16319550" y="8288577"/>
            <a:ext cx="1879499" cy="1939446"/>
          </a:xfrm>
          <a:custGeom>
            <a:avLst/>
            <a:gdLst/>
            <a:ahLst/>
            <a:cxnLst/>
            <a:rect r="r" b="b" t="t" l="l"/>
            <a:pathLst>
              <a:path h="1939446" w="1879499">
                <a:moveTo>
                  <a:pt x="0" y="0"/>
                </a:moveTo>
                <a:lnTo>
                  <a:pt x="1879500" y="0"/>
                </a:lnTo>
                <a:lnTo>
                  <a:pt x="1879500" y="1939446"/>
                </a:lnTo>
                <a:lnTo>
                  <a:pt x="0" y="193944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2512816">
            <a:off x="-10054260" y="-10134907"/>
            <a:ext cx="13973120" cy="13973120"/>
          </a:xfrm>
          <a:custGeom>
            <a:avLst/>
            <a:gdLst/>
            <a:ahLst/>
            <a:cxnLst/>
            <a:rect r="r" b="b" t="t" l="l"/>
            <a:pathLst>
              <a:path h="13973120" w="13973120">
                <a:moveTo>
                  <a:pt x="0" y="0"/>
                </a:moveTo>
                <a:lnTo>
                  <a:pt x="13973119" y="0"/>
                </a:lnTo>
                <a:lnTo>
                  <a:pt x="13973119" y="13973120"/>
                </a:lnTo>
                <a:lnTo>
                  <a:pt x="0" y="13973120"/>
                </a:lnTo>
                <a:lnTo>
                  <a:pt x="0" y="0"/>
                </a:lnTo>
                <a:close/>
              </a:path>
            </a:pathLst>
          </a:custGeom>
          <a:blipFill>
            <a:blip r:embed="rId5"/>
            <a:stretch>
              <a:fillRect l="0" t="0" r="0" b="0"/>
            </a:stretch>
          </a:blipFill>
        </p:spPr>
      </p:sp>
      <p:sp>
        <p:nvSpPr>
          <p:cNvPr name="Freeform 6" id="6"/>
          <p:cNvSpPr/>
          <p:nvPr/>
        </p:nvSpPr>
        <p:spPr>
          <a:xfrm flipH="false" flipV="false" rot="0">
            <a:off x="1028700" y="3936733"/>
            <a:ext cx="15492210" cy="4316750"/>
          </a:xfrm>
          <a:custGeom>
            <a:avLst/>
            <a:gdLst/>
            <a:ahLst/>
            <a:cxnLst/>
            <a:rect r="r" b="b" t="t" l="l"/>
            <a:pathLst>
              <a:path h="4316750" w="15492210">
                <a:moveTo>
                  <a:pt x="0" y="0"/>
                </a:moveTo>
                <a:lnTo>
                  <a:pt x="15492210" y="0"/>
                </a:lnTo>
                <a:lnTo>
                  <a:pt x="15492210" y="4316750"/>
                </a:lnTo>
                <a:lnTo>
                  <a:pt x="0" y="4316750"/>
                </a:lnTo>
                <a:lnTo>
                  <a:pt x="0" y="0"/>
                </a:lnTo>
                <a:close/>
              </a:path>
            </a:pathLst>
          </a:custGeom>
          <a:blipFill>
            <a:blip r:embed="rId6"/>
            <a:stretch>
              <a:fillRect l="0" t="0" r="0" b="0"/>
            </a:stretch>
          </a:blipFill>
        </p:spPr>
      </p:sp>
      <p:sp>
        <p:nvSpPr>
          <p:cNvPr name="TextBox 7" id="7"/>
          <p:cNvSpPr txBox="true"/>
          <p:nvPr/>
        </p:nvSpPr>
        <p:spPr>
          <a:xfrm rot="0">
            <a:off x="6456163" y="2829132"/>
            <a:ext cx="4265706" cy="510450"/>
          </a:xfrm>
          <a:prstGeom prst="rect">
            <a:avLst/>
          </a:prstGeom>
        </p:spPr>
        <p:txBody>
          <a:bodyPr anchor="t" rtlCol="false" tIns="0" lIns="0" bIns="0" rIns="0">
            <a:spAutoFit/>
          </a:bodyPr>
          <a:lstStyle/>
          <a:p>
            <a:pPr algn="ctr" marL="0" indent="0" lvl="0">
              <a:lnSpc>
                <a:spcPts val="3304"/>
              </a:lnSpc>
            </a:pPr>
            <a:r>
              <a:rPr lang="en-US" sz="3304">
                <a:solidFill>
                  <a:srgbClr val="3A3E61"/>
                </a:solidFill>
                <a:latin typeface="Unique"/>
                <a:ea typeface="Unique"/>
                <a:cs typeface="Unique"/>
                <a:sym typeface="Unique"/>
              </a:rPr>
              <a:t>Relasi (4 jenis)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TextBox 2" id="2"/>
          <p:cNvSpPr txBox="true"/>
          <p:nvPr/>
        </p:nvSpPr>
        <p:spPr>
          <a:xfrm rot="0">
            <a:off x="2526428" y="1009650"/>
            <a:ext cx="12625545" cy="1231857"/>
          </a:xfrm>
          <a:prstGeom prst="rect">
            <a:avLst/>
          </a:prstGeom>
        </p:spPr>
        <p:txBody>
          <a:bodyPr anchor="t" rtlCol="false" tIns="0" lIns="0" bIns="0" rIns="0">
            <a:spAutoFit/>
          </a:bodyPr>
          <a:lstStyle/>
          <a:p>
            <a:pPr algn="ctr" marL="0" indent="0" lvl="0">
              <a:lnSpc>
                <a:spcPts val="8000"/>
              </a:lnSpc>
            </a:pPr>
            <a:r>
              <a:rPr lang="en-US" sz="8000">
                <a:solidFill>
                  <a:srgbClr val="3A3E61"/>
                </a:solidFill>
                <a:latin typeface="Unique"/>
                <a:ea typeface="Unique"/>
                <a:cs typeface="Unique"/>
                <a:sym typeface="Unique"/>
              </a:rPr>
              <a:t>mini kn</a:t>
            </a:r>
            <a:r>
              <a:rPr lang="en-US" sz="8000">
                <a:solidFill>
                  <a:srgbClr val="3A3E61"/>
                </a:solidFill>
                <a:latin typeface="Unique"/>
                <a:ea typeface="Unique"/>
                <a:cs typeface="Unique"/>
                <a:sym typeface="Unique"/>
              </a:rPr>
              <a:t>owledge base</a:t>
            </a:r>
          </a:p>
        </p:txBody>
      </p:sp>
      <p:sp>
        <p:nvSpPr>
          <p:cNvPr name="Freeform 3" id="3"/>
          <p:cNvSpPr/>
          <p:nvPr/>
        </p:nvSpPr>
        <p:spPr>
          <a:xfrm flipH="false" flipV="false" rot="-5593216">
            <a:off x="14784617" y="-2350042"/>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2"/>
            <a:stretch>
              <a:fillRect l="0" t="0" r="0" b="0"/>
            </a:stretch>
          </a:blipFill>
        </p:spPr>
      </p:sp>
      <p:sp>
        <p:nvSpPr>
          <p:cNvPr name="Freeform 4" id="4"/>
          <p:cNvSpPr/>
          <p:nvPr/>
        </p:nvSpPr>
        <p:spPr>
          <a:xfrm flipH="false" flipV="false" rot="2499016">
            <a:off x="16319550" y="8288577"/>
            <a:ext cx="1879499" cy="1939446"/>
          </a:xfrm>
          <a:custGeom>
            <a:avLst/>
            <a:gdLst/>
            <a:ahLst/>
            <a:cxnLst/>
            <a:rect r="r" b="b" t="t" l="l"/>
            <a:pathLst>
              <a:path h="1939446" w="1879499">
                <a:moveTo>
                  <a:pt x="0" y="0"/>
                </a:moveTo>
                <a:lnTo>
                  <a:pt x="1879500" y="0"/>
                </a:lnTo>
                <a:lnTo>
                  <a:pt x="1879500" y="1939446"/>
                </a:lnTo>
                <a:lnTo>
                  <a:pt x="0" y="193944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2512816">
            <a:off x="-10054260" y="-10134907"/>
            <a:ext cx="13973120" cy="13973120"/>
          </a:xfrm>
          <a:custGeom>
            <a:avLst/>
            <a:gdLst/>
            <a:ahLst/>
            <a:cxnLst/>
            <a:rect r="r" b="b" t="t" l="l"/>
            <a:pathLst>
              <a:path h="13973120" w="13973120">
                <a:moveTo>
                  <a:pt x="0" y="0"/>
                </a:moveTo>
                <a:lnTo>
                  <a:pt x="13973119" y="0"/>
                </a:lnTo>
                <a:lnTo>
                  <a:pt x="13973119" y="13973120"/>
                </a:lnTo>
                <a:lnTo>
                  <a:pt x="0" y="13973120"/>
                </a:lnTo>
                <a:lnTo>
                  <a:pt x="0" y="0"/>
                </a:lnTo>
                <a:close/>
              </a:path>
            </a:pathLst>
          </a:custGeom>
          <a:blipFill>
            <a:blip r:embed="rId5"/>
            <a:stretch>
              <a:fillRect l="0" t="0" r="0" b="0"/>
            </a:stretch>
          </a:blipFill>
        </p:spPr>
      </p:sp>
      <p:sp>
        <p:nvSpPr>
          <p:cNvPr name="Freeform 6" id="6"/>
          <p:cNvSpPr/>
          <p:nvPr/>
        </p:nvSpPr>
        <p:spPr>
          <a:xfrm flipH="false" flipV="false" rot="0">
            <a:off x="1236388" y="3507898"/>
            <a:ext cx="15205623" cy="5585510"/>
          </a:xfrm>
          <a:custGeom>
            <a:avLst/>
            <a:gdLst/>
            <a:ahLst/>
            <a:cxnLst/>
            <a:rect r="r" b="b" t="t" l="l"/>
            <a:pathLst>
              <a:path h="5585510" w="15205623">
                <a:moveTo>
                  <a:pt x="0" y="0"/>
                </a:moveTo>
                <a:lnTo>
                  <a:pt x="15205624" y="0"/>
                </a:lnTo>
                <a:lnTo>
                  <a:pt x="15205624" y="5585510"/>
                </a:lnTo>
                <a:lnTo>
                  <a:pt x="0" y="5585510"/>
                </a:lnTo>
                <a:lnTo>
                  <a:pt x="0" y="0"/>
                </a:lnTo>
                <a:close/>
              </a:path>
            </a:pathLst>
          </a:custGeom>
          <a:blipFill>
            <a:blip r:embed="rId6"/>
            <a:stretch>
              <a:fillRect l="0" t="0" r="0" b="0"/>
            </a:stretch>
          </a:blipFill>
        </p:spPr>
      </p:sp>
      <p:sp>
        <p:nvSpPr>
          <p:cNvPr name="TextBox 7" id="7"/>
          <p:cNvSpPr txBox="true"/>
          <p:nvPr/>
        </p:nvSpPr>
        <p:spPr>
          <a:xfrm rot="0">
            <a:off x="6513950" y="2641814"/>
            <a:ext cx="4650500" cy="456251"/>
          </a:xfrm>
          <a:prstGeom prst="rect">
            <a:avLst/>
          </a:prstGeom>
        </p:spPr>
        <p:txBody>
          <a:bodyPr anchor="t" rtlCol="false" tIns="0" lIns="0" bIns="0" rIns="0">
            <a:spAutoFit/>
          </a:bodyPr>
          <a:lstStyle/>
          <a:p>
            <a:pPr algn="ctr" marL="0" indent="0" lvl="0">
              <a:lnSpc>
                <a:spcPts val="2946"/>
              </a:lnSpc>
            </a:pPr>
            <a:r>
              <a:rPr lang="en-US" sz="2946">
                <a:solidFill>
                  <a:srgbClr val="3A3E61"/>
                </a:solidFill>
                <a:latin typeface="Unique"/>
                <a:ea typeface="Unique"/>
                <a:cs typeface="Unique"/>
                <a:sym typeface="Unique"/>
              </a:rPr>
              <a:t>aturan if-then (5)</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TextBox 2" id="2"/>
          <p:cNvSpPr txBox="true"/>
          <p:nvPr/>
        </p:nvSpPr>
        <p:spPr>
          <a:xfrm rot="0">
            <a:off x="2526428" y="1028700"/>
            <a:ext cx="12625545" cy="1143004"/>
          </a:xfrm>
          <a:prstGeom prst="rect">
            <a:avLst/>
          </a:prstGeom>
        </p:spPr>
        <p:txBody>
          <a:bodyPr anchor="t" rtlCol="false" tIns="0" lIns="0" bIns="0" rIns="0">
            <a:spAutoFit/>
          </a:bodyPr>
          <a:lstStyle/>
          <a:p>
            <a:pPr algn="ctr" marL="0" indent="0" lvl="0">
              <a:lnSpc>
                <a:spcPts val="7500"/>
              </a:lnSpc>
            </a:pPr>
            <a:r>
              <a:rPr lang="en-US" sz="7500">
                <a:solidFill>
                  <a:srgbClr val="3A3E61"/>
                </a:solidFill>
                <a:latin typeface="Unique"/>
                <a:ea typeface="Unique"/>
                <a:cs typeface="Unique"/>
                <a:sym typeface="Unique"/>
              </a:rPr>
              <a:t>Diagram Semantic network</a:t>
            </a:r>
          </a:p>
        </p:txBody>
      </p:sp>
      <p:sp>
        <p:nvSpPr>
          <p:cNvPr name="Freeform 3" id="3"/>
          <p:cNvSpPr/>
          <p:nvPr/>
        </p:nvSpPr>
        <p:spPr>
          <a:xfrm flipH="false" flipV="false" rot="-5593216">
            <a:off x="14784617" y="-2350042"/>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2"/>
            <a:stretch>
              <a:fillRect l="0" t="0" r="0" b="0"/>
            </a:stretch>
          </a:blipFill>
        </p:spPr>
      </p:sp>
      <p:sp>
        <p:nvSpPr>
          <p:cNvPr name="Freeform 4" id="4"/>
          <p:cNvSpPr/>
          <p:nvPr/>
        </p:nvSpPr>
        <p:spPr>
          <a:xfrm flipH="false" flipV="false" rot="2499016">
            <a:off x="16319550" y="8288577"/>
            <a:ext cx="1879499" cy="1939446"/>
          </a:xfrm>
          <a:custGeom>
            <a:avLst/>
            <a:gdLst/>
            <a:ahLst/>
            <a:cxnLst/>
            <a:rect r="r" b="b" t="t" l="l"/>
            <a:pathLst>
              <a:path h="1939446" w="1879499">
                <a:moveTo>
                  <a:pt x="0" y="0"/>
                </a:moveTo>
                <a:lnTo>
                  <a:pt x="1879500" y="0"/>
                </a:lnTo>
                <a:lnTo>
                  <a:pt x="1879500" y="1939446"/>
                </a:lnTo>
                <a:lnTo>
                  <a:pt x="0" y="193944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2512816">
            <a:off x="-10054260" y="-10134907"/>
            <a:ext cx="13973120" cy="13973120"/>
          </a:xfrm>
          <a:custGeom>
            <a:avLst/>
            <a:gdLst/>
            <a:ahLst/>
            <a:cxnLst/>
            <a:rect r="r" b="b" t="t" l="l"/>
            <a:pathLst>
              <a:path h="13973120" w="13973120">
                <a:moveTo>
                  <a:pt x="0" y="0"/>
                </a:moveTo>
                <a:lnTo>
                  <a:pt x="13973119" y="0"/>
                </a:lnTo>
                <a:lnTo>
                  <a:pt x="13973119" y="13973120"/>
                </a:lnTo>
                <a:lnTo>
                  <a:pt x="0" y="13973120"/>
                </a:lnTo>
                <a:lnTo>
                  <a:pt x="0" y="0"/>
                </a:lnTo>
                <a:close/>
              </a:path>
            </a:pathLst>
          </a:custGeom>
          <a:blipFill>
            <a:blip r:embed="rId5"/>
            <a:stretch>
              <a:fillRect l="0" t="0" r="0" b="0"/>
            </a:stretch>
          </a:blipFill>
        </p:spPr>
      </p:sp>
      <p:sp>
        <p:nvSpPr>
          <p:cNvPr name="Freeform 6" id="6"/>
          <p:cNvSpPr/>
          <p:nvPr/>
        </p:nvSpPr>
        <p:spPr>
          <a:xfrm flipH="false" flipV="false" rot="0">
            <a:off x="4076775" y="2474552"/>
            <a:ext cx="10134450" cy="6783748"/>
          </a:xfrm>
          <a:custGeom>
            <a:avLst/>
            <a:gdLst/>
            <a:ahLst/>
            <a:cxnLst/>
            <a:rect r="r" b="b" t="t" l="l"/>
            <a:pathLst>
              <a:path h="6783748" w="10134450">
                <a:moveTo>
                  <a:pt x="0" y="0"/>
                </a:moveTo>
                <a:lnTo>
                  <a:pt x="10134450" y="0"/>
                </a:lnTo>
                <a:lnTo>
                  <a:pt x="10134450" y="6783748"/>
                </a:lnTo>
                <a:lnTo>
                  <a:pt x="0" y="6783748"/>
                </a:lnTo>
                <a:lnTo>
                  <a:pt x="0" y="0"/>
                </a:lnTo>
                <a:close/>
              </a:path>
            </a:pathLst>
          </a:custGeom>
          <a:blipFill>
            <a:blip r:embed="rId6"/>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TextBox 2" id="2"/>
          <p:cNvSpPr txBox="true"/>
          <p:nvPr/>
        </p:nvSpPr>
        <p:spPr>
          <a:xfrm rot="0">
            <a:off x="2805910" y="666436"/>
            <a:ext cx="12066581" cy="2241463"/>
          </a:xfrm>
          <a:prstGeom prst="rect">
            <a:avLst/>
          </a:prstGeom>
        </p:spPr>
        <p:txBody>
          <a:bodyPr anchor="t" rtlCol="false" tIns="0" lIns="0" bIns="0" rIns="0">
            <a:spAutoFit/>
          </a:bodyPr>
          <a:lstStyle/>
          <a:p>
            <a:pPr algn="ctr" marL="0" indent="0" lvl="0">
              <a:lnSpc>
                <a:spcPts val="8000"/>
              </a:lnSpc>
            </a:pPr>
            <a:r>
              <a:rPr lang="en-US" sz="8000">
                <a:solidFill>
                  <a:srgbClr val="3A3E61"/>
                </a:solidFill>
                <a:latin typeface="Unique"/>
                <a:ea typeface="Unique"/>
                <a:cs typeface="Unique"/>
                <a:sym typeface="Unique"/>
              </a:rPr>
              <a:t>Reasoning dari fakta, re</a:t>
            </a:r>
            <a:r>
              <a:rPr lang="en-US" sz="8000">
                <a:solidFill>
                  <a:srgbClr val="3A3E61"/>
                </a:solidFill>
                <a:latin typeface="Unique"/>
                <a:ea typeface="Unique"/>
                <a:cs typeface="Unique"/>
                <a:sym typeface="Unique"/>
              </a:rPr>
              <a:t>lasi, dan aturan</a:t>
            </a:r>
          </a:p>
        </p:txBody>
      </p:sp>
      <p:sp>
        <p:nvSpPr>
          <p:cNvPr name="Freeform 3" id="3"/>
          <p:cNvSpPr/>
          <p:nvPr/>
        </p:nvSpPr>
        <p:spPr>
          <a:xfrm flipH="false" flipV="false" rot="-5593216">
            <a:off x="14784617" y="-2350042"/>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2"/>
            <a:stretch>
              <a:fillRect l="0" t="0" r="0" b="0"/>
            </a:stretch>
          </a:blipFill>
        </p:spPr>
      </p:sp>
      <p:sp>
        <p:nvSpPr>
          <p:cNvPr name="Freeform 4" id="4"/>
          <p:cNvSpPr/>
          <p:nvPr/>
        </p:nvSpPr>
        <p:spPr>
          <a:xfrm flipH="false" flipV="false" rot="2499016">
            <a:off x="16319550" y="8288577"/>
            <a:ext cx="1879499" cy="1939446"/>
          </a:xfrm>
          <a:custGeom>
            <a:avLst/>
            <a:gdLst/>
            <a:ahLst/>
            <a:cxnLst/>
            <a:rect r="r" b="b" t="t" l="l"/>
            <a:pathLst>
              <a:path h="1939446" w="1879499">
                <a:moveTo>
                  <a:pt x="0" y="0"/>
                </a:moveTo>
                <a:lnTo>
                  <a:pt x="1879500" y="0"/>
                </a:lnTo>
                <a:lnTo>
                  <a:pt x="1879500" y="1939446"/>
                </a:lnTo>
                <a:lnTo>
                  <a:pt x="0" y="193944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2512816">
            <a:off x="-10054260" y="-10134907"/>
            <a:ext cx="13973120" cy="13973120"/>
          </a:xfrm>
          <a:custGeom>
            <a:avLst/>
            <a:gdLst/>
            <a:ahLst/>
            <a:cxnLst/>
            <a:rect r="r" b="b" t="t" l="l"/>
            <a:pathLst>
              <a:path h="13973120" w="13973120">
                <a:moveTo>
                  <a:pt x="0" y="0"/>
                </a:moveTo>
                <a:lnTo>
                  <a:pt x="13973119" y="0"/>
                </a:lnTo>
                <a:lnTo>
                  <a:pt x="13973119" y="13973120"/>
                </a:lnTo>
                <a:lnTo>
                  <a:pt x="0" y="13973120"/>
                </a:lnTo>
                <a:lnTo>
                  <a:pt x="0" y="0"/>
                </a:lnTo>
                <a:close/>
              </a:path>
            </a:pathLst>
          </a:custGeom>
          <a:blipFill>
            <a:blip r:embed="rId5"/>
            <a:stretch>
              <a:fillRect l="0" t="0" r="0" b="0"/>
            </a:stretch>
          </a:blipFill>
        </p:spPr>
      </p:sp>
      <p:sp>
        <p:nvSpPr>
          <p:cNvPr name="Freeform 6" id="6"/>
          <p:cNvSpPr/>
          <p:nvPr/>
        </p:nvSpPr>
        <p:spPr>
          <a:xfrm flipH="false" flipV="false" rot="0">
            <a:off x="1527283" y="3507898"/>
            <a:ext cx="14623834" cy="5371800"/>
          </a:xfrm>
          <a:custGeom>
            <a:avLst/>
            <a:gdLst/>
            <a:ahLst/>
            <a:cxnLst/>
            <a:rect r="r" b="b" t="t" l="l"/>
            <a:pathLst>
              <a:path h="5371800" w="14623834">
                <a:moveTo>
                  <a:pt x="0" y="0"/>
                </a:moveTo>
                <a:lnTo>
                  <a:pt x="14623834" y="0"/>
                </a:lnTo>
                <a:lnTo>
                  <a:pt x="14623834" y="5371800"/>
                </a:lnTo>
                <a:lnTo>
                  <a:pt x="0" y="5371800"/>
                </a:lnTo>
                <a:lnTo>
                  <a:pt x="0" y="0"/>
                </a:lnTo>
                <a:close/>
              </a:path>
            </a:pathLst>
          </a:custGeom>
          <a:blipFill>
            <a:blip r:embed="rId6"/>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0">
            <a:off x="15690376" y="2433829"/>
            <a:ext cx="8229600" cy="8229600"/>
          </a:xfrm>
          <a:custGeom>
            <a:avLst/>
            <a:gdLst/>
            <a:ahLst/>
            <a:cxnLst/>
            <a:rect r="r" b="b" t="t" l="l"/>
            <a:pathLst>
              <a:path h="8229600" w="8229600">
                <a:moveTo>
                  <a:pt x="0" y="0"/>
                </a:moveTo>
                <a:lnTo>
                  <a:pt x="8229600" y="0"/>
                </a:lnTo>
                <a:lnTo>
                  <a:pt x="8229600" y="8229600"/>
                </a:lnTo>
                <a:lnTo>
                  <a:pt x="0" y="8229600"/>
                </a:lnTo>
                <a:lnTo>
                  <a:pt x="0" y="0"/>
                </a:lnTo>
                <a:close/>
              </a:path>
            </a:pathLst>
          </a:custGeom>
          <a:blipFill>
            <a:blip r:embed="rId2"/>
            <a:stretch>
              <a:fillRect l="0" t="0" r="0" b="0"/>
            </a:stretch>
          </a:blipFill>
        </p:spPr>
      </p:sp>
      <p:sp>
        <p:nvSpPr>
          <p:cNvPr name="Freeform 3" id="3"/>
          <p:cNvSpPr/>
          <p:nvPr/>
        </p:nvSpPr>
        <p:spPr>
          <a:xfrm flipH="false" flipV="false" rot="0">
            <a:off x="15074886" y="-1296798"/>
            <a:ext cx="5312174" cy="6071055"/>
          </a:xfrm>
          <a:custGeom>
            <a:avLst/>
            <a:gdLst/>
            <a:ahLst/>
            <a:cxnLst/>
            <a:rect r="r" b="b" t="t" l="l"/>
            <a:pathLst>
              <a:path h="6071055" w="5312174">
                <a:moveTo>
                  <a:pt x="0" y="0"/>
                </a:moveTo>
                <a:lnTo>
                  <a:pt x="5312173" y="0"/>
                </a:lnTo>
                <a:lnTo>
                  <a:pt x="5312173" y="6071056"/>
                </a:lnTo>
                <a:lnTo>
                  <a:pt x="0" y="6071056"/>
                </a:lnTo>
                <a:lnTo>
                  <a:pt x="0" y="0"/>
                </a:lnTo>
                <a:close/>
              </a:path>
            </a:pathLst>
          </a:custGeom>
          <a:blipFill>
            <a:blip r:embed="rId3"/>
            <a:stretch>
              <a:fillRect l="0" t="0" r="0" b="0"/>
            </a:stretch>
          </a:blipFill>
        </p:spPr>
      </p:sp>
      <p:sp>
        <p:nvSpPr>
          <p:cNvPr name="Freeform 4" id="4"/>
          <p:cNvSpPr/>
          <p:nvPr/>
        </p:nvSpPr>
        <p:spPr>
          <a:xfrm flipH="false" flipV="false" rot="0">
            <a:off x="-5942051" y="-846623"/>
            <a:ext cx="8229600" cy="8229600"/>
          </a:xfrm>
          <a:custGeom>
            <a:avLst/>
            <a:gdLst/>
            <a:ahLst/>
            <a:cxnLst/>
            <a:rect r="r" b="b" t="t" l="l"/>
            <a:pathLst>
              <a:path h="8229600" w="8229600">
                <a:moveTo>
                  <a:pt x="0" y="0"/>
                </a:moveTo>
                <a:lnTo>
                  <a:pt x="8229600" y="0"/>
                </a:lnTo>
                <a:lnTo>
                  <a:pt x="8229600" y="8229600"/>
                </a:lnTo>
                <a:lnTo>
                  <a:pt x="0" y="8229600"/>
                </a:lnTo>
                <a:lnTo>
                  <a:pt x="0" y="0"/>
                </a:lnTo>
                <a:close/>
              </a:path>
            </a:pathLst>
          </a:custGeom>
          <a:blipFill>
            <a:blip r:embed="rId2"/>
            <a:stretch>
              <a:fillRect l="0" t="0" r="0" b="0"/>
            </a:stretch>
          </a:blipFill>
        </p:spPr>
      </p:sp>
      <p:sp>
        <p:nvSpPr>
          <p:cNvPr name="Freeform 5" id="5"/>
          <p:cNvSpPr/>
          <p:nvPr/>
        </p:nvSpPr>
        <p:spPr>
          <a:xfrm flipH="false" flipV="false" rot="-5593216">
            <a:off x="-2656087" y="5722679"/>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3"/>
            <a:stretch>
              <a:fillRect l="0" t="0" r="0" b="0"/>
            </a:stretch>
          </a:blipFill>
        </p:spPr>
      </p:sp>
      <p:grpSp>
        <p:nvGrpSpPr>
          <p:cNvPr name="Group 6" id="6"/>
          <p:cNvGrpSpPr/>
          <p:nvPr/>
        </p:nvGrpSpPr>
        <p:grpSpPr>
          <a:xfrm rot="5400000">
            <a:off x="318670" y="318670"/>
            <a:ext cx="1420060" cy="1420060"/>
            <a:chOff x="0" y="0"/>
            <a:chExt cx="1893413" cy="1893413"/>
          </a:xfrm>
        </p:grpSpPr>
        <p:sp>
          <p:nvSpPr>
            <p:cNvPr name="Freeform 7" id="7"/>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4"/>
              <a:stretch>
                <a:fillRect l="0" t="0" r="0" b="0"/>
              </a:stretch>
            </a:blipFill>
          </p:spPr>
        </p:sp>
        <p:grpSp>
          <p:nvGrpSpPr>
            <p:cNvPr name="Group 8" id="8"/>
            <p:cNvGrpSpPr/>
            <p:nvPr/>
          </p:nvGrpSpPr>
          <p:grpSpPr>
            <a:xfrm rot="0">
              <a:off x="839799" y="527514"/>
              <a:ext cx="213816" cy="213816"/>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11" id="11"/>
            <p:cNvGrpSpPr/>
            <p:nvPr/>
          </p:nvGrpSpPr>
          <p:grpSpPr>
            <a:xfrm rot="0">
              <a:off x="839799" y="1152084"/>
              <a:ext cx="213816" cy="213816"/>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3" id="13"/>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sp>
        <p:nvSpPr>
          <p:cNvPr name="Freeform 14" id="14"/>
          <p:cNvSpPr/>
          <p:nvPr/>
        </p:nvSpPr>
        <p:spPr>
          <a:xfrm>
            <a:off x="723715" y="2088111"/>
            <a:ext cx="15435005" cy="7480044"/>
          </a:xfrm>
          <a:custGeom>
            <a:avLst/>
            <a:gdLst/>
            <a:ahLst/>
            <a:cxnLst/>
            <a:rect r="r" b="b" t="t" l="l"/>
            <a:pathLst>
              <a:path h="7480044" w="15435005">
                <a:moveTo>
                  <a:pt x="0" y="0"/>
                </a:moveTo>
                <a:lnTo>
                  <a:pt x="0" y="7251445"/>
                </a:lnTo>
                <a:cubicBezTo>
                  <a:pt x="0" y="7312073"/>
                  <a:pt x="24085" y="7370219"/>
                  <a:pt x="66956" y="7413089"/>
                </a:cubicBezTo>
                <a:cubicBezTo>
                  <a:pt x="109827" y="7455960"/>
                  <a:pt x="167972" y="7480045"/>
                  <a:pt x="228600" y="7480045"/>
                </a:cubicBezTo>
                <a:lnTo>
                  <a:pt x="15435006" y="7480045"/>
                </a:lnTo>
              </a:path>
            </a:pathLst>
          </a:custGeom>
          <a:ln cap="rnd" w="76200">
            <a:solidFill>
              <a:srgbClr val="9AA5DF"/>
            </a:solidFill>
            <a:prstDash val="sysDash"/>
            <a:headEnd type="none" len="sm" w="sm"/>
            <a:tailEnd type="none" len="sm" w="sm"/>
          </a:ln>
        </p:spPr>
      </p:sp>
      <p:grpSp>
        <p:nvGrpSpPr>
          <p:cNvPr name="Group 15" id="15"/>
          <p:cNvGrpSpPr/>
          <p:nvPr/>
        </p:nvGrpSpPr>
        <p:grpSpPr>
          <a:xfrm rot="5400000">
            <a:off x="16549270" y="8548270"/>
            <a:ext cx="1420060" cy="1420060"/>
            <a:chOff x="0" y="0"/>
            <a:chExt cx="1893413" cy="1893413"/>
          </a:xfrm>
        </p:grpSpPr>
        <p:sp>
          <p:nvSpPr>
            <p:cNvPr name="Freeform 16" id="16"/>
            <p:cNvSpPr/>
            <p:nvPr/>
          </p:nvSpPr>
          <p:spPr>
            <a:xfrm flipH="false" flipV="false" rot="0">
              <a:off x="0" y="0"/>
              <a:ext cx="1893413" cy="1893413"/>
            </a:xfrm>
            <a:custGeom>
              <a:avLst/>
              <a:gdLst/>
              <a:ahLst/>
              <a:cxnLst/>
              <a:rect r="r" b="b" t="t" l="l"/>
              <a:pathLst>
                <a:path h="1893413" w="1893413">
                  <a:moveTo>
                    <a:pt x="0" y="0"/>
                  </a:moveTo>
                  <a:lnTo>
                    <a:pt x="1893413" y="0"/>
                  </a:lnTo>
                  <a:lnTo>
                    <a:pt x="1893413" y="1893413"/>
                  </a:lnTo>
                  <a:lnTo>
                    <a:pt x="0" y="1893413"/>
                  </a:lnTo>
                  <a:lnTo>
                    <a:pt x="0" y="0"/>
                  </a:lnTo>
                  <a:close/>
                </a:path>
              </a:pathLst>
            </a:custGeom>
            <a:blipFill>
              <a:blip r:embed="rId4"/>
              <a:stretch>
                <a:fillRect l="0" t="0" r="0" b="0"/>
              </a:stretch>
            </a:blipFill>
          </p:spPr>
        </p:sp>
        <p:grpSp>
          <p:nvGrpSpPr>
            <p:cNvPr name="Group 17" id="17"/>
            <p:cNvGrpSpPr/>
            <p:nvPr/>
          </p:nvGrpSpPr>
          <p:grpSpPr>
            <a:xfrm rot="0">
              <a:off x="839799" y="527514"/>
              <a:ext cx="213816" cy="213816"/>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9" id="19"/>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nvGrpSpPr>
            <p:cNvPr name="Group 20" id="20"/>
            <p:cNvGrpSpPr/>
            <p:nvPr/>
          </p:nvGrpSpPr>
          <p:grpSpPr>
            <a:xfrm rot="0">
              <a:off x="839799" y="1152084"/>
              <a:ext cx="213816" cy="213816"/>
              <a:chOff x="0" y="0"/>
              <a:chExt cx="812800" cy="812800"/>
            </a:xfrm>
          </p:grpSpPr>
          <p:sp>
            <p:nvSpPr>
              <p:cNvPr name="Freeform 21" id="2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2" id="22"/>
              <p:cNvSpPr txBox="true"/>
              <p:nvPr/>
            </p:nvSpPr>
            <p:spPr>
              <a:xfrm>
                <a:off x="76200" y="28575"/>
                <a:ext cx="660400" cy="708025"/>
              </a:xfrm>
              <a:prstGeom prst="rect">
                <a:avLst/>
              </a:prstGeom>
            </p:spPr>
            <p:txBody>
              <a:bodyPr anchor="ctr" rtlCol="false" tIns="50800" lIns="50800" bIns="50800" rIns="50800"/>
              <a:lstStyle/>
              <a:p>
                <a:pPr algn="ctr">
                  <a:lnSpc>
                    <a:spcPts val="2660"/>
                  </a:lnSpc>
                </a:pPr>
              </a:p>
            </p:txBody>
          </p:sp>
        </p:grpSp>
      </p:grpSp>
      <p:sp>
        <p:nvSpPr>
          <p:cNvPr name="AutoShape 23" id="23"/>
          <p:cNvSpPr/>
          <p:nvPr/>
        </p:nvSpPr>
        <p:spPr>
          <a:xfrm flipV="true">
            <a:off x="1364519" y="2433829"/>
            <a:ext cx="0" cy="6019055"/>
          </a:xfrm>
          <a:prstGeom prst="line">
            <a:avLst/>
          </a:prstGeom>
          <a:ln cap="rnd" w="57150">
            <a:solidFill>
              <a:srgbClr val="3A3E61"/>
            </a:solidFill>
            <a:prstDash val="sysDash"/>
            <a:headEnd type="none" len="sm" w="sm"/>
            <a:tailEnd type="none" len="sm" w="sm"/>
          </a:ln>
        </p:spPr>
      </p:sp>
      <p:sp>
        <p:nvSpPr>
          <p:cNvPr name="Freeform 24" id="24"/>
          <p:cNvSpPr/>
          <p:nvPr/>
        </p:nvSpPr>
        <p:spPr>
          <a:xfrm flipH="false" flipV="false" rot="0">
            <a:off x="2911424" y="2666459"/>
            <a:ext cx="12465151" cy="5786426"/>
          </a:xfrm>
          <a:custGeom>
            <a:avLst/>
            <a:gdLst/>
            <a:ahLst/>
            <a:cxnLst/>
            <a:rect r="r" b="b" t="t" l="l"/>
            <a:pathLst>
              <a:path h="5786426" w="12465151">
                <a:moveTo>
                  <a:pt x="0" y="0"/>
                </a:moveTo>
                <a:lnTo>
                  <a:pt x="12465152" y="0"/>
                </a:lnTo>
                <a:lnTo>
                  <a:pt x="12465152" y="5786426"/>
                </a:lnTo>
                <a:lnTo>
                  <a:pt x="0" y="5786426"/>
                </a:lnTo>
                <a:lnTo>
                  <a:pt x="0" y="0"/>
                </a:lnTo>
                <a:close/>
              </a:path>
            </a:pathLst>
          </a:custGeom>
          <a:blipFill>
            <a:blip r:embed="rId5"/>
            <a:stretch>
              <a:fillRect l="0" t="0" r="0" b="0"/>
            </a:stretch>
          </a:blipFill>
        </p:spPr>
      </p:sp>
      <p:sp>
        <p:nvSpPr>
          <p:cNvPr name="TextBox 25" id="25"/>
          <p:cNvSpPr txBox="true"/>
          <p:nvPr/>
        </p:nvSpPr>
        <p:spPr>
          <a:xfrm rot="0">
            <a:off x="5245684" y="1241126"/>
            <a:ext cx="7796633" cy="846985"/>
          </a:xfrm>
          <a:prstGeom prst="rect">
            <a:avLst/>
          </a:prstGeom>
        </p:spPr>
        <p:txBody>
          <a:bodyPr anchor="t" rtlCol="false" tIns="0" lIns="0" bIns="0" rIns="0">
            <a:spAutoFit/>
          </a:bodyPr>
          <a:lstStyle/>
          <a:p>
            <a:pPr algn="ctr">
              <a:lnSpc>
                <a:spcPts val="5714"/>
              </a:lnSpc>
            </a:pPr>
            <a:r>
              <a:rPr lang="en-US" sz="5195">
                <a:solidFill>
                  <a:srgbClr val="3A3E61"/>
                </a:solidFill>
                <a:latin typeface="Unique"/>
                <a:ea typeface="Unique"/>
                <a:cs typeface="Unique"/>
                <a:sym typeface="Unique"/>
              </a:rPr>
              <a:t>Video to concept mapping</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2025189">
            <a:off x="15794744" y="5386987"/>
            <a:ext cx="8229600" cy="8229600"/>
          </a:xfrm>
          <a:custGeom>
            <a:avLst/>
            <a:gdLst/>
            <a:ahLst/>
            <a:cxnLst/>
            <a:rect r="r" b="b" t="t" l="l"/>
            <a:pathLst>
              <a:path h="8229600" w="8229600">
                <a:moveTo>
                  <a:pt x="0" y="0"/>
                </a:moveTo>
                <a:lnTo>
                  <a:pt x="8229600" y="0"/>
                </a:lnTo>
                <a:lnTo>
                  <a:pt x="8229600" y="8229600"/>
                </a:lnTo>
                <a:lnTo>
                  <a:pt x="0" y="8229600"/>
                </a:lnTo>
                <a:lnTo>
                  <a:pt x="0" y="0"/>
                </a:lnTo>
                <a:close/>
              </a:path>
            </a:pathLst>
          </a:custGeom>
          <a:blipFill>
            <a:blip r:embed="rId2"/>
            <a:stretch>
              <a:fillRect l="0" t="0" r="0" b="0"/>
            </a:stretch>
          </a:blipFill>
        </p:spPr>
      </p:sp>
      <p:sp>
        <p:nvSpPr>
          <p:cNvPr name="Freeform 3" id="3"/>
          <p:cNvSpPr/>
          <p:nvPr/>
        </p:nvSpPr>
        <p:spPr>
          <a:xfrm flipH="false" flipV="false" rot="0">
            <a:off x="14202090" y="-1322495"/>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3"/>
            <a:stretch>
              <a:fillRect l="0" t="0" r="0" b="0"/>
            </a:stretch>
          </a:blipFill>
        </p:spPr>
      </p:sp>
      <p:sp>
        <p:nvSpPr>
          <p:cNvPr name="Freeform 4" id="4"/>
          <p:cNvSpPr/>
          <p:nvPr/>
        </p:nvSpPr>
        <p:spPr>
          <a:xfrm flipH="false" flipV="false" rot="2025189">
            <a:off x="-5688281" y="-4678754"/>
            <a:ext cx="8229600" cy="8229600"/>
          </a:xfrm>
          <a:custGeom>
            <a:avLst/>
            <a:gdLst/>
            <a:ahLst/>
            <a:cxnLst/>
            <a:rect r="r" b="b" t="t" l="l"/>
            <a:pathLst>
              <a:path h="8229600" w="8229600">
                <a:moveTo>
                  <a:pt x="0" y="0"/>
                </a:moveTo>
                <a:lnTo>
                  <a:pt x="8229600" y="0"/>
                </a:lnTo>
                <a:lnTo>
                  <a:pt x="8229600" y="8229600"/>
                </a:lnTo>
                <a:lnTo>
                  <a:pt x="0" y="8229600"/>
                </a:lnTo>
                <a:lnTo>
                  <a:pt x="0" y="0"/>
                </a:lnTo>
                <a:close/>
              </a:path>
            </a:pathLst>
          </a:custGeom>
          <a:blipFill>
            <a:blip r:embed="rId2"/>
            <a:stretch>
              <a:fillRect l="0" t="0" r="0" b="0"/>
            </a:stretch>
          </a:blipFill>
        </p:spPr>
      </p:sp>
      <p:sp>
        <p:nvSpPr>
          <p:cNvPr name="Freeform 5" id="5"/>
          <p:cNvSpPr/>
          <p:nvPr/>
        </p:nvSpPr>
        <p:spPr>
          <a:xfrm flipH="false" flipV="false" rot="-5593216">
            <a:off x="-2656087" y="6587957"/>
            <a:ext cx="5312174" cy="6071055"/>
          </a:xfrm>
          <a:custGeom>
            <a:avLst/>
            <a:gdLst/>
            <a:ahLst/>
            <a:cxnLst/>
            <a:rect r="r" b="b" t="t" l="l"/>
            <a:pathLst>
              <a:path h="6071055" w="5312174">
                <a:moveTo>
                  <a:pt x="0" y="0"/>
                </a:moveTo>
                <a:lnTo>
                  <a:pt x="5312174" y="0"/>
                </a:lnTo>
                <a:lnTo>
                  <a:pt x="5312174" y="6071056"/>
                </a:lnTo>
                <a:lnTo>
                  <a:pt x="0" y="6071056"/>
                </a:lnTo>
                <a:lnTo>
                  <a:pt x="0" y="0"/>
                </a:lnTo>
                <a:close/>
              </a:path>
            </a:pathLst>
          </a:custGeom>
          <a:blipFill>
            <a:blip r:embed="rId3"/>
            <a:stretch>
              <a:fillRect l="0" t="0" r="0" b="0"/>
            </a:stretch>
          </a:blipFill>
        </p:spPr>
      </p:sp>
      <p:grpSp>
        <p:nvGrpSpPr>
          <p:cNvPr name="Group 6" id="6"/>
          <p:cNvGrpSpPr/>
          <p:nvPr/>
        </p:nvGrpSpPr>
        <p:grpSpPr>
          <a:xfrm rot="5400000">
            <a:off x="101973" y="8331573"/>
            <a:ext cx="1853455" cy="1853455"/>
            <a:chOff x="0" y="0"/>
            <a:chExt cx="2471273" cy="2471273"/>
          </a:xfrm>
        </p:grpSpPr>
        <p:sp>
          <p:nvSpPr>
            <p:cNvPr name="Freeform 7" id="7"/>
            <p:cNvSpPr/>
            <p:nvPr/>
          </p:nvSpPr>
          <p:spPr>
            <a:xfrm flipH="false" flipV="false" rot="0">
              <a:off x="0" y="0"/>
              <a:ext cx="2471273" cy="2471273"/>
            </a:xfrm>
            <a:custGeom>
              <a:avLst/>
              <a:gdLst/>
              <a:ahLst/>
              <a:cxnLst/>
              <a:rect r="r" b="b" t="t" l="l"/>
              <a:pathLst>
                <a:path h="2471273" w="2471273">
                  <a:moveTo>
                    <a:pt x="0" y="0"/>
                  </a:moveTo>
                  <a:lnTo>
                    <a:pt x="2471273" y="0"/>
                  </a:lnTo>
                  <a:lnTo>
                    <a:pt x="2471273" y="2471273"/>
                  </a:lnTo>
                  <a:lnTo>
                    <a:pt x="0" y="2471273"/>
                  </a:lnTo>
                  <a:lnTo>
                    <a:pt x="0" y="0"/>
                  </a:lnTo>
                  <a:close/>
                </a:path>
              </a:pathLst>
            </a:custGeom>
            <a:blipFill>
              <a:blip r:embed="rId4"/>
              <a:stretch>
                <a:fillRect l="0" t="0" r="0" b="0"/>
              </a:stretch>
            </a:blipFill>
          </p:spPr>
        </p:sp>
        <p:grpSp>
          <p:nvGrpSpPr>
            <p:cNvPr name="Group 8" id="8"/>
            <p:cNvGrpSpPr/>
            <p:nvPr/>
          </p:nvGrpSpPr>
          <p:grpSpPr>
            <a:xfrm rot="0">
              <a:off x="1096101" y="688508"/>
              <a:ext cx="279071" cy="279071"/>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0" id="10"/>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nvGrpSpPr>
            <p:cNvPr name="Group 11" id="11"/>
            <p:cNvGrpSpPr/>
            <p:nvPr/>
          </p:nvGrpSpPr>
          <p:grpSpPr>
            <a:xfrm rot="0">
              <a:off x="1096101" y="1503694"/>
              <a:ext cx="279071" cy="279071"/>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3" id="13"/>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sp>
        <p:nvSpPr>
          <p:cNvPr name="Freeform 14" id="14"/>
          <p:cNvSpPr/>
          <p:nvPr/>
        </p:nvSpPr>
        <p:spPr>
          <a:xfrm flipH="false" flipV="false" rot="-5400000">
            <a:off x="5563590" y="-1972789"/>
            <a:ext cx="3266710" cy="11534244"/>
          </a:xfrm>
          <a:custGeom>
            <a:avLst/>
            <a:gdLst/>
            <a:ahLst/>
            <a:cxnLst/>
            <a:rect r="r" b="b" t="t" l="l"/>
            <a:pathLst>
              <a:path h="11534244" w="3266710">
                <a:moveTo>
                  <a:pt x="0" y="0"/>
                </a:moveTo>
                <a:lnTo>
                  <a:pt x="3266710" y="0"/>
                </a:lnTo>
                <a:lnTo>
                  <a:pt x="3266710" y="11534244"/>
                </a:lnTo>
                <a:lnTo>
                  <a:pt x="0" y="11534244"/>
                </a:lnTo>
                <a:lnTo>
                  <a:pt x="0" y="0"/>
                </a:lnTo>
                <a:close/>
              </a:path>
            </a:pathLst>
          </a:custGeom>
          <a:blipFill>
            <a:blip r:embed="rId5"/>
            <a:stretch>
              <a:fillRect l="-33326" t="0" r="-97944" b="0"/>
            </a:stretch>
          </a:blipFill>
        </p:spPr>
      </p:sp>
      <p:grpSp>
        <p:nvGrpSpPr>
          <p:cNvPr name="Group 15" id="15"/>
          <p:cNvGrpSpPr/>
          <p:nvPr/>
        </p:nvGrpSpPr>
        <p:grpSpPr>
          <a:xfrm rot="0">
            <a:off x="1609695" y="2361557"/>
            <a:ext cx="11174500" cy="2865551"/>
            <a:chOff x="0" y="0"/>
            <a:chExt cx="3159690" cy="810260"/>
          </a:xfrm>
        </p:grpSpPr>
        <p:sp>
          <p:nvSpPr>
            <p:cNvPr name="Freeform 16" id="16"/>
            <p:cNvSpPr/>
            <p:nvPr/>
          </p:nvSpPr>
          <p:spPr>
            <a:xfrm flipH="false" flipV="false" rot="0">
              <a:off x="0" y="0"/>
              <a:ext cx="3159690" cy="810260"/>
            </a:xfrm>
            <a:custGeom>
              <a:avLst/>
              <a:gdLst/>
              <a:ahLst/>
              <a:cxnLst/>
              <a:rect r="r" b="b" t="t" l="l"/>
              <a:pathLst>
                <a:path h="810260" w="3159690">
                  <a:moveTo>
                    <a:pt x="0" y="0"/>
                  </a:moveTo>
                  <a:lnTo>
                    <a:pt x="3159690" y="0"/>
                  </a:lnTo>
                  <a:lnTo>
                    <a:pt x="3159690" y="810260"/>
                  </a:lnTo>
                  <a:lnTo>
                    <a:pt x="0" y="810260"/>
                  </a:lnTo>
                  <a:close/>
                </a:path>
              </a:pathLst>
            </a:custGeom>
            <a:solidFill>
              <a:srgbClr val="FFFFFF">
                <a:alpha val="52941"/>
              </a:srgbClr>
            </a:solidFill>
          </p:spPr>
        </p:sp>
        <p:sp>
          <p:nvSpPr>
            <p:cNvPr name="TextBox 17" id="17"/>
            <p:cNvSpPr txBox="true"/>
            <p:nvPr/>
          </p:nvSpPr>
          <p:spPr>
            <a:xfrm>
              <a:off x="0" y="-47625"/>
              <a:ext cx="3159690" cy="857885"/>
            </a:xfrm>
            <a:prstGeom prst="rect">
              <a:avLst/>
            </a:prstGeom>
          </p:spPr>
          <p:txBody>
            <a:bodyPr anchor="ctr" rtlCol="false" tIns="50800" lIns="50800" bIns="50800" rIns="50800"/>
            <a:lstStyle/>
            <a:p>
              <a:pPr algn="ctr">
                <a:lnSpc>
                  <a:spcPts val="2485"/>
                </a:lnSpc>
              </a:pPr>
              <a:r>
                <a:rPr lang="en-US" sz="1775">
                  <a:solidFill>
                    <a:srgbClr val="FFFFFF">
                      <a:alpha val="52941"/>
                    </a:srgbClr>
                  </a:solidFill>
                  <a:latin typeface="Marykate"/>
                  <a:ea typeface="Marykate"/>
                  <a:cs typeface="Marykate"/>
                  <a:sym typeface="Marykate"/>
                </a:rPr>
                <a:t> </a:t>
              </a:r>
            </a:p>
          </p:txBody>
        </p:sp>
      </p:grpSp>
      <p:sp>
        <p:nvSpPr>
          <p:cNvPr name="TextBox 18" id="18"/>
          <p:cNvSpPr txBox="true"/>
          <p:nvPr/>
        </p:nvSpPr>
        <p:spPr>
          <a:xfrm rot="0">
            <a:off x="1609695" y="971093"/>
            <a:ext cx="13097359" cy="846985"/>
          </a:xfrm>
          <a:prstGeom prst="rect">
            <a:avLst/>
          </a:prstGeom>
        </p:spPr>
        <p:txBody>
          <a:bodyPr anchor="t" rtlCol="false" tIns="0" lIns="0" bIns="0" rIns="0">
            <a:spAutoFit/>
          </a:bodyPr>
          <a:lstStyle/>
          <a:p>
            <a:pPr algn="ctr">
              <a:lnSpc>
                <a:spcPts val="5714"/>
              </a:lnSpc>
            </a:pPr>
            <a:r>
              <a:rPr lang="en-US" sz="5195">
                <a:solidFill>
                  <a:srgbClr val="3A3E61"/>
                </a:solidFill>
                <a:latin typeface="Unique"/>
                <a:ea typeface="Unique"/>
                <a:cs typeface="Unique"/>
                <a:sym typeface="Unique"/>
              </a:rPr>
              <a:t>Refleksi, pembagian kontribusi, referensi</a:t>
            </a:r>
          </a:p>
        </p:txBody>
      </p:sp>
      <p:sp>
        <p:nvSpPr>
          <p:cNvPr name="Freeform 19" id="19"/>
          <p:cNvSpPr/>
          <p:nvPr/>
        </p:nvSpPr>
        <p:spPr>
          <a:xfrm flipH="false" flipV="false" rot="-5400000">
            <a:off x="10303920" y="2016316"/>
            <a:ext cx="2799985" cy="10308528"/>
          </a:xfrm>
          <a:custGeom>
            <a:avLst/>
            <a:gdLst/>
            <a:ahLst/>
            <a:cxnLst/>
            <a:rect r="r" b="b" t="t" l="l"/>
            <a:pathLst>
              <a:path h="10308528" w="2799985">
                <a:moveTo>
                  <a:pt x="0" y="0"/>
                </a:moveTo>
                <a:lnTo>
                  <a:pt x="2799985" y="0"/>
                </a:lnTo>
                <a:lnTo>
                  <a:pt x="2799985" y="10308528"/>
                </a:lnTo>
                <a:lnTo>
                  <a:pt x="0" y="10308528"/>
                </a:lnTo>
                <a:lnTo>
                  <a:pt x="0" y="0"/>
                </a:lnTo>
                <a:close/>
              </a:path>
            </a:pathLst>
          </a:custGeom>
          <a:blipFill>
            <a:blip r:embed="rId5"/>
            <a:stretch>
              <a:fillRect l="-34749" t="0" r="-106397" b="0"/>
            </a:stretch>
          </a:blipFill>
        </p:spPr>
      </p:sp>
      <p:grpSp>
        <p:nvGrpSpPr>
          <p:cNvPr name="Group 20" id="20"/>
          <p:cNvGrpSpPr/>
          <p:nvPr/>
        </p:nvGrpSpPr>
        <p:grpSpPr>
          <a:xfrm rot="0">
            <a:off x="6782477" y="6013072"/>
            <a:ext cx="9895828" cy="2356921"/>
            <a:chOff x="0" y="0"/>
            <a:chExt cx="2798134" cy="666441"/>
          </a:xfrm>
        </p:grpSpPr>
        <p:sp>
          <p:nvSpPr>
            <p:cNvPr name="Freeform 21" id="21"/>
            <p:cNvSpPr/>
            <p:nvPr/>
          </p:nvSpPr>
          <p:spPr>
            <a:xfrm flipH="false" flipV="false" rot="0">
              <a:off x="0" y="0"/>
              <a:ext cx="2798134" cy="666441"/>
            </a:xfrm>
            <a:custGeom>
              <a:avLst/>
              <a:gdLst/>
              <a:ahLst/>
              <a:cxnLst/>
              <a:rect r="r" b="b" t="t" l="l"/>
              <a:pathLst>
                <a:path h="666441" w="2798134">
                  <a:moveTo>
                    <a:pt x="0" y="0"/>
                  </a:moveTo>
                  <a:lnTo>
                    <a:pt x="2798134" y="0"/>
                  </a:lnTo>
                  <a:lnTo>
                    <a:pt x="2798134" y="666441"/>
                  </a:lnTo>
                  <a:lnTo>
                    <a:pt x="0" y="666441"/>
                  </a:lnTo>
                  <a:close/>
                </a:path>
              </a:pathLst>
            </a:custGeom>
            <a:solidFill>
              <a:srgbClr val="FFFFFF">
                <a:alpha val="52941"/>
              </a:srgbClr>
            </a:solidFill>
          </p:spPr>
        </p:sp>
        <p:sp>
          <p:nvSpPr>
            <p:cNvPr name="TextBox 22" id="22"/>
            <p:cNvSpPr txBox="true"/>
            <p:nvPr/>
          </p:nvSpPr>
          <p:spPr>
            <a:xfrm>
              <a:off x="0" y="-47625"/>
              <a:ext cx="2798134" cy="714066"/>
            </a:xfrm>
            <a:prstGeom prst="rect">
              <a:avLst/>
            </a:prstGeom>
          </p:spPr>
          <p:txBody>
            <a:bodyPr anchor="ctr" rtlCol="false" tIns="50800" lIns="50800" bIns="50800" rIns="50800"/>
            <a:lstStyle/>
            <a:p>
              <a:pPr algn="ctr">
                <a:lnSpc>
                  <a:spcPts val="2485"/>
                </a:lnSpc>
              </a:pPr>
              <a:r>
                <a:rPr lang="en-US" sz="1775">
                  <a:solidFill>
                    <a:srgbClr val="FFFFFF">
                      <a:alpha val="52941"/>
                    </a:srgbClr>
                  </a:solidFill>
                  <a:latin typeface="Marykate"/>
                  <a:ea typeface="Marykate"/>
                  <a:cs typeface="Marykate"/>
                  <a:sym typeface="Marykate"/>
                </a:rPr>
                <a:t> </a:t>
              </a:r>
            </a:p>
          </p:txBody>
        </p:sp>
      </p:grpSp>
      <p:grpSp>
        <p:nvGrpSpPr>
          <p:cNvPr name="Group 23" id="23"/>
          <p:cNvGrpSpPr/>
          <p:nvPr/>
        </p:nvGrpSpPr>
        <p:grpSpPr>
          <a:xfrm rot="5400000">
            <a:off x="16185794" y="299493"/>
            <a:ext cx="1853455" cy="1853455"/>
            <a:chOff x="0" y="0"/>
            <a:chExt cx="2471273" cy="2471273"/>
          </a:xfrm>
        </p:grpSpPr>
        <p:sp>
          <p:nvSpPr>
            <p:cNvPr name="Freeform 24" id="24"/>
            <p:cNvSpPr/>
            <p:nvPr/>
          </p:nvSpPr>
          <p:spPr>
            <a:xfrm flipH="false" flipV="false" rot="0">
              <a:off x="0" y="0"/>
              <a:ext cx="2471273" cy="2471273"/>
            </a:xfrm>
            <a:custGeom>
              <a:avLst/>
              <a:gdLst/>
              <a:ahLst/>
              <a:cxnLst/>
              <a:rect r="r" b="b" t="t" l="l"/>
              <a:pathLst>
                <a:path h="2471273" w="2471273">
                  <a:moveTo>
                    <a:pt x="0" y="0"/>
                  </a:moveTo>
                  <a:lnTo>
                    <a:pt x="2471273" y="0"/>
                  </a:lnTo>
                  <a:lnTo>
                    <a:pt x="2471273" y="2471273"/>
                  </a:lnTo>
                  <a:lnTo>
                    <a:pt x="0" y="2471273"/>
                  </a:lnTo>
                  <a:lnTo>
                    <a:pt x="0" y="0"/>
                  </a:lnTo>
                  <a:close/>
                </a:path>
              </a:pathLst>
            </a:custGeom>
            <a:blipFill>
              <a:blip r:embed="rId4"/>
              <a:stretch>
                <a:fillRect l="0" t="0" r="0" b="0"/>
              </a:stretch>
            </a:blipFill>
          </p:spPr>
        </p:sp>
        <p:grpSp>
          <p:nvGrpSpPr>
            <p:cNvPr name="Group 25" id="25"/>
            <p:cNvGrpSpPr/>
            <p:nvPr/>
          </p:nvGrpSpPr>
          <p:grpSpPr>
            <a:xfrm rot="0">
              <a:off x="1096101" y="688508"/>
              <a:ext cx="279071" cy="279071"/>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7" id="27"/>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nvGrpSpPr>
            <p:cNvPr name="Group 28" id="28"/>
            <p:cNvGrpSpPr/>
            <p:nvPr/>
          </p:nvGrpSpPr>
          <p:grpSpPr>
            <a:xfrm rot="0">
              <a:off x="1096101" y="1503694"/>
              <a:ext cx="279071" cy="279071"/>
              <a:chOff x="0" y="0"/>
              <a:chExt cx="812800" cy="812800"/>
            </a:xfrm>
          </p:grpSpPr>
          <p:sp>
            <p:nvSpPr>
              <p:cNvPr name="Freeform 29" id="2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30" id="30"/>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grpSp>
        <p:nvGrpSpPr>
          <p:cNvPr name="Group 31" id="31"/>
          <p:cNvGrpSpPr/>
          <p:nvPr/>
        </p:nvGrpSpPr>
        <p:grpSpPr>
          <a:xfrm rot="0">
            <a:off x="206693" y="0"/>
            <a:ext cx="592806" cy="2562077"/>
            <a:chOff x="0" y="0"/>
            <a:chExt cx="790408" cy="3416102"/>
          </a:xfrm>
        </p:grpSpPr>
        <p:sp>
          <p:nvSpPr>
            <p:cNvPr name="Freeform 32" id="32"/>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3" id="33"/>
            <p:cNvSpPr/>
            <p:nvPr/>
          </p:nvSpPr>
          <p:spPr>
            <a:xfrm flipH="false" flipV="false" rot="0">
              <a:off x="31094" y="913931"/>
              <a:ext cx="697124" cy="674309"/>
            </a:xfrm>
            <a:custGeom>
              <a:avLst/>
              <a:gdLst/>
              <a:ahLst/>
              <a:cxnLst/>
              <a:rect r="r" b="b" t="t" l="l"/>
              <a:pathLst>
                <a:path h="674309" w="697124">
                  <a:moveTo>
                    <a:pt x="0" y="0"/>
                  </a:moveTo>
                  <a:lnTo>
                    <a:pt x="697125" y="0"/>
                  </a:lnTo>
                  <a:lnTo>
                    <a:pt x="697125"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4" id="34"/>
            <p:cNvSpPr/>
            <p:nvPr/>
          </p:nvSpPr>
          <p:spPr>
            <a:xfrm flipH="false" flipV="false" rot="0">
              <a:off x="62189"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5" id="35"/>
            <p:cNvSpPr/>
            <p:nvPr/>
          </p:nvSpPr>
          <p:spPr>
            <a:xfrm flipH="false" flipV="false" rot="0">
              <a:off x="93283" y="2741793"/>
              <a:ext cx="697124" cy="674309"/>
            </a:xfrm>
            <a:custGeom>
              <a:avLst/>
              <a:gdLst/>
              <a:ahLst/>
              <a:cxnLst/>
              <a:rect r="r" b="b" t="t" l="l"/>
              <a:pathLst>
                <a:path h="674309" w="697124">
                  <a:moveTo>
                    <a:pt x="0" y="0"/>
                  </a:moveTo>
                  <a:lnTo>
                    <a:pt x="697125" y="0"/>
                  </a:lnTo>
                  <a:lnTo>
                    <a:pt x="697125"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grpSp>
        <p:nvGrpSpPr>
          <p:cNvPr name="Group 36" id="36"/>
          <p:cNvGrpSpPr/>
          <p:nvPr/>
        </p:nvGrpSpPr>
        <p:grpSpPr>
          <a:xfrm rot="0">
            <a:off x="17446443" y="7724923"/>
            <a:ext cx="592806" cy="2562077"/>
            <a:chOff x="0" y="0"/>
            <a:chExt cx="790408" cy="3416102"/>
          </a:xfrm>
        </p:grpSpPr>
        <p:sp>
          <p:nvSpPr>
            <p:cNvPr name="Freeform 37" id="37"/>
            <p:cNvSpPr/>
            <p:nvPr/>
          </p:nvSpPr>
          <p:spPr>
            <a:xfrm flipH="false" flipV="false" rot="0">
              <a:off x="0" y="0"/>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8" id="38"/>
            <p:cNvSpPr/>
            <p:nvPr/>
          </p:nvSpPr>
          <p:spPr>
            <a:xfrm flipH="false" flipV="false" rot="0">
              <a:off x="31094" y="913931"/>
              <a:ext cx="697124" cy="674309"/>
            </a:xfrm>
            <a:custGeom>
              <a:avLst/>
              <a:gdLst/>
              <a:ahLst/>
              <a:cxnLst/>
              <a:rect r="r" b="b" t="t" l="l"/>
              <a:pathLst>
                <a:path h="674309" w="697124">
                  <a:moveTo>
                    <a:pt x="0" y="0"/>
                  </a:moveTo>
                  <a:lnTo>
                    <a:pt x="697125" y="0"/>
                  </a:lnTo>
                  <a:lnTo>
                    <a:pt x="697125"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62189" y="1827862"/>
              <a:ext cx="697124" cy="674309"/>
            </a:xfrm>
            <a:custGeom>
              <a:avLst/>
              <a:gdLst/>
              <a:ahLst/>
              <a:cxnLst/>
              <a:rect r="r" b="b" t="t" l="l"/>
              <a:pathLst>
                <a:path h="674309" w="697124">
                  <a:moveTo>
                    <a:pt x="0" y="0"/>
                  </a:moveTo>
                  <a:lnTo>
                    <a:pt x="697124" y="0"/>
                  </a:lnTo>
                  <a:lnTo>
                    <a:pt x="697124"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40" id="40"/>
            <p:cNvSpPr/>
            <p:nvPr/>
          </p:nvSpPr>
          <p:spPr>
            <a:xfrm flipH="false" flipV="false" rot="0">
              <a:off x="93283" y="2741793"/>
              <a:ext cx="697124" cy="674309"/>
            </a:xfrm>
            <a:custGeom>
              <a:avLst/>
              <a:gdLst/>
              <a:ahLst/>
              <a:cxnLst/>
              <a:rect r="r" b="b" t="t" l="l"/>
              <a:pathLst>
                <a:path h="674309" w="697124">
                  <a:moveTo>
                    <a:pt x="0" y="0"/>
                  </a:moveTo>
                  <a:lnTo>
                    <a:pt x="697125" y="0"/>
                  </a:lnTo>
                  <a:lnTo>
                    <a:pt x="697125" y="674309"/>
                  </a:lnTo>
                  <a:lnTo>
                    <a:pt x="0" y="67430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sp>
        <p:nvSpPr>
          <p:cNvPr name="TextBox 41" id="41"/>
          <p:cNvSpPr txBox="true"/>
          <p:nvPr/>
        </p:nvSpPr>
        <p:spPr>
          <a:xfrm rot="0">
            <a:off x="1692155" y="2425750"/>
            <a:ext cx="11009580" cy="2737166"/>
          </a:xfrm>
          <a:prstGeom prst="rect">
            <a:avLst/>
          </a:prstGeom>
        </p:spPr>
        <p:txBody>
          <a:bodyPr anchor="t" rtlCol="false" tIns="0" lIns="0" bIns="0" rIns="0">
            <a:spAutoFit/>
          </a:bodyPr>
          <a:lstStyle/>
          <a:p>
            <a:pPr algn="ctr">
              <a:lnSpc>
                <a:spcPts val="2728"/>
              </a:lnSpc>
            </a:pPr>
            <a:r>
              <a:rPr lang="en-US" sz="2236">
                <a:solidFill>
                  <a:srgbClr val="3A3E61"/>
                </a:solidFill>
                <a:latin typeface="Vintii"/>
                <a:ea typeface="Vintii"/>
                <a:cs typeface="Vintii"/>
                <a:sym typeface="Vintii"/>
              </a:rPr>
              <a:t>Lewat tugas ini kami belajar bahwa komputer bisa menarik kesimpulan jika pengetahuan ditulis terstruktur sebagai fakta, relasi, dan aturan IF-THEN. Di knowledge base perpustakaan, kesimpulan seperti "Andi tidak boleh meminjam buku baru" muncul dari fakta dan aturan, bukan ditulis di awal.</a:t>
            </a:r>
          </a:p>
          <a:p>
            <a:pPr algn="ctr">
              <a:lnSpc>
                <a:spcPts val="2728"/>
              </a:lnSpc>
            </a:pPr>
            <a:r>
              <a:rPr lang="en-US" sz="2236">
                <a:solidFill>
                  <a:srgbClr val="3A3E61"/>
                </a:solidFill>
                <a:latin typeface="Vintii"/>
                <a:ea typeface="Vintii"/>
                <a:cs typeface="Vintii"/>
                <a:sym typeface="Vintii"/>
              </a:rPr>
              <a:t>Diagram semantic network paling membantu karena hubungan antar-konsep jadi terlihat jelas. Kesulitan kami adalah membedakan fakta, relasi, dan aturan.</a:t>
            </a:r>
          </a:p>
          <a:p>
            <a:pPr algn="ctr">
              <a:lnSpc>
                <a:spcPts val="2728"/>
              </a:lnSpc>
            </a:pPr>
            <a:r>
              <a:rPr lang="en-US" sz="2236">
                <a:solidFill>
                  <a:srgbClr val="3A3E61"/>
                </a:solidFill>
                <a:latin typeface="Vintii"/>
                <a:ea typeface="Vintii"/>
                <a:cs typeface="Vintii"/>
                <a:sym typeface="Vintii"/>
              </a:rPr>
              <a:t>Keterbatasannya: kesimpulan hanya sebaik isi knowledge base. Jika fakta atau aturan kurang lengkap, hasilnya bisa salah.</a:t>
            </a:r>
          </a:p>
        </p:txBody>
      </p:sp>
      <p:sp>
        <p:nvSpPr>
          <p:cNvPr name="TextBox 42" id="42"/>
          <p:cNvSpPr txBox="true"/>
          <p:nvPr/>
        </p:nvSpPr>
        <p:spPr>
          <a:xfrm rot="0">
            <a:off x="6782477" y="6171079"/>
            <a:ext cx="9895828" cy="2040907"/>
          </a:xfrm>
          <a:prstGeom prst="rect">
            <a:avLst/>
          </a:prstGeom>
        </p:spPr>
        <p:txBody>
          <a:bodyPr anchor="t" rtlCol="false" tIns="0" lIns="0" bIns="0" rIns="0">
            <a:spAutoFit/>
          </a:bodyPr>
          <a:lstStyle/>
          <a:p>
            <a:pPr algn="ctr">
              <a:lnSpc>
                <a:spcPts val="3294"/>
              </a:lnSpc>
            </a:pPr>
            <a:r>
              <a:rPr lang="en-US" sz="2700">
                <a:solidFill>
                  <a:srgbClr val="3A3E61"/>
                </a:solidFill>
                <a:latin typeface="Vintii"/>
                <a:ea typeface="Vintii"/>
                <a:cs typeface="Vintii"/>
                <a:sym typeface="Vintii"/>
              </a:rPr>
              <a:t>Kontribusi</a:t>
            </a:r>
          </a:p>
          <a:p>
            <a:pPr algn="ctr">
              <a:lnSpc>
                <a:spcPts val="3294"/>
              </a:lnSpc>
            </a:pPr>
            <a:r>
              <a:rPr lang="en-US" sz="2700">
                <a:solidFill>
                  <a:srgbClr val="3A3E61"/>
                </a:solidFill>
                <a:latin typeface="Vintii"/>
                <a:ea typeface="Vintii"/>
                <a:cs typeface="Vintii"/>
                <a:sym typeface="Vintii"/>
              </a:rPr>
              <a:t>Dhika : Menonton video dan mencatat timestamp, membuat konsep utama video 1 dan 2 dan membuat refleksi, pembagian kontribusi.</a:t>
            </a:r>
          </a:p>
          <a:p>
            <a:pPr algn="ctr">
              <a:lnSpc>
                <a:spcPts val="3294"/>
              </a:lnSpc>
            </a:pPr>
            <a:r>
              <a:rPr lang="en-US" sz="2700">
                <a:solidFill>
                  <a:srgbClr val="3A3E61"/>
                </a:solidFill>
                <a:latin typeface="Vintii"/>
                <a:ea typeface="Vintii"/>
                <a:cs typeface="Vintii"/>
                <a:sym typeface="Vintii"/>
              </a:rPr>
              <a:t>Nabil : Menonton video dan mencatat timestamp, membuat aturan IF-THEN, relasi, fakta, reasoning dan diagram semantic network</a:t>
            </a:r>
          </a:p>
        </p:txBody>
      </p:sp>
      <p:sp>
        <p:nvSpPr>
          <p:cNvPr name="Freeform 43" id="43"/>
          <p:cNvSpPr/>
          <p:nvPr/>
        </p:nvSpPr>
        <p:spPr>
          <a:xfrm flipH="false" flipV="false" rot="-5400000">
            <a:off x="7234402" y="4634994"/>
            <a:ext cx="1231812" cy="9702854"/>
          </a:xfrm>
          <a:custGeom>
            <a:avLst/>
            <a:gdLst/>
            <a:ahLst/>
            <a:cxnLst/>
            <a:rect r="r" b="b" t="t" l="l"/>
            <a:pathLst>
              <a:path h="9702854" w="1231812">
                <a:moveTo>
                  <a:pt x="0" y="0"/>
                </a:moveTo>
                <a:lnTo>
                  <a:pt x="1231812" y="0"/>
                </a:lnTo>
                <a:lnTo>
                  <a:pt x="1231812" y="9702854"/>
                </a:lnTo>
                <a:lnTo>
                  <a:pt x="0" y="9702854"/>
                </a:lnTo>
                <a:lnTo>
                  <a:pt x="0" y="0"/>
                </a:lnTo>
                <a:close/>
              </a:path>
            </a:pathLst>
          </a:custGeom>
          <a:blipFill>
            <a:blip r:embed="rId5"/>
            <a:stretch>
              <a:fillRect l="-152468" t="0" r="-263468" b="0"/>
            </a:stretch>
          </a:blipFill>
        </p:spPr>
      </p:sp>
      <p:sp>
        <p:nvSpPr>
          <p:cNvPr name="TextBox 44" id="44"/>
          <p:cNvSpPr txBox="true"/>
          <p:nvPr/>
        </p:nvSpPr>
        <p:spPr>
          <a:xfrm rot="0">
            <a:off x="3183019" y="9071985"/>
            <a:ext cx="9424828" cy="1030341"/>
          </a:xfrm>
          <a:prstGeom prst="rect">
            <a:avLst/>
          </a:prstGeom>
        </p:spPr>
        <p:txBody>
          <a:bodyPr anchor="t" rtlCol="false" tIns="0" lIns="0" bIns="0" rIns="0">
            <a:spAutoFit/>
          </a:bodyPr>
          <a:lstStyle/>
          <a:p>
            <a:pPr algn="ctr" marL="358381" indent="-179190" lvl="1">
              <a:lnSpc>
                <a:spcPts val="2025"/>
              </a:lnSpc>
              <a:buAutoNum type="arabicPeriod" startAt="1"/>
            </a:pPr>
            <a:r>
              <a:rPr lang="en-US" sz="1659">
                <a:solidFill>
                  <a:srgbClr val="3A3E61"/>
                </a:solidFill>
                <a:latin typeface="Vintii"/>
                <a:ea typeface="Vintii"/>
                <a:cs typeface="Vintii"/>
                <a:sym typeface="Vintii"/>
              </a:rPr>
              <a:t>Effendi, Y. A. [Kecerdasan Buatan] Agen dan Representasi Pengetahuan (MAT301 Kecerdasan Buatan, Teknik Robotika dan Kecerdasan Buatan, Universitas Airlangga). </a:t>
            </a:r>
            <a:r>
              <a:rPr lang="en-US" sz="1659" u="sng">
                <a:solidFill>
                  <a:srgbClr val="3A3E61"/>
                </a:solidFill>
                <a:latin typeface="Vintii"/>
                <a:ea typeface="Vintii"/>
                <a:cs typeface="Vintii"/>
                <a:sym typeface="Vintii"/>
                <a:hlinkClick r:id="rId8" tooltip="https://www.youtube.com/watch?v=uFkNZ4EyWiE"/>
              </a:rPr>
              <a:t>YouTube.</a:t>
            </a:r>
            <a:r>
              <a:rPr lang="en-US" sz="1659">
                <a:solidFill>
                  <a:srgbClr val="3A3E61"/>
                </a:solidFill>
                <a:latin typeface="Vintii"/>
                <a:ea typeface="Vintii"/>
                <a:cs typeface="Vintii"/>
                <a:sym typeface="Vintii"/>
              </a:rPr>
              <a:t> Diakses 5 Oktober 2026.</a:t>
            </a:r>
          </a:p>
          <a:p>
            <a:pPr algn="ctr" marL="358381" indent="-179190" lvl="1">
              <a:lnSpc>
                <a:spcPts val="2025"/>
              </a:lnSpc>
              <a:buAutoNum type="arabicPeriod" startAt="1"/>
            </a:pPr>
            <a:r>
              <a:rPr lang="en-US" sz="1659">
                <a:solidFill>
                  <a:srgbClr val="3A3E61"/>
                </a:solidFill>
                <a:latin typeface="Vintii"/>
                <a:ea typeface="Vintii"/>
                <a:cs typeface="Vintii"/>
                <a:sym typeface="Vintii"/>
              </a:rPr>
              <a:t>Pratiwi, H. Kecerdasan Buatan: Representasi Pengetahuan: Logika. </a:t>
            </a:r>
            <a:r>
              <a:rPr lang="en-US" sz="1659" u="sng">
                <a:solidFill>
                  <a:srgbClr val="3A3E61"/>
                </a:solidFill>
                <a:latin typeface="Vintii"/>
                <a:ea typeface="Vintii"/>
                <a:cs typeface="Vintii"/>
                <a:sym typeface="Vintii"/>
                <a:hlinkClick r:id="rId9" tooltip="https://www.youtube.com/watch?v=uReRB0G6WqM."/>
              </a:rPr>
              <a:t>YouTube.</a:t>
            </a:r>
            <a:r>
              <a:rPr lang="en-US" sz="1659">
                <a:solidFill>
                  <a:srgbClr val="3A3E61"/>
                </a:solidFill>
                <a:latin typeface="Vintii"/>
                <a:ea typeface="Vintii"/>
                <a:cs typeface="Vintii"/>
                <a:sym typeface="Vintii"/>
              </a:rPr>
              <a:t> Diakses 5 Oktober 2026.</a:t>
            </a:r>
          </a:p>
          <a:p>
            <a:pPr algn="ctr">
              <a:lnSpc>
                <a:spcPts val="2025"/>
              </a:lnSpc>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1EDE2"/>
        </a:solidFill>
      </p:bgPr>
    </p:bg>
    <p:spTree>
      <p:nvGrpSpPr>
        <p:cNvPr id="1" name=""/>
        <p:cNvGrpSpPr/>
        <p:nvPr/>
      </p:nvGrpSpPr>
      <p:grpSpPr>
        <a:xfrm>
          <a:off x="0" y="0"/>
          <a:ext cx="0" cy="0"/>
          <a:chOff x="0" y="0"/>
          <a:chExt cx="0" cy="0"/>
        </a:xfrm>
      </p:grpSpPr>
      <p:sp>
        <p:nvSpPr>
          <p:cNvPr name="Freeform 2" id="2"/>
          <p:cNvSpPr/>
          <p:nvPr/>
        </p:nvSpPr>
        <p:spPr>
          <a:xfrm flipH="false" flipV="false" rot="0">
            <a:off x="-4478740" y="34826"/>
            <a:ext cx="8229600" cy="8229600"/>
          </a:xfrm>
          <a:custGeom>
            <a:avLst/>
            <a:gdLst/>
            <a:ahLst/>
            <a:cxnLst/>
            <a:rect r="r" b="b" t="t" l="l"/>
            <a:pathLst>
              <a:path h="8229600" w="8229600">
                <a:moveTo>
                  <a:pt x="0" y="0"/>
                </a:moveTo>
                <a:lnTo>
                  <a:pt x="8229600" y="0"/>
                </a:lnTo>
                <a:lnTo>
                  <a:pt x="8229600" y="8229600"/>
                </a:lnTo>
                <a:lnTo>
                  <a:pt x="0" y="8229600"/>
                </a:lnTo>
                <a:lnTo>
                  <a:pt x="0" y="0"/>
                </a:lnTo>
                <a:close/>
              </a:path>
            </a:pathLst>
          </a:custGeom>
          <a:blipFill>
            <a:blip r:embed="rId2"/>
            <a:stretch>
              <a:fillRect l="0" t="0" r="0" b="0"/>
            </a:stretch>
          </a:blipFill>
        </p:spPr>
      </p:sp>
      <p:sp>
        <p:nvSpPr>
          <p:cNvPr name="Freeform 3" id="3"/>
          <p:cNvSpPr/>
          <p:nvPr/>
        </p:nvSpPr>
        <p:spPr>
          <a:xfrm flipH="false" flipV="false" rot="-5593216">
            <a:off x="-1049628" y="6066657"/>
            <a:ext cx="5312174" cy="6071055"/>
          </a:xfrm>
          <a:custGeom>
            <a:avLst/>
            <a:gdLst/>
            <a:ahLst/>
            <a:cxnLst/>
            <a:rect r="r" b="b" t="t" l="l"/>
            <a:pathLst>
              <a:path h="6071055" w="5312174">
                <a:moveTo>
                  <a:pt x="0" y="0"/>
                </a:moveTo>
                <a:lnTo>
                  <a:pt x="5312173" y="0"/>
                </a:lnTo>
                <a:lnTo>
                  <a:pt x="5312173" y="6071055"/>
                </a:lnTo>
                <a:lnTo>
                  <a:pt x="0" y="6071055"/>
                </a:lnTo>
                <a:lnTo>
                  <a:pt x="0" y="0"/>
                </a:lnTo>
                <a:close/>
              </a:path>
            </a:pathLst>
          </a:custGeom>
          <a:blipFill>
            <a:blip r:embed="rId3"/>
            <a:stretch>
              <a:fillRect l="0" t="0" r="0" b="0"/>
            </a:stretch>
          </a:blipFill>
        </p:spPr>
      </p:sp>
      <p:sp>
        <p:nvSpPr>
          <p:cNvPr name="Freeform 4" id="4"/>
          <p:cNvSpPr/>
          <p:nvPr/>
        </p:nvSpPr>
        <p:spPr>
          <a:xfrm flipH="false" flipV="false" rot="0">
            <a:off x="14173200" y="2839721"/>
            <a:ext cx="8229600" cy="8229600"/>
          </a:xfrm>
          <a:custGeom>
            <a:avLst/>
            <a:gdLst/>
            <a:ahLst/>
            <a:cxnLst/>
            <a:rect r="r" b="b" t="t" l="l"/>
            <a:pathLst>
              <a:path h="8229600" w="8229600">
                <a:moveTo>
                  <a:pt x="0" y="0"/>
                </a:moveTo>
                <a:lnTo>
                  <a:pt x="8229600" y="0"/>
                </a:lnTo>
                <a:lnTo>
                  <a:pt x="8229600" y="8229600"/>
                </a:lnTo>
                <a:lnTo>
                  <a:pt x="0" y="8229600"/>
                </a:lnTo>
                <a:lnTo>
                  <a:pt x="0" y="0"/>
                </a:lnTo>
                <a:close/>
              </a:path>
            </a:pathLst>
          </a:custGeom>
          <a:blipFill>
            <a:blip r:embed="rId2"/>
            <a:stretch>
              <a:fillRect l="0" t="0" r="0" b="0"/>
            </a:stretch>
          </a:blipFill>
        </p:spPr>
      </p:sp>
      <p:sp>
        <p:nvSpPr>
          <p:cNvPr name="Freeform 5" id="5"/>
          <p:cNvSpPr/>
          <p:nvPr/>
        </p:nvSpPr>
        <p:spPr>
          <a:xfrm flipH="false" flipV="false" rot="-5593216">
            <a:off x="14010667" y="-1791078"/>
            <a:ext cx="5312174" cy="6071055"/>
          </a:xfrm>
          <a:custGeom>
            <a:avLst/>
            <a:gdLst/>
            <a:ahLst/>
            <a:cxnLst/>
            <a:rect r="r" b="b" t="t" l="l"/>
            <a:pathLst>
              <a:path h="6071055" w="5312174">
                <a:moveTo>
                  <a:pt x="0" y="0"/>
                </a:moveTo>
                <a:lnTo>
                  <a:pt x="5312174" y="0"/>
                </a:lnTo>
                <a:lnTo>
                  <a:pt x="5312174" y="6071055"/>
                </a:lnTo>
                <a:lnTo>
                  <a:pt x="0" y="6071055"/>
                </a:lnTo>
                <a:lnTo>
                  <a:pt x="0" y="0"/>
                </a:lnTo>
                <a:close/>
              </a:path>
            </a:pathLst>
          </a:custGeom>
          <a:blipFill>
            <a:blip r:embed="rId3"/>
            <a:stretch>
              <a:fillRect l="0" t="0" r="0" b="0"/>
            </a:stretch>
          </a:blipFill>
        </p:spPr>
      </p:sp>
      <p:grpSp>
        <p:nvGrpSpPr>
          <p:cNvPr name="Group 6" id="6"/>
          <p:cNvGrpSpPr/>
          <p:nvPr/>
        </p:nvGrpSpPr>
        <p:grpSpPr>
          <a:xfrm rot="0">
            <a:off x="711705" y="651325"/>
            <a:ext cx="16864590" cy="8984349"/>
            <a:chOff x="0" y="0"/>
            <a:chExt cx="4441703" cy="2366248"/>
          </a:xfrm>
        </p:grpSpPr>
        <p:sp>
          <p:nvSpPr>
            <p:cNvPr name="Freeform 7" id="7"/>
            <p:cNvSpPr/>
            <p:nvPr/>
          </p:nvSpPr>
          <p:spPr>
            <a:xfrm flipH="false" flipV="false" rot="0">
              <a:off x="0" y="0"/>
              <a:ext cx="4441703" cy="2366248"/>
            </a:xfrm>
            <a:custGeom>
              <a:avLst/>
              <a:gdLst/>
              <a:ahLst/>
              <a:cxnLst/>
              <a:rect r="r" b="b" t="t" l="l"/>
              <a:pathLst>
                <a:path h="2366248" w="4441703">
                  <a:moveTo>
                    <a:pt x="23412" y="0"/>
                  </a:moveTo>
                  <a:lnTo>
                    <a:pt x="4418290" y="0"/>
                  </a:lnTo>
                  <a:cubicBezTo>
                    <a:pt x="4424500" y="0"/>
                    <a:pt x="4430455" y="2467"/>
                    <a:pt x="4434845" y="6857"/>
                  </a:cubicBezTo>
                  <a:cubicBezTo>
                    <a:pt x="4439236" y="11248"/>
                    <a:pt x="4441703" y="17203"/>
                    <a:pt x="4441703" y="23412"/>
                  </a:cubicBezTo>
                  <a:lnTo>
                    <a:pt x="4441703" y="2342836"/>
                  </a:lnTo>
                  <a:cubicBezTo>
                    <a:pt x="4441703" y="2355766"/>
                    <a:pt x="4431221" y="2366248"/>
                    <a:pt x="4418290" y="2366248"/>
                  </a:cubicBezTo>
                  <a:lnTo>
                    <a:pt x="23412" y="2366248"/>
                  </a:lnTo>
                  <a:cubicBezTo>
                    <a:pt x="17203" y="2366248"/>
                    <a:pt x="11248" y="2363782"/>
                    <a:pt x="6857" y="2359391"/>
                  </a:cubicBezTo>
                  <a:cubicBezTo>
                    <a:pt x="2467" y="2355000"/>
                    <a:pt x="0" y="2349045"/>
                    <a:pt x="0" y="2342836"/>
                  </a:cubicBezTo>
                  <a:lnTo>
                    <a:pt x="0" y="23412"/>
                  </a:lnTo>
                  <a:cubicBezTo>
                    <a:pt x="0" y="10482"/>
                    <a:pt x="10482" y="0"/>
                    <a:pt x="23412" y="0"/>
                  </a:cubicBezTo>
                  <a:close/>
                </a:path>
              </a:pathLst>
            </a:custGeom>
            <a:ln w="66675" cap="rnd">
              <a:solidFill>
                <a:srgbClr val="9AA5DF"/>
              </a:solidFill>
              <a:prstDash val="dash"/>
              <a:round/>
            </a:ln>
          </p:spPr>
        </p:sp>
        <p:sp>
          <p:nvSpPr>
            <p:cNvPr name="TextBox 8" id="8"/>
            <p:cNvSpPr txBox="true"/>
            <p:nvPr/>
          </p:nvSpPr>
          <p:spPr>
            <a:xfrm>
              <a:off x="0" y="-47625"/>
              <a:ext cx="4441703" cy="2413873"/>
            </a:xfrm>
            <a:prstGeom prst="rect">
              <a:avLst/>
            </a:prstGeom>
          </p:spPr>
          <p:txBody>
            <a:bodyPr anchor="ctr" rtlCol="false" tIns="50800" lIns="50800" bIns="50800" rIns="50800"/>
            <a:lstStyle/>
            <a:p>
              <a:pPr algn="ctr">
                <a:lnSpc>
                  <a:spcPts val="2485"/>
                </a:lnSpc>
              </a:pPr>
            </a:p>
          </p:txBody>
        </p:sp>
      </p:grpSp>
      <p:sp>
        <p:nvSpPr>
          <p:cNvPr name="Freeform 9" id="9"/>
          <p:cNvSpPr/>
          <p:nvPr/>
        </p:nvSpPr>
        <p:spPr>
          <a:xfrm flipH="false" flipV="false" rot="5400000">
            <a:off x="15839240" y="2209872"/>
            <a:ext cx="1420060" cy="1420060"/>
          </a:xfrm>
          <a:custGeom>
            <a:avLst/>
            <a:gdLst/>
            <a:ahLst/>
            <a:cxnLst/>
            <a:rect r="r" b="b" t="t" l="l"/>
            <a:pathLst>
              <a:path h="1420060" w="1420060">
                <a:moveTo>
                  <a:pt x="0" y="0"/>
                </a:moveTo>
                <a:lnTo>
                  <a:pt x="1420060" y="0"/>
                </a:lnTo>
                <a:lnTo>
                  <a:pt x="1420060" y="1420060"/>
                </a:lnTo>
                <a:lnTo>
                  <a:pt x="0" y="1420060"/>
                </a:lnTo>
                <a:lnTo>
                  <a:pt x="0" y="0"/>
                </a:lnTo>
                <a:close/>
              </a:path>
            </a:pathLst>
          </a:custGeom>
          <a:blipFill>
            <a:blip r:embed="rId4"/>
            <a:stretch>
              <a:fillRect l="0" t="0" r="0" b="0"/>
            </a:stretch>
          </a:blipFill>
        </p:spPr>
      </p:sp>
      <p:grpSp>
        <p:nvGrpSpPr>
          <p:cNvPr name="Group 10" id="10"/>
          <p:cNvGrpSpPr/>
          <p:nvPr/>
        </p:nvGrpSpPr>
        <p:grpSpPr>
          <a:xfrm rot="5400000">
            <a:off x="16703303" y="2839721"/>
            <a:ext cx="160362" cy="160362"/>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2" id="12"/>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grpSp>
        <p:nvGrpSpPr>
          <p:cNvPr name="Group 13" id="13"/>
          <p:cNvGrpSpPr/>
          <p:nvPr/>
        </p:nvGrpSpPr>
        <p:grpSpPr>
          <a:xfrm rot="5400000">
            <a:off x="16234876" y="2839721"/>
            <a:ext cx="160362" cy="160362"/>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5" id="15"/>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sp>
        <p:nvSpPr>
          <p:cNvPr name="Freeform 16" id="16"/>
          <p:cNvSpPr/>
          <p:nvPr/>
        </p:nvSpPr>
        <p:spPr>
          <a:xfrm flipH="false" flipV="false" rot="5400000">
            <a:off x="15792598" y="6733268"/>
            <a:ext cx="1420060" cy="1420060"/>
          </a:xfrm>
          <a:custGeom>
            <a:avLst/>
            <a:gdLst/>
            <a:ahLst/>
            <a:cxnLst/>
            <a:rect r="r" b="b" t="t" l="l"/>
            <a:pathLst>
              <a:path h="1420060" w="1420060">
                <a:moveTo>
                  <a:pt x="0" y="0"/>
                </a:moveTo>
                <a:lnTo>
                  <a:pt x="1420060" y="0"/>
                </a:lnTo>
                <a:lnTo>
                  <a:pt x="1420060" y="1420060"/>
                </a:lnTo>
                <a:lnTo>
                  <a:pt x="0" y="1420060"/>
                </a:lnTo>
                <a:lnTo>
                  <a:pt x="0" y="0"/>
                </a:lnTo>
                <a:close/>
              </a:path>
            </a:pathLst>
          </a:custGeom>
          <a:blipFill>
            <a:blip r:embed="rId4"/>
            <a:stretch>
              <a:fillRect l="0" t="0" r="0" b="0"/>
            </a:stretch>
          </a:blipFill>
        </p:spPr>
      </p:sp>
      <p:grpSp>
        <p:nvGrpSpPr>
          <p:cNvPr name="Group 17" id="17"/>
          <p:cNvGrpSpPr/>
          <p:nvPr/>
        </p:nvGrpSpPr>
        <p:grpSpPr>
          <a:xfrm rot="5400000">
            <a:off x="16656661" y="7363117"/>
            <a:ext cx="160362" cy="160362"/>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19" id="19"/>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grpSp>
        <p:nvGrpSpPr>
          <p:cNvPr name="Group 20" id="20"/>
          <p:cNvGrpSpPr/>
          <p:nvPr/>
        </p:nvGrpSpPr>
        <p:grpSpPr>
          <a:xfrm rot="5400000">
            <a:off x="16188234" y="7363117"/>
            <a:ext cx="160362" cy="160362"/>
            <a:chOff x="0" y="0"/>
            <a:chExt cx="812800" cy="812800"/>
          </a:xfrm>
        </p:grpSpPr>
        <p:sp>
          <p:nvSpPr>
            <p:cNvPr name="Freeform 21" id="2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22" id="22"/>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sp>
        <p:nvSpPr>
          <p:cNvPr name="Freeform 23" id="23"/>
          <p:cNvSpPr/>
          <p:nvPr/>
        </p:nvSpPr>
        <p:spPr>
          <a:xfrm flipH="false" flipV="false" rot="0">
            <a:off x="16299509" y="3896760"/>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4" id="24"/>
          <p:cNvSpPr/>
          <p:nvPr/>
        </p:nvSpPr>
        <p:spPr>
          <a:xfrm flipH="false" flipV="false" rot="0">
            <a:off x="16299509" y="4582209"/>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5" id="25"/>
          <p:cNvSpPr/>
          <p:nvPr/>
        </p:nvSpPr>
        <p:spPr>
          <a:xfrm flipH="false" flipV="false" rot="0">
            <a:off x="16299509" y="5267657"/>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6" id="26"/>
          <p:cNvSpPr/>
          <p:nvPr/>
        </p:nvSpPr>
        <p:spPr>
          <a:xfrm flipH="false" flipV="false" rot="0">
            <a:off x="16299509" y="5953105"/>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7" id="27"/>
          <p:cNvSpPr/>
          <p:nvPr/>
        </p:nvSpPr>
        <p:spPr>
          <a:xfrm flipH="false" flipV="false" rot="2700000">
            <a:off x="8104892" y="420705"/>
            <a:ext cx="2078215" cy="2144500"/>
          </a:xfrm>
          <a:custGeom>
            <a:avLst/>
            <a:gdLst/>
            <a:ahLst/>
            <a:cxnLst/>
            <a:rect r="r" b="b" t="t" l="l"/>
            <a:pathLst>
              <a:path h="2144500" w="2078215">
                <a:moveTo>
                  <a:pt x="0" y="0"/>
                </a:moveTo>
                <a:lnTo>
                  <a:pt x="2078216" y="0"/>
                </a:lnTo>
                <a:lnTo>
                  <a:pt x="2078216" y="2144500"/>
                </a:lnTo>
                <a:lnTo>
                  <a:pt x="0" y="21445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4967298" y="3223027"/>
            <a:ext cx="8353404" cy="3709518"/>
          </a:xfrm>
          <a:prstGeom prst="rect">
            <a:avLst/>
          </a:prstGeom>
        </p:spPr>
        <p:txBody>
          <a:bodyPr anchor="t" rtlCol="false" tIns="0" lIns="0" bIns="0" rIns="0">
            <a:spAutoFit/>
          </a:bodyPr>
          <a:lstStyle/>
          <a:p>
            <a:pPr algn="ctr">
              <a:lnSpc>
                <a:spcPts val="13571"/>
              </a:lnSpc>
            </a:pPr>
            <a:r>
              <a:rPr lang="en-US" sz="12338">
                <a:solidFill>
                  <a:srgbClr val="3A3E61"/>
                </a:solidFill>
                <a:latin typeface="Unique"/>
                <a:ea typeface="Unique"/>
                <a:cs typeface="Unique"/>
                <a:sym typeface="Unique"/>
              </a:rPr>
              <a:t>TERIMA KASIH</a:t>
            </a:r>
          </a:p>
        </p:txBody>
      </p:sp>
      <p:sp>
        <p:nvSpPr>
          <p:cNvPr name="Freeform 29" id="29"/>
          <p:cNvSpPr/>
          <p:nvPr/>
        </p:nvSpPr>
        <p:spPr>
          <a:xfrm flipH="false" flipV="false" rot="5400000">
            <a:off x="1075342" y="2209872"/>
            <a:ext cx="1420060" cy="1420060"/>
          </a:xfrm>
          <a:custGeom>
            <a:avLst/>
            <a:gdLst/>
            <a:ahLst/>
            <a:cxnLst/>
            <a:rect r="r" b="b" t="t" l="l"/>
            <a:pathLst>
              <a:path h="1420060" w="1420060">
                <a:moveTo>
                  <a:pt x="0" y="0"/>
                </a:moveTo>
                <a:lnTo>
                  <a:pt x="1420060" y="0"/>
                </a:lnTo>
                <a:lnTo>
                  <a:pt x="1420060" y="1420060"/>
                </a:lnTo>
                <a:lnTo>
                  <a:pt x="0" y="1420060"/>
                </a:lnTo>
                <a:lnTo>
                  <a:pt x="0" y="0"/>
                </a:lnTo>
                <a:close/>
              </a:path>
            </a:pathLst>
          </a:custGeom>
          <a:blipFill>
            <a:blip r:embed="rId4"/>
            <a:stretch>
              <a:fillRect l="0" t="0" r="0" b="0"/>
            </a:stretch>
          </a:blipFill>
        </p:spPr>
      </p:sp>
      <p:grpSp>
        <p:nvGrpSpPr>
          <p:cNvPr name="Group 30" id="30"/>
          <p:cNvGrpSpPr/>
          <p:nvPr/>
        </p:nvGrpSpPr>
        <p:grpSpPr>
          <a:xfrm rot="5400000">
            <a:off x="1939405" y="2839721"/>
            <a:ext cx="160362" cy="160362"/>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32" id="32"/>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grpSp>
        <p:nvGrpSpPr>
          <p:cNvPr name="Group 33" id="33"/>
          <p:cNvGrpSpPr/>
          <p:nvPr/>
        </p:nvGrpSpPr>
        <p:grpSpPr>
          <a:xfrm rot="5400000">
            <a:off x="1470977" y="2839721"/>
            <a:ext cx="160362" cy="160362"/>
            <a:chOff x="0" y="0"/>
            <a:chExt cx="812800" cy="812800"/>
          </a:xfrm>
        </p:grpSpPr>
        <p:sp>
          <p:nvSpPr>
            <p:cNvPr name="Freeform 34" id="3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35" id="35"/>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sp>
        <p:nvSpPr>
          <p:cNvPr name="Freeform 36" id="36"/>
          <p:cNvSpPr/>
          <p:nvPr/>
        </p:nvSpPr>
        <p:spPr>
          <a:xfrm flipH="false" flipV="false" rot="5400000">
            <a:off x="1028700" y="6733268"/>
            <a:ext cx="1420060" cy="1420060"/>
          </a:xfrm>
          <a:custGeom>
            <a:avLst/>
            <a:gdLst/>
            <a:ahLst/>
            <a:cxnLst/>
            <a:rect r="r" b="b" t="t" l="l"/>
            <a:pathLst>
              <a:path h="1420060" w="1420060">
                <a:moveTo>
                  <a:pt x="0" y="0"/>
                </a:moveTo>
                <a:lnTo>
                  <a:pt x="1420060" y="0"/>
                </a:lnTo>
                <a:lnTo>
                  <a:pt x="1420060" y="1420060"/>
                </a:lnTo>
                <a:lnTo>
                  <a:pt x="0" y="1420060"/>
                </a:lnTo>
                <a:lnTo>
                  <a:pt x="0" y="0"/>
                </a:lnTo>
                <a:close/>
              </a:path>
            </a:pathLst>
          </a:custGeom>
          <a:blipFill>
            <a:blip r:embed="rId4"/>
            <a:stretch>
              <a:fillRect l="0" t="0" r="0" b="0"/>
            </a:stretch>
          </a:blipFill>
        </p:spPr>
      </p:sp>
      <p:grpSp>
        <p:nvGrpSpPr>
          <p:cNvPr name="Group 37" id="37"/>
          <p:cNvGrpSpPr/>
          <p:nvPr/>
        </p:nvGrpSpPr>
        <p:grpSpPr>
          <a:xfrm rot="5400000">
            <a:off x="1892763" y="7363117"/>
            <a:ext cx="160362" cy="160362"/>
            <a:chOff x="0" y="0"/>
            <a:chExt cx="812800" cy="812800"/>
          </a:xfrm>
        </p:grpSpPr>
        <p:sp>
          <p:nvSpPr>
            <p:cNvPr name="Freeform 38" id="3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39" id="39"/>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grpSp>
        <p:nvGrpSpPr>
          <p:cNvPr name="Group 40" id="40"/>
          <p:cNvGrpSpPr/>
          <p:nvPr/>
        </p:nvGrpSpPr>
        <p:grpSpPr>
          <a:xfrm rot="5400000">
            <a:off x="1424335" y="7363117"/>
            <a:ext cx="160362" cy="160362"/>
            <a:chOff x="0" y="0"/>
            <a:chExt cx="812800" cy="812800"/>
          </a:xfrm>
        </p:grpSpPr>
        <p:sp>
          <p:nvSpPr>
            <p:cNvPr name="Freeform 41" id="4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737373">
                    <a:alpha val="100000"/>
                  </a:srgbClr>
                </a:gs>
                <a:gs pos="100000">
                  <a:srgbClr val="343434">
                    <a:alpha val="100000"/>
                  </a:srgbClr>
                </a:gs>
              </a:gsLst>
              <a:path path="circle">
                <a:fillToRect l="50000" r="50000" t="50000" b="50000"/>
              </a:path>
            </a:gradFill>
          </p:spPr>
        </p:sp>
        <p:sp>
          <p:nvSpPr>
            <p:cNvPr name="TextBox 42" id="42"/>
            <p:cNvSpPr txBox="true"/>
            <p:nvPr/>
          </p:nvSpPr>
          <p:spPr>
            <a:xfrm>
              <a:off x="76200" y="19050"/>
              <a:ext cx="660400" cy="717550"/>
            </a:xfrm>
            <a:prstGeom prst="rect">
              <a:avLst/>
            </a:prstGeom>
          </p:spPr>
          <p:txBody>
            <a:bodyPr anchor="ctr" rtlCol="false" tIns="54372" lIns="54372" bIns="54372" rIns="54372"/>
            <a:lstStyle/>
            <a:p>
              <a:pPr algn="ctr">
                <a:lnSpc>
                  <a:spcPts val="2659"/>
                </a:lnSpc>
              </a:pPr>
            </a:p>
          </p:txBody>
        </p:sp>
      </p:grpSp>
      <p:sp>
        <p:nvSpPr>
          <p:cNvPr name="Freeform 43" id="43"/>
          <p:cNvSpPr/>
          <p:nvPr/>
        </p:nvSpPr>
        <p:spPr>
          <a:xfrm flipH="false" flipV="false" rot="0">
            <a:off x="1535611" y="3896760"/>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4" id="44"/>
          <p:cNvSpPr/>
          <p:nvPr/>
        </p:nvSpPr>
        <p:spPr>
          <a:xfrm flipH="false" flipV="false" rot="0">
            <a:off x="1535611" y="4582209"/>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5" id="45"/>
          <p:cNvSpPr/>
          <p:nvPr/>
        </p:nvSpPr>
        <p:spPr>
          <a:xfrm flipH="false" flipV="false" rot="0">
            <a:off x="1535611" y="5267657"/>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6" id="46"/>
          <p:cNvSpPr/>
          <p:nvPr/>
        </p:nvSpPr>
        <p:spPr>
          <a:xfrm flipH="false" flipV="false" rot="0">
            <a:off x="1535611" y="5953105"/>
            <a:ext cx="522843" cy="505732"/>
          </a:xfrm>
          <a:custGeom>
            <a:avLst/>
            <a:gdLst/>
            <a:ahLst/>
            <a:cxnLst/>
            <a:rect r="r" b="b" t="t" l="l"/>
            <a:pathLst>
              <a:path h="505732" w="522843">
                <a:moveTo>
                  <a:pt x="0" y="0"/>
                </a:moveTo>
                <a:lnTo>
                  <a:pt x="522843" y="0"/>
                </a:lnTo>
                <a:lnTo>
                  <a:pt x="522843" y="505732"/>
                </a:lnTo>
                <a:lnTo>
                  <a:pt x="0" y="50573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DAHXHQQM8Us</dc:identifier>
  <dcterms:modified xsi:type="dcterms:W3CDTF">2011-08-01T06:04:30Z</dcterms:modified>
  <cp:revision>1</cp:revision>
  <dc:title>SO2_Kelompok_[Dhika M. Frizar]_[Nabil Faiq A.]</dc:title>
</cp:coreProperties>
</file>