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Marykate" panose="020B0604020202020204" charset="0"/>
      <p:regular r:id="rId16"/>
    </p:embeddedFont>
    <p:embeddedFont>
      <p:font typeface="Unique" panose="020B0604020202020204" charset="0"/>
      <p:regular r:id="rId17"/>
    </p:embeddedFont>
    <p:embeddedFont>
      <p:font typeface="Vintii"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516"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5.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3.jpe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hyperlink" Target="https://www.youtube.com/watch?v=uReRB0G6WqM." TargetMode="External"/><Relationship Id="rId3" Type="http://schemas.openxmlformats.org/officeDocument/2006/relationships/image" Target="../media/image1.png"/><Relationship Id="rId7" Type="http://schemas.openxmlformats.org/officeDocument/2006/relationships/hyperlink" Target="https://www.youtube.com/watch?v=uFkNZ4EyWiE"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6.jpe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rot="-5593216">
            <a:off x="-1049628" y="6066657"/>
            <a:ext cx="5312174" cy="6071055"/>
          </a:xfrm>
          <a:custGeom>
            <a:avLst/>
            <a:gdLst/>
            <a:ahLst/>
            <a:cxnLst/>
            <a:rect l="l" t="t" r="r" b="b"/>
            <a:pathLst>
              <a:path w="5312174" h="6071055">
                <a:moveTo>
                  <a:pt x="0" y="0"/>
                </a:moveTo>
                <a:lnTo>
                  <a:pt x="5312173" y="0"/>
                </a:lnTo>
                <a:lnTo>
                  <a:pt x="5312173" y="6071055"/>
                </a:lnTo>
                <a:lnTo>
                  <a:pt x="0" y="6071055"/>
                </a:lnTo>
                <a:lnTo>
                  <a:pt x="0" y="0"/>
                </a:lnTo>
                <a:close/>
              </a:path>
            </a:pathLst>
          </a:custGeom>
          <a:blipFill>
            <a:blip r:embed="rId2"/>
            <a:stretch>
              <a:fillRect/>
            </a:stretch>
          </a:blipFill>
        </p:spPr>
      </p:sp>
      <p:sp>
        <p:nvSpPr>
          <p:cNvPr id="3" name="Freeform 3"/>
          <p:cNvSpPr/>
          <p:nvPr/>
        </p:nvSpPr>
        <p:spPr>
          <a:xfrm rot="-5593216">
            <a:off x="14010667" y="-1791078"/>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2"/>
            <a:stretch>
              <a:fillRect/>
            </a:stretch>
          </a:blipFill>
        </p:spPr>
      </p:sp>
      <p:sp>
        <p:nvSpPr>
          <p:cNvPr id="4" name="Freeform 4"/>
          <p:cNvSpPr/>
          <p:nvPr/>
        </p:nvSpPr>
        <p:spPr>
          <a:xfrm rot="-8100000">
            <a:off x="15335691" y="2710682"/>
            <a:ext cx="2662126" cy="2747034"/>
          </a:xfrm>
          <a:custGeom>
            <a:avLst/>
            <a:gdLst/>
            <a:ahLst/>
            <a:cxnLst/>
            <a:rect l="l" t="t" r="r" b="b"/>
            <a:pathLst>
              <a:path w="2662126" h="2747034">
                <a:moveTo>
                  <a:pt x="0" y="0"/>
                </a:moveTo>
                <a:lnTo>
                  <a:pt x="2662126" y="0"/>
                </a:lnTo>
                <a:lnTo>
                  <a:pt x="2662126" y="2747034"/>
                </a:lnTo>
                <a:lnTo>
                  <a:pt x="0" y="274703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764743">
            <a:off x="-3939419" y="-8123799"/>
            <a:ext cx="11652341" cy="11652341"/>
          </a:xfrm>
          <a:custGeom>
            <a:avLst/>
            <a:gdLst/>
            <a:ahLst/>
            <a:cxnLst/>
            <a:rect l="l" t="t" r="r" b="b"/>
            <a:pathLst>
              <a:path w="11652341" h="11652341">
                <a:moveTo>
                  <a:pt x="0" y="0"/>
                </a:moveTo>
                <a:lnTo>
                  <a:pt x="11652342" y="0"/>
                </a:lnTo>
                <a:lnTo>
                  <a:pt x="11652342" y="11652342"/>
                </a:lnTo>
                <a:lnTo>
                  <a:pt x="0" y="11652342"/>
                </a:lnTo>
                <a:lnTo>
                  <a:pt x="0" y="0"/>
                </a:lnTo>
                <a:close/>
              </a:path>
            </a:pathLst>
          </a:custGeom>
          <a:blipFill>
            <a:blip r:embed="rId4"/>
            <a:stretch>
              <a:fillRect/>
            </a:stretch>
          </a:blipFill>
        </p:spPr>
      </p:sp>
      <p:grpSp>
        <p:nvGrpSpPr>
          <p:cNvPr id="6" name="Group 6"/>
          <p:cNvGrpSpPr/>
          <p:nvPr/>
        </p:nvGrpSpPr>
        <p:grpSpPr>
          <a:xfrm rot="5400000">
            <a:off x="1886752" y="2171772"/>
            <a:ext cx="1420060" cy="1420060"/>
            <a:chOff x="0" y="0"/>
            <a:chExt cx="1893413" cy="1893413"/>
          </a:xfrm>
        </p:grpSpPr>
        <p:sp>
          <p:nvSpPr>
            <p:cNvPr id="7" name="Freeform 7"/>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8" name="Group 8"/>
            <p:cNvGrpSpPr/>
            <p:nvPr/>
          </p:nvGrpSpPr>
          <p:grpSpPr>
            <a:xfrm>
              <a:off x="839799" y="527514"/>
              <a:ext cx="213816" cy="21381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1" name="Group 11"/>
            <p:cNvGrpSpPr/>
            <p:nvPr/>
          </p:nvGrpSpPr>
          <p:grpSpPr>
            <a:xfrm>
              <a:off x="839799" y="1152084"/>
              <a:ext cx="213816" cy="21381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14" name="Group 14"/>
          <p:cNvGrpSpPr/>
          <p:nvPr/>
        </p:nvGrpSpPr>
        <p:grpSpPr>
          <a:xfrm rot="5400000">
            <a:off x="1840110" y="6695168"/>
            <a:ext cx="1420060" cy="1420060"/>
            <a:chOff x="0" y="0"/>
            <a:chExt cx="1893413" cy="1893413"/>
          </a:xfrm>
        </p:grpSpPr>
        <p:sp>
          <p:nvSpPr>
            <p:cNvPr id="15" name="Freeform 15"/>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16" name="Group 16"/>
            <p:cNvGrpSpPr/>
            <p:nvPr/>
          </p:nvGrpSpPr>
          <p:grpSpPr>
            <a:xfrm>
              <a:off x="839799" y="527514"/>
              <a:ext cx="213816" cy="21381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839799" y="1152084"/>
              <a:ext cx="213816" cy="2138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sp>
        <p:nvSpPr>
          <p:cNvPr id="22" name="Freeform 22"/>
          <p:cNvSpPr/>
          <p:nvPr/>
        </p:nvSpPr>
        <p:spPr>
          <a:xfrm>
            <a:off x="2347021" y="3858660"/>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3" name="Freeform 23"/>
          <p:cNvSpPr/>
          <p:nvPr/>
        </p:nvSpPr>
        <p:spPr>
          <a:xfrm>
            <a:off x="2347021" y="4544109"/>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4" name="Freeform 24"/>
          <p:cNvSpPr/>
          <p:nvPr/>
        </p:nvSpPr>
        <p:spPr>
          <a:xfrm>
            <a:off x="2347021" y="5229557"/>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5" name="Freeform 25"/>
          <p:cNvSpPr/>
          <p:nvPr/>
        </p:nvSpPr>
        <p:spPr>
          <a:xfrm>
            <a:off x="2347021" y="5915005"/>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6" name="TextBox 26"/>
          <p:cNvSpPr txBox="1"/>
          <p:nvPr/>
        </p:nvSpPr>
        <p:spPr>
          <a:xfrm>
            <a:off x="4096891" y="2757977"/>
            <a:ext cx="10094219" cy="1744067"/>
          </a:xfrm>
          <a:prstGeom prst="rect">
            <a:avLst/>
          </a:prstGeom>
        </p:spPr>
        <p:txBody>
          <a:bodyPr lIns="0" tIns="0" rIns="0" bIns="0" rtlCol="0" anchor="t">
            <a:spAutoFit/>
          </a:bodyPr>
          <a:lstStyle/>
          <a:p>
            <a:pPr algn="ctr">
              <a:lnSpc>
                <a:spcPts val="13571"/>
              </a:lnSpc>
            </a:pPr>
            <a:r>
              <a:rPr lang="en-US" sz="12338" dirty="0">
                <a:solidFill>
                  <a:srgbClr val="3A3E61"/>
                </a:solidFill>
                <a:latin typeface="Unique"/>
                <a:ea typeface="Unique"/>
                <a:cs typeface="Unique"/>
                <a:sym typeface="Unique"/>
              </a:rPr>
              <a:t>KELOMPOK B</a:t>
            </a:r>
          </a:p>
        </p:txBody>
      </p:sp>
      <p:sp>
        <p:nvSpPr>
          <p:cNvPr id="27" name="TextBox 27"/>
          <p:cNvSpPr txBox="1"/>
          <p:nvPr/>
        </p:nvSpPr>
        <p:spPr>
          <a:xfrm>
            <a:off x="4088340" y="4791095"/>
            <a:ext cx="10102770" cy="2063539"/>
          </a:xfrm>
          <a:prstGeom prst="rect">
            <a:avLst/>
          </a:prstGeom>
        </p:spPr>
        <p:txBody>
          <a:bodyPr lIns="0" tIns="0" rIns="0" bIns="0" rtlCol="0" anchor="t">
            <a:spAutoFit/>
          </a:bodyPr>
          <a:lstStyle/>
          <a:p>
            <a:pPr algn="ctr">
              <a:lnSpc>
                <a:spcPts val="5406"/>
              </a:lnSpc>
            </a:pPr>
            <a:r>
              <a:rPr lang="en-US" sz="4914">
                <a:solidFill>
                  <a:srgbClr val="3A3E61"/>
                </a:solidFill>
                <a:latin typeface="Vintii"/>
                <a:ea typeface="Vintii"/>
                <a:cs typeface="Vintii"/>
                <a:sym typeface="Vintii"/>
              </a:rPr>
              <a:t>Disusun oleh </a:t>
            </a:r>
          </a:p>
          <a:p>
            <a:pPr algn="ctr">
              <a:lnSpc>
                <a:spcPts val="5406"/>
              </a:lnSpc>
            </a:pPr>
            <a:r>
              <a:rPr lang="en-US" sz="4914">
                <a:solidFill>
                  <a:srgbClr val="3A3E61"/>
                </a:solidFill>
                <a:latin typeface="Vintii"/>
                <a:ea typeface="Vintii"/>
                <a:cs typeface="Vintii"/>
                <a:sym typeface="Vintii"/>
              </a:rPr>
              <a:t>Nabil Faiq Aflah (261636002)</a:t>
            </a:r>
          </a:p>
          <a:p>
            <a:pPr algn="ctr">
              <a:lnSpc>
                <a:spcPts val="5406"/>
              </a:lnSpc>
            </a:pPr>
            <a:r>
              <a:rPr lang="en-US" sz="4914">
                <a:solidFill>
                  <a:srgbClr val="3A3E61"/>
                </a:solidFill>
                <a:latin typeface="Vintii"/>
                <a:ea typeface="Vintii"/>
                <a:cs typeface="Vintii"/>
                <a:sym typeface="Vintii"/>
              </a:rPr>
              <a:t>Dhika Muhammad Frizar (261635008)</a:t>
            </a:r>
          </a:p>
        </p:txBody>
      </p:sp>
      <p:sp>
        <p:nvSpPr>
          <p:cNvPr id="28" name="AutoShape 28"/>
          <p:cNvSpPr/>
          <p:nvPr/>
        </p:nvSpPr>
        <p:spPr>
          <a:xfrm flipV="1">
            <a:off x="15674602" y="0"/>
            <a:ext cx="2613398" cy="1028700"/>
          </a:xfrm>
          <a:prstGeom prst="line">
            <a:avLst/>
          </a:prstGeom>
          <a:ln w="76200" cap="rnd">
            <a:solidFill>
              <a:srgbClr val="9AA5DF"/>
            </a:solidFill>
            <a:prstDash val="sysDash"/>
            <a:headEnd type="none" w="sm" len="sm"/>
            <a:tailEnd type="none" w="sm" len="sm"/>
          </a:ln>
        </p:spPr>
      </p:sp>
      <p:sp>
        <p:nvSpPr>
          <p:cNvPr id="29" name="Freeform 29"/>
          <p:cNvSpPr/>
          <p:nvPr/>
        </p:nvSpPr>
        <p:spPr>
          <a:xfrm rot="-1764743">
            <a:off x="10343423" y="7749018"/>
            <a:ext cx="11652341" cy="11652341"/>
          </a:xfrm>
          <a:custGeom>
            <a:avLst/>
            <a:gdLst/>
            <a:ahLst/>
            <a:cxnLst/>
            <a:rect l="l" t="t" r="r" b="b"/>
            <a:pathLst>
              <a:path w="11652341" h="11652341">
                <a:moveTo>
                  <a:pt x="0" y="0"/>
                </a:moveTo>
                <a:lnTo>
                  <a:pt x="11652342" y="0"/>
                </a:lnTo>
                <a:lnTo>
                  <a:pt x="11652342" y="11652341"/>
                </a:lnTo>
                <a:lnTo>
                  <a:pt x="0" y="11652341"/>
                </a:lnTo>
                <a:lnTo>
                  <a:pt x="0" y="0"/>
                </a:lnTo>
                <a:close/>
              </a:path>
            </a:pathLst>
          </a:custGeom>
          <a:blipFill>
            <a:blip r:embed="rId4"/>
            <a:stretch>
              <a:fillRect/>
            </a:stretch>
          </a:blipFill>
        </p:spPr>
      </p:sp>
      <p:sp>
        <p:nvSpPr>
          <p:cNvPr id="30" name="AutoShape 30"/>
          <p:cNvSpPr/>
          <p:nvPr/>
        </p:nvSpPr>
        <p:spPr>
          <a:xfrm>
            <a:off x="15674602" y="9258300"/>
            <a:ext cx="2613398" cy="1028700"/>
          </a:xfrm>
          <a:prstGeom prst="line">
            <a:avLst/>
          </a:prstGeom>
          <a:ln w="76200" cap="rnd">
            <a:solidFill>
              <a:srgbClr val="9AA5DF"/>
            </a:solidFill>
            <a:prstDash val="sysDash"/>
            <a:headEnd type="none" w="sm" len="sm"/>
            <a:tailEnd type="none" w="sm" len="sm"/>
          </a:ln>
        </p:spPr>
      </p:sp>
      <p:sp>
        <p:nvSpPr>
          <p:cNvPr id="31" name="AutoShape 31"/>
          <p:cNvSpPr/>
          <p:nvPr/>
        </p:nvSpPr>
        <p:spPr>
          <a:xfrm flipH="1">
            <a:off x="0" y="9258300"/>
            <a:ext cx="2550140" cy="1028700"/>
          </a:xfrm>
          <a:prstGeom prst="line">
            <a:avLst/>
          </a:prstGeom>
          <a:ln w="76200" cap="rnd">
            <a:solidFill>
              <a:srgbClr val="9AA5DF"/>
            </a:solidFill>
            <a:prstDash val="sysDash"/>
            <a:headEnd type="none" w="sm" len="sm"/>
            <a:tailEnd type="none" w="sm" len="sm"/>
          </a:ln>
        </p:spPr>
      </p:sp>
      <p:sp>
        <p:nvSpPr>
          <p:cNvPr id="32" name="AutoShape 32"/>
          <p:cNvSpPr/>
          <p:nvPr/>
        </p:nvSpPr>
        <p:spPr>
          <a:xfrm flipH="1" flipV="1">
            <a:off x="0" y="0"/>
            <a:ext cx="2562741" cy="1064656"/>
          </a:xfrm>
          <a:prstGeom prst="line">
            <a:avLst/>
          </a:prstGeom>
          <a:ln w="76200" cap="rnd">
            <a:solidFill>
              <a:srgbClr val="9AA5DF"/>
            </a:solidFill>
            <a:prstDash val="sysDash"/>
            <a:headEnd type="none" w="sm" len="sm"/>
            <a:tailEnd type="none" w="sm" len="sm"/>
          </a:ln>
        </p:spPr>
      </p:sp>
      <p:sp>
        <p:nvSpPr>
          <p:cNvPr id="33" name="TextBox 33"/>
          <p:cNvSpPr txBox="1"/>
          <p:nvPr/>
        </p:nvSpPr>
        <p:spPr>
          <a:xfrm>
            <a:off x="4088340" y="7072218"/>
            <a:ext cx="10102770" cy="704059"/>
          </a:xfrm>
          <a:prstGeom prst="rect">
            <a:avLst/>
          </a:prstGeom>
        </p:spPr>
        <p:txBody>
          <a:bodyPr lIns="0" tIns="0" rIns="0" bIns="0" rtlCol="0" anchor="t">
            <a:spAutoFit/>
          </a:bodyPr>
          <a:lstStyle/>
          <a:p>
            <a:pPr algn="ctr">
              <a:lnSpc>
                <a:spcPts val="5406"/>
              </a:lnSpc>
            </a:pPr>
            <a:r>
              <a:rPr lang="en-US" sz="4914">
                <a:solidFill>
                  <a:srgbClr val="3A3E61"/>
                </a:solidFill>
                <a:latin typeface="Vintii"/>
                <a:ea typeface="Vintii"/>
                <a:cs typeface="Vintii"/>
                <a:sym typeface="Vintii"/>
              </a:rPr>
              <a:t>Domain : Peminjaman Perpustakaan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66" name="Freeform 43">
            <a:extLst>
              <a:ext uri="{FF2B5EF4-FFF2-40B4-BE49-F238E27FC236}">
                <a16:creationId xmlns:a16="http://schemas.microsoft.com/office/drawing/2014/main" id="{B7A07743-EEB6-160B-D664-40E515A4ED92}"/>
              </a:ext>
            </a:extLst>
          </p:cNvPr>
          <p:cNvSpPr/>
          <p:nvPr/>
        </p:nvSpPr>
        <p:spPr>
          <a:xfrm rot="16200000">
            <a:off x="13040316" y="-2888315"/>
            <a:ext cx="815952" cy="6878583"/>
          </a:xfrm>
          <a:custGeom>
            <a:avLst/>
            <a:gdLst/>
            <a:ahLst/>
            <a:cxnLst/>
            <a:rect l="l" t="t" r="r" b="b"/>
            <a:pathLst>
              <a:path w="1231812" h="9702854">
                <a:moveTo>
                  <a:pt x="0" y="0"/>
                </a:moveTo>
                <a:lnTo>
                  <a:pt x="1231812" y="0"/>
                </a:lnTo>
                <a:lnTo>
                  <a:pt x="1231812" y="9702854"/>
                </a:lnTo>
                <a:lnTo>
                  <a:pt x="0" y="9702854"/>
                </a:lnTo>
                <a:lnTo>
                  <a:pt x="0" y="0"/>
                </a:lnTo>
                <a:close/>
              </a:path>
            </a:pathLst>
          </a:custGeom>
          <a:blipFill>
            <a:blip r:embed="rId2"/>
            <a:stretch>
              <a:fillRect l="-152468" r="-263468"/>
            </a:stretch>
          </a:blipFill>
        </p:spPr>
      </p:sp>
      <p:sp>
        <p:nvSpPr>
          <p:cNvPr id="65" name="Freeform 43">
            <a:extLst>
              <a:ext uri="{FF2B5EF4-FFF2-40B4-BE49-F238E27FC236}">
                <a16:creationId xmlns:a16="http://schemas.microsoft.com/office/drawing/2014/main" id="{35DE5255-3704-C080-BDA8-5CABEFDAAAEA}"/>
              </a:ext>
            </a:extLst>
          </p:cNvPr>
          <p:cNvSpPr/>
          <p:nvPr/>
        </p:nvSpPr>
        <p:spPr>
          <a:xfrm rot="16200000">
            <a:off x="3620333" y="-2862817"/>
            <a:ext cx="815952" cy="6878583"/>
          </a:xfrm>
          <a:custGeom>
            <a:avLst/>
            <a:gdLst/>
            <a:ahLst/>
            <a:cxnLst/>
            <a:rect l="l" t="t" r="r" b="b"/>
            <a:pathLst>
              <a:path w="1231812" h="9702854">
                <a:moveTo>
                  <a:pt x="0" y="0"/>
                </a:moveTo>
                <a:lnTo>
                  <a:pt x="1231812" y="0"/>
                </a:lnTo>
                <a:lnTo>
                  <a:pt x="1231812" y="9702854"/>
                </a:lnTo>
                <a:lnTo>
                  <a:pt x="0" y="9702854"/>
                </a:lnTo>
                <a:lnTo>
                  <a:pt x="0" y="0"/>
                </a:lnTo>
                <a:close/>
              </a:path>
            </a:pathLst>
          </a:custGeom>
          <a:blipFill>
            <a:blip r:embed="rId2"/>
            <a:stretch>
              <a:fillRect l="-152468" r="-263468"/>
            </a:stretch>
          </a:blipFill>
        </p:spPr>
      </p:sp>
      <p:sp>
        <p:nvSpPr>
          <p:cNvPr id="2" name="AutoShape 2"/>
          <p:cNvSpPr/>
          <p:nvPr/>
        </p:nvSpPr>
        <p:spPr>
          <a:xfrm flipV="1">
            <a:off x="0" y="9296400"/>
            <a:ext cx="17698983" cy="688"/>
          </a:xfrm>
          <a:prstGeom prst="line">
            <a:avLst/>
          </a:prstGeom>
          <a:ln w="76200" cap="rnd">
            <a:solidFill>
              <a:srgbClr val="3A3E61"/>
            </a:solidFill>
            <a:prstDash val="sysDash"/>
            <a:headEnd type="none" w="sm" len="sm"/>
            <a:tailEnd type="none" w="sm" len="sm"/>
          </a:ln>
        </p:spPr>
      </p:sp>
      <p:sp>
        <p:nvSpPr>
          <p:cNvPr id="4" name="AutoShape 4"/>
          <p:cNvSpPr/>
          <p:nvPr/>
        </p:nvSpPr>
        <p:spPr>
          <a:xfrm flipV="1">
            <a:off x="0" y="1206348"/>
            <a:ext cx="17698983" cy="37413"/>
          </a:xfrm>
          <a:prstGeom prst="line">
            <a:avLst/>
          </a:prstGeom>
          <a:ln w="76200" cap="rnd">
            <a:solidFill>
              <a:srgbClr val="3A3E61"/>
            </a:solidFill>
            <a:prstDash val="sysDash"/>
            <a:headEnd type="none" w="sm" len="sm"/>
            <a:tailEnd type="none" w="sm" len="sm"/>
          </a:ln>
        </p:spPr>
      </p:sp>
      <p:grpSp>
        <p:nvGrpSpPr>
          <p:cNvPr id="5" name="Group 5"/>
          <p:cNvGrpSpPr/>
          <p:nvPr/>
        </p:nvGrpSpPr>
        <p:grpSpPr>
          <a:xfrm rot="5400000">
            <a:off x="16278923" y="534419"/>
            <a:ext cx="1420060" cy="1420060"/>
            <a:chOff x="0" y="0"/>
            <a:chExt cx="1893413" cy="1893413"/>
          </a:xfrm>
        </p:grpSpPr>
        <p:sp>
          <p:nvSpPr>
            <p:cNvPr id="6" name="Freeform 6"/>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3"/>
              <a:stretch>
                <a:fillRect/>
              </a:stretch>
            </a:blipFill>
          </p:spPr>
        </p:sp>
        <p:grpSp>
          <p:nvGrpSpPr>
            <p:cNvPr id="7" name="Group 7"/>
            <p:cNvGrpSpPr/>
            <p:nvPr/>
          </p:nvGrpSpPr>
          <p:grpSpPr>
            <a:xfrm>
              <a:off x="839799" y="527514"/>
              <a:ext cx="213816" cy="21381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0" name="Group 10"/>
            <p:cNvGrpSpPr/>
            <p:nvPr/>
          </p:nvGrpSpPr>
          <p:grpSpPr>
            <a:xfrm>
              <a:off x="839799" y="1152084"/>
              <a:ext cx="213816" cy="21381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13" name="Group 13"/>
          <p:cNvGrpSpPr/>
          <p:nvPr/>
        </p:nvGrpSpPr>
        <p:grpSpPr>
          <a:xfrm rot="5400000">
            <a:off x="16337225" y="8586370"/>
            <a:ext cx="1420060" cy="1420060"/>
            <a:chOff x="0" y="0"/>
            <a:chExt cx="1893413" cy="1893413"/>
          </a:xfrm>
        </p:grpSpPr>
        <p:sp>
          <p:nvSpPr>
            <p:cNvPr id="14" name="Freeform 14"/>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3"/>
              <a:stretch>
                <a:fillRect/>
              </a:stretch>
            </a:blipFill>
          </p:spPr>
        </p:sp>
        <p:grpSp>
          <p:nvGrpSpPr>
            <p:cNvPr id="15" name="Group 15"/>
            <p:cNvGrpSpPr/>
            <p:nvPr/>
          </p:nvGrpSpPr>
          <p:grpSpPr>
            <a:xfrm>
              <a:off x="839799" y="527514"/>
              <a:ext cx="213816" cy="213816"/>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8" name="Group 18"/>
            <p:cNvGrpSpPr/>
            <p:nvPr/>
          </p:nvGrpSpPr>
          <p:grpSpPr>
            <a:xfrm>
              <a:off x="839799" y="1152084"/>
              <a:ext cx="213816" cy="21381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21" name="Group 21"/>
          <p:cNvGrpSpPr/>
          <p:nvPr/>
        </p:nvGrpSpPr>
        <p:grpSpPr>
          <a:xfrm>
            <a:off x="16040822" y="3858660"/>
            <a:ext cx="592806" cy="2562077"/>
            <a:chOff x="0" y="0"/>
            <a:chExt cx="790408" cy="3416102"/>
          </a:xfrm>
        </p:grpSpPr>
        <p:sp>
          <p:nvSpPr>
            <p:cNvPr id="22" name="Freeform 22"/>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3" name="Freeform 23"/>
            <p:cNvSpPr/>
            <p:nvPr/>
          </p:nvSpPr>
          <p:spPr>
            <a:xfrm>
              <a:off x="31094" y="913931"/>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4" name="Freeform 24"/>
            <p:cNvSpPr/>
            <p:nvPr/>
          </p:nvSpPr>
          <p:spPr>
            <a:xfrm>
              <a:off x="62189"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5" name="Freeform 25"/>
            <p:cNvSpPr/>
            <p:nvPr/>
          </p:nvSpPr>
          <p:spPr>
            <a:xfrm>
              <a:off x="93283" y="2741793"/>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sp>
        <p:nvSpPr>
          <p:cNvPr id="26" name="Freeform 26"/>
          <p:cNvSpPr/>
          <p:nvPr/>
        </p:nvSpPr>
        <p:spPr>
          <a:xfrm>
            <a:off x="231422" y="3067818"/>
            <a:ext cx="3607579" cy="2254737"/>
          </a:xfrm>
          <a:custGeom>
            <a:avLst/>
            <a:gdLst/>
            <a:ahLst/>
            <a:cxnLst/>
            <a:rect l="l" t="t" r="r" b="b"/>
            <a:pathLst>
              <a:path w="3607579" h="2254737">
                <a:moveTo>
                  <a:pt x="0" y="0"/>
                </a:moveTo>
                <a:lnTo>
                  <a:pt x="3607579" y="0"/>
                </a:lnTo>
                <a:lnTo>
                  <a:pt x="3607579" y="2254737"/>
                </a:lnTo>
                <a:lnTo>
                  <a:pt x="0" y="2254737"/>
                </a:lnTo>
                <a:lnTo>
                  <a:pt x="0" y="0"/>
                </a:lnTo>
                <a:close/>
              </a:path>
            </a:pathLst>
          </a:custGeom>
          <a:blipFill>
            <a:blip r:embed="rId5"/>
            <a:stretch>
              <a:fillRect/>
            </a:stretch>
          </a:blipFill>
        </p:spPr>
      </p:sp>
      <p:sp>
        <p:nvSpPr>
          <p:cNvPr id="27" name="Freeform 27"/>
          <p:cNvSpPr/>
          <p:nvPr/>
        </p:nvSpPr>
        <p:spPr>
          <a:xfrm>
            <a:off x="231422" y="5973300"/>
            <a:ext cx="3607579" cy="2254737"/>
          </a:xfrm>
          <a:custGeom>
            <a:avLst/>
            <a:gdLst/>
            <a:ahLst/>
            <a:cxnLst/>
            <a:rect l="l" t="t" r="r" b="b"/>
            <a:pathLst>
              <a:path w="3607579" h="2254737">
                <a:moveTo>
                  <a:pt x="0" y="0"/>
                </a:moveTo>
                <a:lnTo>
                  <a:pt x="3607579" y="0"/>
                </a:lnTo>
                <a:lnTo>
                  <a:pt x="3607579" y="2254737"/>
                </a:lnTo>
                <a:lnTo>
                  <a:pt x="0" y="2254737"/>
                </a:lnTo>
                <a:lnTo>
                  <a:pt x="0" y="0"/>
                </a:lnTo>
                <a:close/>
              </a:path>
            </a:pathLst>
          </a:custGeom>
          <a:blipFill>
            <a:blip r:embed="rId6"/>
            <a:stretch>
              <a:fillRect/>
            </a:stretch>
          </a:blipFill>
        </p:spPr>
      </p:sp>
      <p:sp>
        <p:nvSpPr>
          <p:cNvPr id="28" name="Freeform 28"/>
          <p:cNvSpPr/>
          <p:nvPr/>
        </p:nvSpPr>
        <p:spPr>
          <a:xfrm>
            <a:off x="4425793" y="3067818"/>
            <a:ext cx="3637129" cy="2273205"/>
          </a:xfrm>
          <a:custGeom>
            <a:avLst/>
            <a:gdLst/>
            <a:ahLst/>
            <a:cxnLst/>
            <a:rect l="l" t="t" r="r" b="b"/>
            <a:pathLst>
              <a:path w="3637129" h="2273205">
                <a:moveTo>
                  <a:pt x="0" y="0"/>
                </a:moveTo>
                <a:lnTo>
                  <a:pt x="3637128" y="0"/>
                </a:lnTo>
                <a:lnTo>
                  <a:pt x="3637128" y="2273206"/>
                </a:lnTo>
                <a:lnTo>
                  <a:pt x="0" y="2273206"/>
                </a:lnTo>
                <a:lnTo>
                  <a:pt x="0" y="0"/>
                </a:lnTo>
                <a:close/>
              </a:path>
            </a:pathLst>
          </a:custGeom>
          <a:blipFill>
            <a:blip r:embed="rId7"/>
            <a:stretch>
              <a:fillRect/>
            </a:stretch>
          </a:blipFill>
        </p:spPr>
      </p:sp>
      <p:sp>
        <p:nvSpPr>
          <p:cNvPr id="29" name="Freeform 29"/>
          <p:cNvSpPr/>
          <p:nvPr/>
        </p:nvSpPr>
        <p:spPr>
          <a:xfrm>
            <a:off x="4444179" y="5973300"/>
            <a:ext cx="3618742" cy="2261714"/>
          </a:xfrm>
          <a:custGeom>
            <a:avLst/>
            <a:gdLst/>
            <a:ahLst/>
            <a:cxnLst/>
            <a:rect l="l" t="t" r="r" b="b"/>
            <a:pathLst>
              <a:path w="3618742" h="2261714">
                <a:moveTo>
                  <a:pt x="0" y="0"/>
                </a:moveTo>
                <a:lnTo>
                  <a:pt x="3618742" y="0"/>
                </a:lnTo>
                <a:lnTo>
                  <a:pt x="3618742" y="2261714"/>
                </a:lnTo>
                <a:lnTo>
                  <a:pt x="0" y="2261714"/>
                </a:lnTo>
                <a:lnTo>
                  <a:pt x="0" y="0"/>
                </a:lnTo>
                <a:close/>
              </a:path>
            </a:pathLst>
          </a:custGeom>
          <a:blipFill>
            <a:blip r:embed="rId8"/>
            <a:stretch>
              <a:fillRect/>
            </a:stretch>
          </a:blipFill>
        </p:spPr>
      </p:sp>
      <p:sp>
        <p:nvSpPr>
          <p:cNvPr id="30" name="Freeform 30"/>
          <p:cNvSpPr/>
          <p:nvPr/>
        </p:nvSpPr>
        <p:spPr>
          <a:xfrm>
            <a:off x="9671272" y="3077052"/>
            <a:ext cx="3621109" cy="2245503"/>
          </a:xfrm>
          <a:custGeom>
            <a:avLst/>
            <a:gdLst/>
            <a:ahLst/>
            <a:cxnLst/>
            <a:rect l="l" t="t" r="r" b="b"/>
            <a:pathLst>
              <a:path w="3621109" h="2245503">
                <a:moveTo>
                  <a:pt x="0" y="0"/>
                </a:moveTo>
                <a:lnTo>
                  <a:pt x="3621109" y="0"/>
                </a:lnTo>
                <a:lnTo>
                  <a:pt x="3621109" y="2245503"/>
                </a:lnTo>
                <a:lnTo>
                  <a:pt x="0" y="2245503"/>
                </a:lnTo>
                <a:lnTo>
                  <a:pt x="0" y="0"/>
                </a:lnTo>
                <a:close/>
              </a:path>
            </a:pathLst>
          </a:custGeom>
          <a:blipFill>
            <a:blip r:embed="rId9"/>
            <a:stretch>
              <a:fillRect/>
            </a:stretch>
          </a:blipFill>
        </p:spPr>
      </p:sp>
      <p:sp>
        <p:nvSpPr>
          <p:cNvPr id="31" name="Freeform 31"/>
          <p:cNvSpPr/>
          <p:nvPr/>
        </p:nvSpPr>
        <p:spPr>
          <a:xfrm>
            <a:off x="9738900" y="6130069"/>
            <a:ext cx="3485852" cy="2177977"/>
          </a:xfrm>
          <a:custGeom>
            <a:avLst/>
            <a:gdLst/>
            <a:ahLst/>
            <a:cxnLst/>
            <a:rect l="l" t="t" r="r" b="b"/>
            <a:pathLst>
              <a:path w="3485852" h="2177977">
                <a:moveTo>
                  <a:pt x="0" y="0"/>
                </a:moveTo>
                <a:lnTo>
                  <a:pt x="3485852" y="0"/>
                </a:lnTo>
                <a:lnTo>
                  <a:pt x="3485852" y="2177977"/>
                </a:lnTo>
                <a:lnTo>
                  <a:pt x="0" y="2177977"/>
                </a:lnTo>
                <a:lnTo>
                  <a:pt x="0" y="0"/>
                </a:lnTo>
                <a:close/>
              </a:path>
            </a:pathLst>
          </a:custGeom>
          <a:blipFill>
            <a:blip r:embed="rId10"/>
            <a:stretch>
              <a:fillRect/>
            </a:stretch>
          </a:blipFill>
        </p:spPr>
      </p:sp>
      <p:sp>
        <p:nvSpPr>
          <p:cNvPr id="32" name="Freeform 32"/>
          <p:cNvSpPr/>
          <p:nvPr/>
        </p:nvSpPr>
        <p:spPr>
          <a:xfrm>
            <a:off x="13967620" y="3077052"/>
            <a:ext cx="3587218" cy="2245503"/>
          </a:xfrm>
          <a:custGeom>
            <a:avLst/>
            <a:gdLst/>
            <a:ahLst/>
            <a:cxnLst/>
            <a:rect l="l" t="t" r="r" b="b"/>
            <a:pathLst>
              <a:path w="3587218" h="2245503">
                <a:moveTo>
                  <a:pt x="0" y="0"/>
                </a:moveTo>
                <a:lnTo>
                  <a:pt x="3587218" y="0"/>
                </a:lnTo>
                <a:lnTo>
                  <a:pt x="3587218" y="2245503"/>
                </a:lnTo>
                <a:lnTo>
                  <a:pt x="0" y="2245503"/>
                </a:lnTo>
                <a:lnTo>
                  <a:pt x="0" y="0"/>
                </a:lnTo>
                <a:close/>
              </a:path>
            </a:pathLst>
          </a:custGeom>
          <a:blipFill>
            <a:blip r:embed="rId11"/>
            <a:stretch>
              <a:fillRect l="-303" r="-303"/>
            </a:stretch>
          </a:blipFill>
        </p:spPr>
      </p:sp>
      <p:sp>
        <p:nvSpPr>
          <p:cNvPr id="33" name="Freeform 33"/>
          <p:cNvSpPr/>
          <p:nvPr/>
        </p:nvSpPr>
        <p:spPr>
          <a:xfrm>
            <a:off x="13967620" y="6130069"/>
            <a:ext cx="3485852" cy="2177977"/>
          </a:xfrm>
          <a:custGeom>
            <a:avLst/>
            <a:gdLst/>
            <a:ahLst/>
            <a:cxnLst/>
            <a:rect l="l" t="t" r="r" b="b"/>
            <a:pathLst>
              <a:path w="3485852" h="2177977">
                <a:moveTo>
                  <a:pt x="0" y="0"/>
                </a:moveTo>
                <a:lnTo>
                  <a:pt x="3485852" y="0"/>
                </a:lnTo>
                <a:lnTo>
                  <a:pt x="3485852" y="2177977"/>
                </a:lnTo>
                <a:lnTo>
                  <a:pt x="0" y="2177977"/>
                </a:lnTo>
                <a:lnTo>
                  <a:pt x="0" y="0"/>
                </a:lnTo>
                <a:close/>
              </a:path>
            </a:pathLst>
          </a:custGeom>
          <a:blipFill>
            <a:blip r:embed="rId12"/>
            <a:stretch>
              <a:fillRect/>
            </a:stretch>
          </a:blipFill>
        </p:spPr>
      </p:sp>
      <p:sp>
        <p:nvSpPr>
          <p:cNvPr id="34" name="TextBox 34"/>
          <p:cNvSpPr txBox="1"/>
          <p:nvPr/>
        </p:nvSpPr>
        <p:spPr>
          <a:xfrm>
            <a:off x="1028700" y="212747"/>
            <a:ext cx="5981700" cy="705321"/>
          </a:xfrm>
          <a:prstGeom prst="rect">
            <a:avLst/>
          </a:prstGeom>
        </p:spPr>
        <p:txBody>
          <a:bodyPr wrap="square" lIns="0" tIns="0" rIns="0" bIns="0" rtlCol="0" anchor="t">
            <a:spAutoFit/>
          </a:bodyPr>
          <a:lstStyle/>
          <a:p>
            <a:pPr algn="ctr">
              <a:lnSpc>
                <a:spcPts val="5499"/>
              </a:lnSpc>
            </a:pPr>
            <a:r>
              <a:rPr lang="en-US" sz="4999" dirty="0">
                <a:solidFill>
                  <a:srgbClr val="3A3E61"/>
                </a:solidFill>
                <a:latin typeface="Unique"/>
                <a:ea typeface="Unique"/>
                <a:cs typeface="Unique"/>
                <a:sym typeface="Unique"/>
              </a:rPr>
              <a:t>BUKTI MENONTON DHIKA</a:t>
            </a:r>
          </a:p>
        </p:txBody>
      </p:sp>
      <p:sp>
        <p:nvSpPr>
          <p:cNvPr id="35" name="TextBox 35"/>
          <p:cNvSpPr txBox="1"/>
          <p:nvPr/>
        </p:nvSpPr>
        <p:spPr>
          <a:xfrm>
            <a:off x="8651939" y="212747"/>
            <a:ext cx="9636061" cy="815953"/>
          </a:xfrm>
          <a:prstGeom prst="rect">
            <a:avLst/>
          </a:prstGeom>
        </p:spPr>
        <p:txBody>
          <a:bodyPr lIns="0" tIns="0" rIns="0" bIns="0" rtlCol="0" anchor="t">
            <a:spAutoFit/>
          </a:bodyPr>
          <a:lstStyle/>
          <a:p>
            <a:pPr algn="ctr">
              <a:lnSpc>
                <a:spcPts val="5499"/>
              </a:lnSpc>
            </a:pPr>
            <a:r>
              <a:rPr lang="en-US" sz="4999">
                <a:solidFill>
                  <a:srgbClr val="3A3E61"/>
                </a:solidFill>
                <a:latin typeface="Unique"/>
                <a:ea typeface="Unique"/>
                <a:cs typeface="Unique"/>
                <a:sym typeface="Unique"/>
              </a:rPr>
              <a:t>BUKTI MENONTON NABIL</a:t>
            </a:r>
          </a:p>
        </p:txBody>
      </p:sp>
      <p:sp>
        <p:nvSpPr>
          <p:cNvPr id="36" name="TextBox 36"/>
          <p:cNvSpPr txBox="1"/>
          <p:nvPr/>
        </p:nvSpPr>
        <p:spPr>
          <a:xfrm>
            <a:off x="330492" y="2442794"/>
            <a:ext cx="3409439" cy="488862"/>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VIDEO 1</a:t>
            </a:r>
          </a:p>
        </p:txBody>
      </p:sp>
      <p:sp>
        <p:nvSpPr>
          <p:cNvPr id="37" name="TextBox 37"/>
          <p:cNvSpPr txBox="1"/>
          <p:nvPr/>
        </p:nvSpPr>
        <p:spPr>
          <a:xfrm>
            <a:off x="231422" y="5389209"/>
            <a:ext cx="3409439" cy="488862"/>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39:25</a:t>
            </a:r>
          </a:p>
        </p:txBody>
      </p:sp>
      <p:sp>
        <p:nvSpPr>
          <p:cNvPr id="38" name="TextBox 38"/>
          <p:cNvSpPr txBox="1"/>
          <p:nvPr/>
        </p:nvSpPr>
        <p:spPr>
          <a:xfrm>
            <a:off x="330492" y="8199462"/>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51:19</a:t>
            </a:r>
          </a:p>
        </p:txBody>
      </p:sp>
      <p:sp>
        <p:nvSpPr>
          <p:cNvPr id="39" name="TextBox 39"/>
          <p:cNvSpPr txBox="1"/>
          <p:nvPr/>
        </p:nvSpPr>
        <p:spPr>
          <a:xfrm>
            <a:off x="4539638" y="2442794"/>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VIDEO 2</a:t>
            </a:r>
          </a:p>
        </p:txBody>
      </p:sp>
      <p:sp>
        <p:nvSpPr>
          <p:cNvPr id="40" name="TextBox 40"/>
          <p:cNvSpPr txBox="1"/>
          <p:nvPr/>
        </p:nvSpPr>
        <p:spPr>
          <a:xfrm>
            <a:off x="4539638" y="5389195"/>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01:51</a:t>
            </a:r>
          </a:p>
        </p:txBody>
      </p:sp>
      <p:sp>
        <p:nvSpPr>
          <p:cNvPr id="41" name="TextBox 41"/>
          <p:cNvSpPr txBox="1"/>
          <p:nvPr/>
        </p:nvSpPr>
        <p:spPr>
          <a:xfrm>
            <a:off x="4539638" y="8199462"/>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10:34</a:t>
            </a:r>
          </a:p>
        </p:txBody>
      </p:sp>
      <p:sp>
        <p:nvSpPr>
          <p:cNvPr id="42" name="TextBox 42"/>
          <p:cNvSpPr txBox="1"/>
          <p:nvPr/>
        </p:nvSpPr>
        <p:spPr>
          <a:xfrm>
            <a:off x="9777107" y="2442808"/>
            <a:ext cx="3409439" cy="488862"/>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VIDEO 1</a:t>
            </a:r>
          </a:p>
        </p:txBody>
      </p:sp>
      <p:sp>
        <p:nvSpPr>
          <p:cNvPr id="43" name="TextBox 43"/>
          <p:cNvSpPr txBox="1"/>
          <p:nvPr/>
        </p:nvSpPr>
        <p:spPr>
          <a:xfrm>
            <a:off x="14005827" y="2442808"/>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VIDEO 2</a:t>
            </a:r>
          </a:p>
        </p:txBody>
      </p:sp>
      <p:sp>
        <p:nvSpPr>
          <p:cNvPr id="44" name="TextBox 44"/>
          <p:cNvSpPr txBox="1"/>
          <p:nvPr/>
        </p:nvSpPr>
        <p:spPr>
          <a:xfrm>
            <a:off x="9777107" y="5389209"/>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26:15</a:t>
            </a:r>
          </a:p>
        </p:txBody>
      </p:sp>
      <p:sp>
        <p:nvSpPr>
          <p:cNvPr id="45" name="TextBox 45"/>
          <p:cNvSpPr txBox="1"/>
          <p:nvPr/>
        </p:nvSpPr>
        <p:spPr>
          <a:xfrm>
            <a:off x="9777107" y="8429612"/>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32:55</a:t>
            </a:r>
          </a:p>
        </p:txBody>
      </p:sp>
      <p:sp>
        <p:nvSpPr>
          <p:cNvPr id="46" name="TextBox 46"/>
          <p:cNvSpPr txBox="1"/>
          <p:nvPr/>
        </p:nvSpPr>
        <p:spPr>
          <a:xfrm>
            <a:off x="14056509" y="5389195"/>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06:09</a:t>
            </a:r>
          </a:p>
        </p:txBody>
      </p:sp>
      <p:sp>
        <p:nvSpPr>
          <p:cNvPr id="47" name="TextBox 47"/>
          <p:cNvSpPr txBox="1"/>
          <p:nvPr/>
        </p:nvSpPr>
        <p:spPr>
          <a:xfrm>
            <a:off x="14005827" y="8429612"/>
            <a:ext cx="3409439" cy="488876"/>
          </a:xfrm>
          <a:prstGeom prst="rect">
            <a:avLst/>
          </a:prstGeom>
        </p:spPr>
        <p:txBody>
          <a:bodyPr lIns="0" tIns="0" rIns="0" bIns="0" rtlCol="0" anchor="t">
            <a:spAutoFit/>
          </a:bodyPr>
          <a:lstStyle/>
          <a:p>
            <a:pPr algn="ctr">
              <a:lnSpc>
                <a:spcPts val="3336"/>
              </a:lnSpc>
            </a:pPr>
            <a:r>
              <a:rPr lang="en-US" sz="3032">
                <a:solidFill>
                  <a:srgbClr val="3A3E61"/>
                </a:solidFill>
                <a:latin typeface="Unique"/>
                <a:ea typeface="Unique"/>
                <a:cs typeface="Unique"/>
                <a:sym typeface="Unique"/>
              </a:rPr>
              <a:t>16:58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a:off x="13758234" y="-1180902"/>
            <a:ext cx="11580664" cy="11580664"/>
          </a:xfrm>
          <a:custGeom>
            <a:avLst/>
            <a:gdLst/>
            <a:ahLst/>
            <a:cxnLst/>
            <a:rect l="l" t="t" r="r" b="b"/>
            <a:pathLst>
              <a:path w="11580664" h="11580664">
                <a:moveTo>
                  <a:pt x="0" y="0"/>
                </a:moveTo>
                <a:lnTo>
                  <a:pt x="11580664" y="0"/>
                </a:lnTo>
                <a:lnTo>
                  <a:pt x="11580664" y="11580665"/>
                </a:lnTo>
                <a:lnTo>
                  <a:pt x="0" y="11580665"/>
                </a:lnTo>
                <a:lnTo>
                  <a:pt x="0" y="0"/>
                </a:lnTo>
                <a:close/>
              </a:path>
            </a:pathLst>
          </a:custGeom>
          <a:blipFill>
            <a:blip r:embed="rId2"/>
            <a:stretch>
              <a:fillRect/>
            </a:stretch>
          </a:blipFill>
        </p:spPr>
      </p:sp>
      <p:sp>
        <p:nvSpPr>
          <p:cNvPr id="3" name="Freeform 3"/>
          <p:cNvSpPr/>
          <p:nvPr/>
        </p:nvSpPr>
        <p:spPr>
          <a:xfrm>
            <a:off x="-7053475" y="0"/>
            <a:ext cx="11580664" cy="11580664"/>
          </a:xfrm>
          <a:custGeom>
            <a:avLst/>
            <a:gdLst/>
            <a:ahLst/>
            <a:cxnLst/>
            <a:rect l="l" t="t" r="r" b="b"/>
            <a:pathLst>
              <a:path w="11580664" h="11580664">
                <a:moveTo>
                  <a:pt x="0" y="0"/>
                </a:moveTo>
                <a:lnTo>
                  <a:pt x="11580664" y="0"/>
                </a:lnTo>
                <a:lnTo>
                  <a:pt x="11580664" y="11580664"/>
                </a:lnTo>
                <a:lnTo>
                  <a:pt x="0" y="11580664"/>
                </a:lnTo>
                <a:lnTo>
                  <a:pt x="0" y="0"/>
                </a:lnTo>
                <a:close/>
              </a:path>
            </a:pathLst>
          </a:custGeom>
          <a:blipFill>
            <a:blip r:embed="rId2"/>
            <a:stretch>
              <a:fillRect/>
            </a:stretch>
          </a:blipFill>
        </p:spPr>
      </p:sp>
      <p:sp>
        <p:nvSpPr>
          <p:cNvPr id="4" name="Freeform 4"/>
          <p:cNvSpPr/>
          <p:nvPr/>
        </p:nvSpPr>
        <p:spPr>
          <a:xfrm>
            <a:off x="1383715" y="1028700"/>
            <a:ext cx="15520570" cy="8229600"/>
          </a:xfrm>
          <a:custGeom>
            <a:avLst/>
            <a:gdLst/>
            <a:ahLst/>
            <a:cxnLst/>
            <a:rect l="l" t="t" r="r" b="b"/>
            <a:pathLst>
              <a:path w="15520570" h="8229600">
                <a:moveTo>
                  <a:pt x="0" y="0"/>
                </a:moveTo>
                <a:lnTo>
                  <a:pt x="15520570" y="0"/>
                </a:lnTo>
                <a:lnTo>
                  <a:pt x="15520570" y="8229600"/>
                </a:lnTo>
                <a:lnTo>
                  <a:pt x="0" y="8229600"/>
                </a:lnTo>
                <a:lnTo>
                  <a:pt x="0" y="0"/>
                </a:lnTo>
                <a:close/>
              </a:path>
            </a:pathLst>
          </a:custGeom>
          <a:blipFill>
            <a:blip r:embed="rId3"/>
            <a:stretch>
              <a:fillRect t="-9951" b="-15699"/>
            </a:stretch>
          </a:blipFill>
        </p:spPr>
      </p:sp>
      <p:sp>
        <p:nvSpPr>
          <p:cNvPr id="5" name="Freeform 5"/>
          <p:cNvSpPr/>
          <p:nvPr/>
        </p:nvSpPr>
        <p:spPr>
          <a:xfrm rot="-5400000">
            <a:off x="5434194" y="-2271724"/>
            <a:ext cx="7465864" cy="14813868"/>
          </a:xfrm>
          <a:custGeom>
            <a:avLst/>
            <a:gdLst/>
            <a:ahLst/>
            <a:cxnLst/>
            <a:rect l="l" t="t" r="r" b="b"/>
            <a:pathLst>
              <a:path w="7465864" h="14813868">
                <a:moveTo>
                  <a:pt x="0" y="0"/>
                </a:moveTo>
                <a:lnTo>
                  <a:pt x="7465865" y="0"/>
                </a:lnTo>
                <a:lnTo>
                  <a:pt x="7465865" y="14813868"/>
                </a:lnTo>
                <a:lnTo>
                  <a:pt x="0" y="14813868"/>
                </a:lnTo>
                <a:lnTo>
                  <a:pt x="0" y="0"/>
                </a:lnTo>
                <a:close/>
              </a:path>
            </a:pathLst>
          </a:custGeom>
          <a:blipFill>
            <a:blip r:embed="rId4"/>
            <a:stretch>
              <a:fillRect l="-29965"/>
            </a:stretch>
          </a:blipFill>
        </p:spPr>
      </p:sp>
      <p:grpSp>
        <p:nvGrpSpPr>
          <p:cNvPr id="6" name="Group 6"/>
          <p:cNvGrpSpPr/>
          <p:nvPr/>
        </p:nvGrpSpPr>
        <p:grpSpPr>
          <a:xfrm>
            <a:off x="2002909" y="1605368"/>
            <a:ext cx="14217672" cy="7011744"/>
            <a:chOff x="0" y="0"/>
            <a:chExt cx="3744572" cy="1846714"/>
          </a:xfrm>
        </p:grpSpPr>
        <p:sp>
          <p:nvSpPr>
            <p:cNvPr id="7" name="Freeform 7"/>
            <p:cNvSpPr/>
            <p:nvPr/>
          </p:nvSpPr>
          <p:spPr>
            <a:xfrm>
              <a:off x="0" y="0"/>
              <a:ext cx="3744572" cy="1846714"/>
            </a:xfrm>
            <a:custGeom>
              <a:avLst/>
              <a:gdLst/>
              <a:ahLst/>
              <a:cxnLst/>
              <a:rect l="l" t="t" r="r" b="b"/>
              <a:pathLst>
                <a:path w="3744572" h="1846714">
                  <a:moveTo>
                    <a:pt x="0" y="0"/>
                  </a:moveTo>
                  <a:lnTo>
                    <a:pt x="3744572" y="0"/>
                  </a:lnTo>
                  <a:lnTo>
                    <a:pt x="3744572" y="1846714"/>
                  </a:lnTo>
                  <a:lnTo>
                    <a:pt x="0" y="1846714"/>
                  </a:lnTo>
                  <a:close/>
                </a:path>
              </a:pathLst>
            </a:custGeom>
            <a:solidFill>
              <a:srgbClr val="FFFFFF">
                <a:alpha val="52941"/>
              </a:srgbClr>
            </a:solidFill>
          </p:spPr>
        </p:sp>
        <p:sp>
          <p:nvSpPr>
            <p:cNvPr id="8" name="TextBox 8"/>
            <p:cNvSpPr txBox="1"/>
            <p:nvPr/>
          </p:nvSpPr>
          <p:spPr>
            <a:xfrm>
              <a:off x="0" y="-47625"/>
              <a:ext cx="3744572" cy="1894339"/>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id="9" name="Group 9"/>
          <p:cNvGrpSpPr/>
          <p:nvPr/>
        </p:nvGrpSpPr>
        <p:grpSpPr>
          <a:xfrm rot="5400000">
            <a:off x="341991" y="293191"/>
            <a:ext cx="1420060" cy="1420060"/>
            <a:chOff x="0" y="0"/>
            <a:chExt cx="1893413" cy="1893413"/>
          </a:xfrm>
        </p:grpSpPr>
        <p:sp>
          <p:nvSpPr>
            <p:cNvPr id="10" name="Freeform 10"/>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11" name="Group 11"/>
            <p:cNvGrpSpPr/>
            <p:nvPr/>
          </p:nvGrpSpPr>
          <p:grpSpPr>
            <a:xfrm>
              <a:off x="839799" y="527514"/>
              <a:ext cx="213816" cy="21381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4" name="Group 14"/>
            <p:cNvGrpSpPr/>
            <p:nvPr/>
          </p:nvGrpSpPr>
          <p:grpSpPr>
            <a:xfrm>
              <a:off x="839799" y="1152084"/>
              <a:ext cx="213816" cy="21381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17" name="Group 17"/>
          <p:cNvGrpSpPr/>
          <p:nvPr/>
        </p:nvGrpSpPr>
        <p:grpSpPr>
          <a:xfrm rot="5400000">
            <a:off x="16549270" y="8548270"/>
            <a:ext cx="1420060" cy="1420060"/>
            <a:chOff x="0" y="0"/>
            <a:chExt cx="1893413" cy="1893413"/>
          </a:xfrm>
        </p:grpSpPr>
        <p:sp>
          <p:nvSpPr>
            <p:cNvPr id="18" name="Freeform 18"/>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19" name="Group 19"/>
            <p:cNvGrpSpPr/>
            <p:nvPr/>
          </p:nvGrpSpPr>
          <p:grpSpPr>
            <a:xfrm>
              <a:off x="839799" y="527514"/>
              <a:ext cx="213816" cy="2138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22" name="Group 22"/>
            <p:cNvGrpSpPr/>
            <p:nvPr/>
          </p:nvGrpSpPr>
          <p:grpSpPr>
            <a:xfrm>
              <a:off x="839799" y="1152084"/>
              <a:ext cx="213816" cy="21381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25" name="Group 25"/>
          <p:cNvGrpSpPr/>
          <p:nvPr/>
        </p:nvGrpSpPr>
        <p:grpSpPr>
          <a:xfrm>
            <a:off x="790599" y="1963635"/>
            <a:ext cx="522843" cy="5291591"/>
            <a:chOff x="0" y="0"/>
            <a:chExt cx="697124" cy="7055455"/>
          </a:xfrm>
        </p:grpSpPr>
        <p:sp>
          <p:nvSpPr>
            <p:cNvPr id="26" name="Freeform 26"/>
            <p:cNvSpPr/>
            <p:nvPr/>
          </p:nvSpPr>
          <p:spPr>
            <a:xfrm>
              <a:off x="0" y="363935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7" name="Freeform 27"/>
            <p:cNvSpPr/>
            <p:nvPr/>
          </p:nvSpPr>
          <p:spPr>
            <a:xfrm>
              <a:off x="0" y="4553284"/>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8" name="Freeform 28"/>
            <p:cNvSpPr/>
            <p:nvPr/>
          </p:nvSpPr>
          <p:spPr>
            <a:xfrm>
              <a:off x="0" y="5467215"/>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9" name="Freeform 29"/>
            <p:cNvSpPr/>
            <p:nvPr/>
          </p:nvSpPr>
          <p:spPr>
            <a:xfrm>
              <a:off x="0" y="6381146"/>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0" name="Freeform 30"/>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1" name="Freeform 31"/>
            <p:cNvSpPr/>
            <p:nvPr/>
          </p:nvSpPr>
          <p:spPr>
            <a:xfrm>
              <a:off x="0" y="913931"/>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2" name="Freeform 32"/>
            <p:cNvSpPr/>
            <p:nvPr/>
          </p:nvSpPr>
          <p:spPr>
            <a:xfrm>
              <a:off x="0"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3" name="Freeform 33"/>
            <p:cNvSpPr/>
            <p:nvPr/>
          </p:nvSpPr>
          <p:spPr>
            <a:xfrm>
              <a:off x="0" y="274179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grpSp>
        <p:nvGrpSpPr>
          <p:cNvPr id="34" name="Group 34"/>
          <p:cNvGrpSpPr/>
          <p:nvPr/>
        </p:nvGrpSpPr>
        <p:grpSpPr>
          <a:xfrm>
            <a:off x="16997878" y="2866521"/>
            <a:ext cx="522843" cy="5291591"/>
            <a:chOff x="0" y="0"/>
            <a:chExt cx="697124" cy="7055455"/>
          </a:xfrm>
        </p:grpSpPr>
        <p:sp>
          <p:nvSpPr>
            <p:cNvPr id="35" name="Freeform 35"/>
            <p:cNvSpPr/>
            <p:nvPr/>
          </p:nvSpPr>
          <p:spPr>
            <a:xfrm>
              <a:off x="0" y="363935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6" name="Freeform 36"/>
            <p:cNvSpPr/>
            <p:nvPr/>
          </p:nvSpPr>
          <p:spPr>
            <a:xfrm>
              <a:off x="0" y="4553284"/>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7" name="Freeform 37"/>
            <p:cNvSpPr/>
            <p:nvPr/>
          </p:nvSpPr>
          <p:spPr>
            <a:xfrm>
              <a:off x="0" y="5467215"/>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8" name="Freeform 38"/>
            <p:cNvSpPr/>
            <p:nvPr/>
          </p:nvSpPr>
          <p:spPr>
            <a:xfrm>
              <a:off x="0" y="6381146"/>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9" name="Freeform 39"/>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0" name="Freeform 40"/>
            <p:cNvSpPr/>
            <p:nvPr/>
          </p:nvSpPr>
          <p:spPr>
            <a:xfrm>
              <a:off x="0" y="913931"/>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0"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2" name="Freeform 42"/>
            <p:cNvSpPr/>
            <p:nvPr/>
          </p:nvSpPr>
          <p:spPr>
            <a:xfrm>
              <a:off x="0" y="274179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graphicFrame>
        <p:nvGraphicFramePr>
          <p:cNvPr id="43" name="Table 43"/>
          <p:cNvGraphicFramePr>
            <a:graphicFrameLocks noGrp="1"/>
          </p:cNvGraphicFramePr>
          <p:nvPr>
            <p:extLst>
              <p:ext uri="{D42A27DB-BD31-4B8C-83A1-F6EECF244321}">
                <p14:modId xmlns:p14="http://schemas.microsoft.com/office/powerpoint/2010/main" val="1441616187"/>
              </p:ext>
            </p:extLst>
          </p:nvPr>
        </p:nvGraphicFramePr>
        <p:xfrm>
          <a:off x="1962290" y="1691765"/>
          <a:ext cx="14191343" cy="7004487"/>
        </p:xfrm>
        <a:graphic>
          <a:graphicData uri="http://schemas.openxmlformats.org/drawingml/2006/table">
            <a:tbl>
              <a:tblPr/>
              <a:tblGrid>
                <a:gridCol w="2271841">
                  <a:extLst>
                    <a:ext uri="{9D8B030D-6E8A-4147-A177-3AD203B41FA5}">
                      <a16:colId xmlns:a16="http://schemas.microsoft.com/office/drawing/2014/main" val="20000"/>
                    </a:ext>
                  </a:extLst>
                </a:gridCol>
                <a:gridCol w="2251494">
                  <a:extLst>
                    <a:ext uri="{9D8B030D-6E8A-4147-A177-3AD203B41FA5}">
                      <a16:colId xmlns:a16="http://schemas.microsoft.com/office/drawing/2014/main" val="20001"/>
                    </a:ext>
                  </a:extLst>
                </a:gridCol>
                <a:gridCol w="4047198">
                  <a:extLst>
                    <a:ext uri="{9D8B030D-6E8A-4147-A177-3AD203B41FA5}">
                      <a16:colId xmlns:a16="http://schemas.microsoft.com/office/drawing/2014/main" val="20002"/>
                    </a:ext>
                  </a:extLst>
                </a:gridCol>
                <a:gridCol w="5620810">
                  <a:extLst>
                    <a:ext uri="{9D8B030D-6E8A-4147-A177-3AD203B41FA5}">
                      <a16:colId xmlns:a16="http://schemas.microsoft.com/office/drawing/2014/main" val="20003"/>
                    </a:ext>
                  </a:extLst>
                </a:gridCol>
              </a:tblGrid>
              <a:tr h="811314">
                <a:tc>
                  <a:txBody>
                    <a:bodyPr/>
                    <a:lstStyle/>
                    <a:p>
                      <a:pPr algn="ctr">
                        <a:lnSpc>
                          <a:spcPts val="4900"/>
                        </a:lnSpc>
                        <a:defRPr/>
                      </a:pPr>
                      <a:r>
                        <a:rPr lang="en-US" sz="3500">
                          <a:solidFill>
                            <a:srgbClr val="000000"/>
                          </a:solidFill>
                          <a:latin typeface="Marykate"/>
                          <a:ea typeface="Marykate"/>
                          <a:cs typeface="Marykate"/>
                          <a:sym typeface="Marykate"/>
                        </a:rPr>
                        <a:t>Video</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4480"/>
                        </a:lnSpc>
                        <a:defRPr/>
                      </a:pPr>
                      <a:r>
                        <a:rPr lang="en-US" sz="3200">
                          <a:solidFill>
                            <a:srgbClr val="000000"/>
                          </a:solidFill>
                          <a:latin typeface="Marykate"/>
                          <a:ea typeface="Marykate"/>
                          <a:cs typeface="Marykate"/>
                          <a:sym typeface="Marykate"/>
                        </a:rPr>
                        <a:t>Timestamp</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4865"/>
                        </a:lnSpc>
                        <a:defRPr/>
                      </a:pPr>
                      <a:r>
                        <a:rPr lang="en-US" sz="3475">
                          <a:solidFill>
                            <a:srgbClr val="000000"/>
                          </a:solidFill>
                          <a:latin typeface="Marykate"/>
                          <a:ea typeface="Marykate"/>
                          <a:cs typeface="Marykate"/>
                          <a:sym typeface="Marykate"/>
                        </a:rPr>
                        <a:t>Parafrase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745"/>
                        </a:lnSpc>
                        <a:defRPr/>
                      </a:pPr>
                      <a:r>
                        <a:rPr lang="en-US" sz="2675">
                          <a:solidFill>
                            <a:srgbClr val="000000"/>
                          </a:solidFill>
                          <a:latin typeface="Marykate"/>
                          <a:ea typeface="Marykate"/>
                          <a:cs typeface="Marykate"/>
                          <a:sym typeface="Marykate"/>
                        </a:rPr>
                        <a:t>Konsep yang Dibahas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1645559">
                <a:tc>
                  <a:txBody>
                    <a:bodyPr/>
                    <a:lstStyle/>
                    <a:p>
                      <a:pPr algn="ctr">
                        <a:lnSpc>
                          <a:spcPts val="3605"/>
                        </a:lnSpc>
                        <a:defRPr/>
                      </a:pPr>
                      <a:r>
                        <a:rPr lang="en-US" sz="2575">
                          <a:solidFill>
                            <a:srgbClr val="000000"/>
                          </a:solidFill>
                          <a:latin typeface="Marykate"/>
                          <a:ea typeface="Marykate"/>
                          <a:cs typeface="Marykate"/>
                          <a:sym typeface="Marykate"/>
                        </a:rPr>
                        <a:t>Video 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dirty="0">
                          <a:solidFill>
                            <a:srgbClr val="000000"/>
                          </a:solidFill>
                          <a:latin typeface="Marykate"/>
                          <a:ea typeface="Marykate"/>
                          <a:cs typeface="Marykate"/>
                          <a:sym typeface="Marykate"/>
                        </a:rPr>
                        <a:t>39:25</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Sistem AI bisa menarik kesimpulan dengan dua cara, yaitu maju dari fakta ke tujuan (forward) atau mundur dari tujuan untuk mencari fakta pendukung (backward). </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Dua metode penalaran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1645559">
                <a:tc>
                  <a:txBody>
                    <a:bodyPr/>
                    <a:lstStyle/>
                    <a:p>
                      <a:pPr algn="ctr">
                        <a:lnSpc>
                          <a:spcPts val="3605"/>
                        </a:lnSpc>
                        <a:defRPr/>
                      </a:pPr>
                      <a:r>
                        <a:rPr lang="en-US" sz="2575">
                          <a:solidFill>
                            <a:srgbClr val="000000"/>
                          </a:solidFill>
                          <a:latin typeface="Marykate"/>
                          <a:ea typeface="Marykate"/>
                          <a:cs typeface="Marykate"/>
                          <a:sym typeface="Marykate"/>
                        </a:rPr>
                        <a:t>Video 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51:19</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Pengetahuan bisa digambarkan secara visual memakai grafik, di mana objek menjadi titik (node) dan garis (arch) menunjukkan hubungan antar objeknya.</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Jaringan Semantik</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1377037">
                <a:tc>
                  <a:txBody>
                    <a:bodyPr/>
                    <a:lstStyle/>
                    <a:p>
                      <a:pPr algn="ctr">
                        <a:lnSpc>
                          <a:spcPts val="3605"/>
                        </a:lnSpc>
                        <a:defRPr/>
                      </a:pPr>
                      <a:r>
                        <a:rPr lang="en-US" sz="2575">
                          <a:solidFill>
                            <a:srgbClr val="000000"/>
                          </a:solidFill>
                          <a:latin typeface="Marykate"/>
                          <a:ea typeface="Marykate"/>
                          <a:cs typeface="Marykate"/>
                          <a:sym typeface="Marykate"/>
                        </a:rPr>
                        <a:t>Video 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01:51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Pengetahuan yang dimasukkan ke AI dibagi dua, yaitu deklaratif yang berisi kumpulan fakta, dan prosedural yang berisi langkah-langkah atau aksi.</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a:solidFill>
                            <a:srgbClr val="000000"/>
                          </a:solidFill>
                          <a:latin typeface="Marykate"/>
                          <a:ea typeface="Marykate"/>
                          <a:cs typeface="Marykate"/>
                          <a:sym typeface="Marykate"/>
                        </a:rPr>
                        <a:t>Skema Representasi Pengetahuan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r h="1377037">
                <a:tc>
                  <a:txBody>
                    <a:bodyPr/>
                    <a:lstStyle/>
                    <a:p>
                      <a:pPr algn="ctr">
                        <a:lnSpc>
                          <a:spcPts val="3605"/>
                        </a:lnSpc>
                        <a:defRPr/>
                      </a:pPr>
                      <a:r>
                        <a:rPr lang="en-US" sz="2575">
                          <a:solidFill>
                            <a:srgbClr val="000000"/>
                          </a:solidFill>
                          <a:latin typeface="Marykate"/>
                          <a:ea typeface="Marykate"/>
                          <a:cs typeface="Marykate"/>
                          <a:sym typeface="Marykate"/>
                        </a:rPr>
                        <a:t>Video 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10:34</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Logika predikat membedah sebuah pernyataan menjadi objek dan karakteristiknya, sehingga jauh lebih detail dari logika proposisi.</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dirty="0">
                          <a:solidFill>
                            <a:srgbClr val="000000"/>
                          </a:solidFill>
                          <a:latin typeface="Marykate"/>
                          <a:ea typeface="Marykate"/>
                          <a:cs typeface="Marykate"/>
                          <a:sym typeface="Marykate"/>
                        </a:rPr>
                        <a:t>Logika </a:t>
                      </a:r>
                      <a:r>
                        <a:rPr lang="en-US" sz="2575" dirty="0" err="1">
                          <a:solidFill>
                            <a:srgbClr val="000000"/>
                          </a:solidFill>
                          <a:latin typeface="Marykate"/>
                          <a:ea typeface="Marykate"/>
                          <a:cs typeface="Marykate"/>
                          <a:sym typeface="Marykate"/>
                        </a:rPr>
                        <a:t>Predikat</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4" name="TextBox 44"/>
          <p:cNvSpPr txBox="1"/>
          <p:nvPr/>
        </p:nvSpPr>
        <p:spPr>
          <a:xfrm>
            <a:off x="5352993" y="181715"/>
            <a:ext cx="7628267"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Timestamp dhika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a:off x="13758234" y="-1180902"/>
            <a:ext cx="11580664" cy="11580664"/>
          </a:xfrm>
          <a:custGeom>
            <a:avLst/>
            <a:gdLst/>
            <a:ahLst/>
            <a:cxnLst/>
            <a:rect l="l" t="t" r="r" b="b"/>
            <a:pathLst>
              <a:path w="11580664" h="11580664">
                <a:moveTo>
                  <a:pt x="0" y="0"/>
                </a:moveTo>
                <a:lnTo>
                  <a:pt x="11580664" y="0"/>
                </a:lnTo>
                <a:lnTo>
                  <a:pt x="11580664" y="11580665"/>
                </a:lnTo>
                <a:lnTo>
                  <a:pt x="0" y="11580665"/>
                </a:lnTo>
                <a:lnTo>
                  <a:pt x="0" y="0"/>
                </a:lnTo>
                <a:close/>
              </a:path>
            </a:pathLst>
          </a:custGeom>
          <a:blipFill>
            <a:blip r:embed="rId2"/>
            <a:stretch>
              <a:fillRect/>
            </a:stretch>
          </a:blipFill>
        </p:spPr>
      </p:sp>
      <p:sp>
        <p:nvSpPr>
          <p:cNvPr id="3" name="Freeform 3"/>
          <p:cNvSpPr/>
          <p:nvPr/>
        </p:nvSpPr>
        <p:spPr>
          <a:xfrm>
            <a:off x="-7053475" y="0"/>
            <a:ext cx="11580664" cy="11580664"/>
          </a:xfrm>
          <a:custGeom>
            <a:avLst/>
            <a:gdLst/>
            <a:ahLst/>
            <a:cxnLst/>
            <a:rect l="l" t="t" r="r" b="b"/>
            <a:pathLst>
              <a:path w="11580664" h="11580664">
                <a:moveTo>
                  <a:pt x="0" y="0"/>
                </a:moveTo>
                <a:lnTo>
                  <a:pt x="11580664" y="0"/>
                </a:lnTo>
                <a:lnTo>
                  <a:pt x="11580664" y="11580664"/>
                </a:lnTo>
                <a:lnTo>
                  <a:pt x="0" y="11580664"/>
                </a:lnTo>
                <a:lnTo>
                  <a:pt x="0" y="0"/>
                </a:lnTo>
                <a:close/>
              </a:path>
            </a:pathLst>
          </a:custGeom>
          <a:blipFill>
            <a:blip r:embed="rId2"/>
            <a:stretch>
              <a:fillRect/>
            </a:stretch>
          </a:blipFill>
        </p:spPr>
      </p:sp>
      <p:sp>
        <p:nvSpPr>
          <p:cNvPr id="4" name="Freeform 4"/>
          <p:cNvSpPr/>
          <p:nvPr/>
        </p:nvSpPr>
        <p:spPr>
          <a:xfrm>
            <a:off x="1383715" y="1028700"/>
            <a:ext cx="15520570" cy="8229600"/>
          </a:xfrm>
          <a:custGeom>
            <a:avLst/>
            <a:gdLst/>
            <a:ahLst/>
            <a:cxnLst/>
            <a:rect l="l" t="t" r="r" b="b"/>
            <a:pathLst>
              <a:path w="15520570" h="8229600">
                <a:moveTo>
                  <a:pt x="0" y="0"/>
                </a:moveTo>
                <a:lnTo>
                  <a:pt x="15520570" y="0"/>
                </a:lnTo>
                <a:lnTo>
                  <a:pt x="15520570" y="8229600"/>
                </a:lnTo>
                <a:lnTo>
                  <a:pt x="0" y="8229600"/>
                </a:lnTo>
                <a:lnTo>
                  <a:pt x="0" y="0"/>
                </a:lnTo>
                <a:close/>
              </a:path>
            </a:pathLst>
          </a:custGeom>
          <a:blipFill>
            <a:blip r:embed="rId3"/>
            <a:stretch>
              <a:fillRect t="-9951" b="-15699"/>
            </a:stretch>
          </a:blipFill>
        </p:spPr>
      </p:sp>
      <p:sp>
        <p:nvSpPr>
          <p:cNvPr id="5" name="Freeform 5"/>
          <p:cNvSpPr/>
          <p:nvPr/>
        </p:nvSpPr>
        <p:spPr>
          <a:xfrm rot="-5400000">
            <a:off x="5434194" y="-2271724"/>
            <a:ext cx="7465864" cy="14813868"/>
          </a:xfrm>
          <a:custGeom>
            <a:avLst/>
            <a:gdLst/>
            <a:ahLst/>
            <a:cxnLst/>
            <a:rect l="l" t="t" r="r" b="b"/>
            <a:pathLst>
              <a:path w="7465864" h="14813868">
                <a:moveTo>
                  <a:pt x="0" y="0"/>
                </a:moveTo>
                <a:lnTo>
                  <a:pt x="7465865" y="0"/>
                </a:lnTo>
                <a:lnTo>
                  <a:pt x="7465865" y="14813868"/>
                </a:lnTo>
                <a:lnTo>
                  <a:pt x="0" y="14813868"/>
                </a:lnTo>
                <a:lnTo>
                  <a:pt x="0" y="0"/>
                </a:lnTo>
                <a:close/>
              </a:path>
            </a:pathLst>
          </a:custGeom>
          <a:blipFill>
            <a:blip r:embed="rId4"/>
            <a:stretch>
              <a:fillRect l="-29965"/>
            </a:stretch>
          </a:blipFill>
        </p:spPr>
      </p:sp>
      <p:grpSp>
        <p:nvGrpSpPr>
          <p:cNvPr id="6" name="Group 6"/>
          <p:cNvGrpSpPr/>
          <p:nvPr/>
        </p:nvGrpSpPr>
        <p:grpSpPr>
          <a:xfrm>
            <a:off x="2002909" y="1605368"/>
            <a:ext cx="14217672" cy="7011744"/>
            <a:chOff x="0" y="0"/>
            <a:chExt cx="3744572" cy="1846714"/>
          </a:xfrm>
        </p:grpSpPr>
        <p:sp>
          <p:nvSpPr>
            <p:cNvPr id="7" name="Freeform 7"/>
            <p:cNvSpPr/>
            <p:nvPr/>
          </p:nvSpPr>
          <p:spPr>
            <a:xfrm>
              <a:off x="0" y="0"/>
              <a:ext cx="3744572" cy="1846714"/>
            </a:xfrm>
            <a:custGeom>
              <a:avLst/>
              <a:gdLst/>
              <a:ahLst/>
              <a:cxnLst/>
              <a:rect l="l" t="t" r="r" b="b"/>
              <a:pathLst>
                <a:path w="3744572" h="1846714">
                  <a:moveTo>
                    <a:pt x="0" y="0"/>
                  </a:moveTo>
                  <a:lnTo>
                    <a:pt x="3744572" y="0"/>
                  </a:lnTo>
                  <a:lnTo>
                    <a:pt x="3744572" y="1846714"/>
                  </a:lnTo>
                  <a:lnTo>
                    <a:pt x="0" y="1846714"/>
                  </a:lnTo>
                  <a:close/>
                </a:path>
              </a:pathLst>
            </a:custGeom>
            <a:solidFill>
              <a:srgbClr val="FFFFFF">
                <a:alpha val="52941"/>
              </a:srgbClr>
            </a:solidFill>
          </p:spPr>
        </p:sp>
        <p:sp>
          <p:nvSpPr>
            <p:cNvPr id="8" name="TextBox 8"/>
            <p:cNvSpPr txBox="1"/>
            <p:nvPr/>
          </p:nvSpPr>
          <p:spPr>
            <a:xfrm>
              <a:off x="0" y="-47625"/>
              <a:ext cx="3744572" cy="1894339"/>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id="9" name="Group 9"/>
          <p:cNvGrpSpPr/>
          <p:nvPr/>
        </p:nvGrpSpPr>
        <p:grpSpPr>
          <a:xfrm rot="5400000">
            <a:off x="341991" y="293191"/>
            <a:ext cx="1420060" cy="1420060"/>
            <a:chOff x="0" y="0"/>
            <a:chExt cx="1893413" cy="1893413"/>
          </a:xfrm>
        </p:grpSpPr>
        <p:sp>
          <p:nvSpPr>
            <p:cNvPr id="10" name="Freeform 10"/>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11" name="Group 11"/>
            <p:cNvGrpSpPr/>
            <p:nvPr/>
          </p:nvGrpSpPr>
          <p:grpSpPr>
            <a:xfrm>
              <a:off x="839799" y="527514"/>
              <a:ext cx="213816" cy="21381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4" name="Group 14"/>
            <p:cNvGrpSpPr/>
            <p:nvPr/>
          </p:nvGrpSpPr>
          <p:grpSpPr>
            <a:xfrm>
              <a:off x="839799" y="1152084"/>
              <a:ext cx="213816" cy="21381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17" name="Group 17"/>
          <p:cNvGrpSpPr/>
          <p:nvPr/>
        </p:nvGrpSpPr>
        <p:grpSpPr>
          <a:xfrm rot="5400000">
            <a:off x="16549270" y="8548270"/>
            <a:ext cx="1420060" cy="1420060"/>
            <a:chOff x="0" y="0"/>
            <a:chExt cx="1893413" cy="1893413"/>
          </a:xfrm>
        </p:grpSpPr>
        <p:sp>
          <p:nvSpPr>
            <p:cNvPr id="18" name="Freeform 18"/>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5"/>
              <a:stretch>
                <a:fillRect/>
              </a:stretch>
            </a:blipFill>
          </p:spPr>
        </p:sp>
        <p:grpSp>
          <p:nvGrpSpPr>
            <p:cNvPr id="19" name="Group 19"/>
            <p:cNvGrpSpPr/>
            <p:nvPr/>
          </p:nvGrpSpPr>
          <p:grpSpPr>
            <a:xfrm>
              <a:off x="839799" y="527514"/>
              <a:ext cx="213816" cy="2138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22" name="Group 22"/>
            <p:cNvGrpSpPr/>
            <p:nvPr/>
          </p:nvGrpSpPr>
          <p:grpSpPr>
            <a:xfrm>
              <a:off x="839799" y="1152084"/>
              <a:ext cx="213816" cy="21381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grpSp>
        <p:nvGrpSpPr>
          <p:cNvPr id="25" name="Group 25"/>
          <p:cNvGrpSpPr/>
          <p:nvPr/>
        </p:nvGrpSpPr>
        <p:grpSpPr>
          <a:xfrm>
            <a:off x="790599" y="1963635"/>
            <a:ext cx="522843" cy="5291591"/>
            <a:chOff x="0" y="0"/>
            <a:chExt cx="697124" cy="7055455"/>
          </a:xfrm>
        </p:grpSpPr>
        <p:sp>
          <p:nvSpPr>
            <p:cNvPr id="26" name="Freeform 26"/>
            <p:cNvSpPr/>
            <p:nvPr/>
          </p:nvSpPr>
          <p:spPr>
            <a:xfrm>
              <a:off x="0" y="363935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7" name="Freeform 27"/>
            <p:cNvSpPr/>
            <p:nvPr/>
          </p:nvSpPr>
          <p:spPr>
            <a:xfrm>
              <a:off x="0" y="4553284"/>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8" name="Freeform 28"/>
            <p:cNvSpPr/>
            <p:nvPr/>
          </p:nvSpPr>
          <p:spPr>
            <a:xfrm>
              <a:off x="0" y="5467215"/>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9" name="Freeform 29"/>
            <p:cNvSpPr/>
            <p:nvPr/>
          </p:nvSpPr>
          <p:spPr>
            <a:xfrm>
              <a:off x="0" y="6381146"/>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0" name="Freeform 30"/>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1" name="Freeform 31"/>
            <p:cNvSpPr/>
            <p:nvPr/>
          </p:nvSpPr>
          <p:spPr>
            <a:xfrm>
              <a:off x="0" y="913931"/>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2" name="Freeform 32"/>
            <p:cNvSpPr/>
            <p:nvPr/>
          </p:nvSpPr>
          <p:spPr>
            <a:xfrm>
              <a:off x="0"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3" name="Freeform 33"/>
            <p:cNvSpPr/>
            <p:nvPr/>
          </p:nvSpPr>
          <p:spPr>
            <a:xfrm>
              <a:off x="0" y="274179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grpSp>
        <p:nvGrpSpPr>
          <p:cNvPr id="34" name="Group 34"/>
          <p:cNvGrpSpPr/>
          <p:nvPr/>
        </p:nvGrpSpPr>
        <p:grpSpPr>
          <a:xfrm>
            <a:off x="16997878" y="2866521"/>
            <a:ext cx="522843" cy="5291591"/>
            <a:chOff x="0" y="0"/>
            <a:chExt cx="697124" cy="7055455"/>
          </a:xfrm>
        </p:grpSpPr>
        <p:sp>
          <p:nvSpPr>
            <p:cNvPr id="35" name="Freeform 35"/>
            <p:cNvSpPr/>
            <p:nvPr/>
          </p:nvSpPr>
          <p:spPr>
            <a:xfrm>
              <a:off x="0" y="363935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6" name="Freeform 36"/>
            <p:cNvSpPr/>
            <p:nvPr/>
          </p:nvSpPr>
          <p:spPr>
            <a:xfrm>
              <a:off x="0" y="4553284"/>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7" name="Freeform 37"/>
            <p:cNvSpPr/>
            <p:nvPr/>
          </p:nvSpPr>
          <p:spPr>
            <a:xfrm>
              <a:off x="0" y="5467215"/>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8" name="Freeform 38"/>
            <p:cNvSpPr/>
            <p:nvPr/>
          </p:nvSpPr>
          <p:spPr>
            <a:xfrm>
              <a:off x="0" y="6381146"/>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9" name="Freeform 39"/>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0" name="Freeform 40"/>
            <p:cNvSpPr/>
            <p:nvPr/>
          </p:nvSpPr>
          <p:spPr>
            <a:xfrm>
              <a:off x="0" y="913931"/>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0"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2" name="Freeform 42"/>
            <p:cNvSpPr/>
            <p:nvPr/>
          </p:nvSpPr>
          <p:spPr>
            <a:xfrm>
              <a:off x="0" y="2741793"/>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graphicFrame>
        <p:nvGraphicFramePr>
          <p:cNvPr id="43" name="Table 43"/>
          <p:cNvGraphicFramePr>
            <a:graphicFrameLocks noGrp="1"/>
          </p:cNvGraphicFramePr>
          <p:nvPr>
            <p:extLst>
              <p:ext uri="{D42A27DB-BD31-4B8C-83A1-F6EECF244321}">
                <p14:modId xmlns:p14="http://schemas.microsoft.com/office/powerpoint/2010/main" val="792478651"/>
              </p:ext>
            </p:extLst>
          </p:nvPr>
        </p:nvGraphicFramePr>
        <p:xfrm>
          <a:off x="1962289" y="1605368"/>
          <a:ext cx="14217672" cy="7011743"/>
        </p:xfrm>
        <a:graphic>
          <a:graphicData uri="http://schemas.openxmlformats.org/drawingml/2006/table">
            <a:tbl>
              <a:tblPr/>
              <a:tblGrid>
                <a:gridCol w="2276056">
                  <a:extLst>
                    <a:ext uri="{9D8B030D-6E8A-4147-A177-3AD203B41FA5}">
                      <a16:colId xmlns:a16="http://schemas.microsoft.com/office/drawing/2014/main" val="20000"/>
                    </a:ext>
                  </a:extLst>
                </a:gridCol>
                <a:gridCol w="2255672">
                  <a:extLst>
                    <a:ext uri="{9D8B030D-6E8A-4147-A177-3AD203B41FA5}">
                      <a16:colId xmlns:a16="http://schemas.microsoft.com/office/drawing/2014/main" val="20001"/>
                    </a:ext>
                  </a:extLst>
                </a:gridCol>
                <a:gridCol w="4054706">
                  <a:extLst>
                    <a:ext uri="{9D8B030D-6E8A-4147-A177-3AD203B41FA5}">
                      <a16:colId xmlns:a16="http://schemas.microsoft.com/office/drawing/2014/main" val="20002"/>
                    </a:ext>
                  </a:extLst>
                </a:gridCol>
                <a:gridCol w="5631238">
                  <a:extLst>
                    <a:ext uri="{9D8B030D-6E8A-4147-A177-3AD203B41FA5}">
                      <a16:colId xmlns:a16="http://schemas.microsoft.com/office/drawing/2014/main" val="20003"/>
                    </a:ext>
                  </a:extLst>
                </a:gridCol>
              </a:tblGrid>
              <a:tr h="1313197">
                <a:tc>
                  <a:txBody>
                    <a:bodyPr/>
                    <a:lstStyle/>
                    <a:p>
                      <a:pPr algn="ctr">
                        <a:lnSpc>
                          <a:spcPts val="4900"/>
                        </a:lnSpc>
                        <a:defRPr/>
                      </a:pPr>
                      <a:r>
                        <a:rPr lang="en-US" sz="3500">
                          <a:solidFill>
                            <a:srgbClr val="000000"/>
                          </a:solidFill>
                          <a:latin typeface="Marykate"/>
                          <a:ea typeface="Marykate"/>
                          <a:cs typeface="Marykate"/>
                          <a:sym typeface="Marykate"/>
                        </a:rPr>
                        <a:t>Video</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4480"/>
                        </a:lnSpc>
                        <a:defRPr/>
                      </a:pPr>
                      <a:r>
                        <a:rPr lang="en-US" sz="3200">
                          <a:solidFill>
                            <a:srgbClr val="000000"/>
                          </a:solidFill>
                          <a:latin typeface="Marykate"/>
                          <a:ea typeface="Marykate"/>
                          <a:cs typeface="Marykate"/>
                          <a:sym typeface="Marykate"/>
                        </a:rPr>
                        <a:t>Timestamp</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745"/>
                        </a:lnSpc>
                        <a:defRPr/>
                      </a:pPr>
                      <a:r>
                        <a:rPr lang="en-US" sz="2675" dirty="0" err="1">
                          <a:solidFill>
                            <a:srgbClr val="000000"/>
                          </a:solidFill>
                          <a:latin typeface="Marykate"/>
                          <a:ea typeface="Marykate"/>
                          <a:cs typeface="Marykate"/>
                          <a:sym typeface="Marykate"/>
                        </a:rPr>
                        <a:t>Konsep</a:t>
                      </a:r>
                      <a:r>
                        <a:rPr lang="en-US" sz="2675" dirty="0">
                          <a:solidFill>
                            <a:srgbClr val="000000"/>
                          </a:solidFill>
                          <a:latin typeface="Marykate"/>
                          <a:ea typeface="Marykate"/>
                          <a:cs typeface="Marykate"/>
                          <a:sym typeface="Marykate"/>
                        </a:rPr>
                        <a:t> yang </a:t>
                      </a:r>
                      <a:r>
                        <a:rPr lang="en-US" sz="2675" dirty="0" err="1">
                          <a:solidFill>
                            <a:srgbClr val="000000"/>
                          </a:solidFill>
                          <a:latin typeface="Marykate"/>
                          <a:ea typeface="Marykate"/>
                          <a:cs typeface="Marykate"/>
                          <a:sym typeface="Marykate"/>
                        </a:rPr>
                        <a:t>Dibahas</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4865"/>
                        </a:lnSpc>
                        <a:defRPr/>
                      </a:pPr>
                      <a:r>
                        <a:rPr lang="en-US" sz="3475">
                          <a:solidFill>
                            <a:srgbClr val="000000"/>
                          </a:solidFill>
                          <a:latin typeface="Marykate"/>
                          <a:ea typeface="Marykate"/>
                          <a:cs typeface="Marykate"/>
                          <a:sym typeface="Marykate"/>
                        </a:rPr>
                        <a:t>Parafrase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1722817">
                <a:tc>
                  <a:txBody>
                    <a:bodyPr/>
                    <a:lstStyle/>
                    <a:p>
                      <a:pPr algn="ctr">
                        <a:lnSpc>
                          <a:spcPts val="3605"/>
                        </a:lnSpc>
                        <a:defRPr/>
                      </a:pPr>
                      <a:r>
                        <a:rPr lang="en-US" sz="2575">
                          <a:solidFill>
                            <a:srgbClr val="000000"/>
                          </a:solidFill>
                          <a:latin typeface="Marykate"/>
                          <a:ea typeface="Marykate"/>
                          <a:cs typeface="Marykate"/>
                          <a:sym typeface="Marykate"/>
                        </a:rPr>
                        <a:t>Video 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a:solidFill>
                            <a:srgbClr val="000000"/>
                          </a:solidFill>
                          <a:latin typeface="Marykate"/>
                          <a:ea typeface="Marykate"/>
                          <a:cs typeface="Marykate"/>
                          <a:sym typeface="Marykate"/>
                        </a:rPr>
                        <a:t>26:15</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Dua bagian dasar AI </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Sistem AI ibarat otak yang butuh dua hal utama: tempat menyimpan fakta (basis pengetahuan) dan mesin penggerak untuk berpikir (mesin inferensi).</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1325243">
                <a:tc>
                  <a:txBody>
                    <a:bodyPr/>
                    <a:lstStyle/>
                    <a:p>
                      <a:pPr algn="ctr">
                        <a:lnSpc>
                          <a:spcPts val="3605"/>
                        </a:lnSpc>
                        <a:defRPr/>
                      </a:pPr>
                      <a:r>
                        <a:rPr lang="en-US" sz="2575">
                          <a:solidFill>
                            <a:srgbClr val="000000"/>
                          </a:solidFill>
                          <a:latin typeface="Marykate"/>
                          <a:ea typeface="Marykate"/>
                          <a:cs typeface="Marykate"/>
                          <a:sym typeface="Marykate"/>
                        </a:rPr>
                        <a:t>Video 1</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32:56</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Prosedural reasoning </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Salah satu cara AI bernalar adalah menggunakan aturan sebab-akibat sederhana, yaitu IF-THEN.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1325243">
                <a:tc>
                  <a:txBody>
                    <a:bodyPr/>
                    <a:lstStyle/>
                    <a:p>
                      <a:pPr algn="ctr">
                        <a:lnSpc>
                          <a:spcPts val="3605"/>
                        </a:lnSpc>
                        <a:defRPr/>
                      </a:pPr>
                      <a:r>
                        <a:rPr lang="en-US" sz="2575">
                          <a:solidFill>
                            <a:srgbClr val="000000"/>
                          </a:solidFill>
                          <a:latin typeface="Marykate"/>
                          <a:ea typeface="Marykate"/>
                          <a:cs typeface="Marykate"/>
                          <a:sym typeface="Marykate"/>
                        </a:rPr>
                        <a:t>Video 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06:09</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a:solidFill>
                            <a:srgbClr val="000000"/>
                          </a:solidFill>
                          <a:latin typeface="Marykate"/>
                          <a:ea typeface="Marykate"/>
                          <a:cs typeface="Marykate"/>
                          <a:sym typeface="Marykate"/>
                        </a:rPr>
                        <a:t>Logika Proposisional</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a:solidFill>
                            <a:srgbClr val="000000"/>
                          </a:solidFill>
                          <a:latin typeface="Marykate"/>
                          <a:ea typeface="Marykate"/>
                          <a:cs typeface="Marykate"/>
                          <a:sym typeface="Marykate"/>
                        </a:rPr>
                        <a:t>Logika proposisi berfokus pada pernyataan sederhana yang jawabannya mutlak antara benar atau salah.</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r h="1325243">
                <a:tc>
                  <a:txBody>
                    <a:bodyPr/>
                    <a:lstStyle/>
                    <a:p>
                      <a:pPr algn="ctr">
                        <a:lnSpc>
                          <a:spcPts val="3605"/>
                        </a:lnSpc>
                        <a:defRPr/>
                      </a:pPr>
                      <a:r>
                        <a:rPr lang="en-US" sz="2575">
                          <a:solidFill>
                            <a:srgbClr val="000000"/>
                          </a:solidFill>
                          <a:latin typeface="Marykate"/>
                          <a:ea typeface="Marykate"/>
                          <a:cs typeface="Marykate"/>
                          <a:sym typeface="Marykate"/>
                        </a:rPr>
                        <a:t>Video 2</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Marykate"/>
                          <a:ea typeface="Marykate"/>
                          <a:cs typeface="Marykate"/>
                          <a:sym typeface="Marykate"/>
                        </a:rPr>
                        <a:t>16:58</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605"/>
                        </a:lnSpc>
                        <a:defRPr/>
                      </a:pPr>
                      <a:r>
                        <a:rPr lang="en-US" sz="2575">
                          <a:solidFill>
                            <a:srgbClr val="000000"/>
                          </a:solidFill>
                          <a:latin typeface="Marykate"/>
                          <a:ea typeface="Marykate"/>
                          <a:cs typeface="Marykate"/>
                          <a:sym typeface="Marykate"/>
                        </a:rPr>
                        <a:t>Kaidah manipulasi logika </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2485"/>
                        </a:lnSpc>
                        <a:defRPr/>
                      </a:pPr>
                      <a:r>
                        <a:rPr lang="en-US" sz="1775" dirty="0">
                          <a:solidFill>
                            <a:srgbClr val="000000"/>
                          </a:solidFill>
                          <a:latin typeface="Marykate"/>
                          <a:ea typeface="Marykate"/>
                          <a:cs typeface="Marykate"/>
                          <a:sym typeface="Marykate"/>
                        </a:rPr>
                        <a:t>Agar </a:t>
                      </a:r>
                      <a:r>
                        <a:rPr lang="en-US" sz="1775" dirty="0" err="1">
                          <a:solidFill>
                            <a:srgbClr val="000000"/>
                          </a:solidFill>
                          <a:latin typeface="Marykate"/>
                          <a:ea typeface="Marykate"/>
                          <a:cs typeface="Marykate"/>
                          <a:sym typeface="Marykate"/>
                        </a:rPr>
                        <a:t>kesimpulan</a:t>
                      </a:r>
                      <a:r>
                        <a:rPr lang="en-US" sz="1775" dirty="0">
                          <a:solidFill>
                            <a:srgbClr val="000000"/>
                          </a:solidFill>
                          <a:latin typeface="Marykate"/>
                          <a:ea typeface="Marykate"/>
                          <a:cs typeface="Marykate"/>
                          <a:sym typeface="Marykate"/>
                        </a:rPr>
                        <a:t> yang </a:t>
                      </a:r>
                      <a:r>
                        <a:rPr lang="en-US" sz="1775" dirty="0" err="1">
                          <a:solidFill>
                            <a:srgbClr val="000000"/>
                          </a:solidFill>
                          <a:latin typeface="Marykate"/>
                          <a:ea typeface="Marykate"/>
                          <a:cs typeface="Marykate"/>
                          <a:sym typeface="Marykate"/>
                        </a:rPr>
                        <a:t>dihasilkan</a:t>
                      </a:r>
                      <a:r>
                        <a:rPr lang="en-US" sz="1775" dirty="0">
                          <a:solidFill>
                            <a:srgbClr val="000000"/>
                          </a:solidFill>
                          <a:latin typeface="Marykate"/>
                          <a:ea typeface="Marykate"/>
                          <a:cs typeface="Marykate"/>
                          <a:sym typeface="Marykate"/>
                        </a:rPr>
                        <a:t> AI </a:t>
                      </a:r>
                      <a:r>
                        <a:rPr lang="en-US" sz="1775" dirty="0" err="1">
                          <a:solidFill>
                            <a:srgbClr val="000000"/>
                          </a:solidFill>
                          <a:latin typeface="Marykate"/>
                          <a:ea typeface="Marykate"/>
                          <a:cs typeface="Marykate"/>
                          <a:sym typeface="Marykate"/>
                        </a:rPr>
                        <a:t>tidak</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melenceng</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sistem</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harus</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memakai</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aturan</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baku</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manipulasi</a:t>
                      </a:r>
                      <a:r>
                        <a:rPr lang="en-US" sz="1775" dirty="0">
                          <a:solidFill>
                            <a:srgbClr val="000000"/>
                          </a:solidFill>
                          <a:latin typeface="Marykate"/>
                          <a:ea typeface="Marykate"/>
                          <a:cs typeface="Marykate"/>
                          <a:sym typeface="Marykate"/>
                        </a:rPr>
                        <a:t> </a:t>
                      </a:r>
                      <a:r>
                        <a:rPr lang="en-US" sz="1775" dirty="0" err="1">
                          <a:solidFill>
                            <a:srgbClr val="000000"/>
                          </a:solidFill>
                          <a:latin typeface="Marykate"/>
                          <a:ea typeface="Marykate"/>
                          <a:cs typeface="Marykate"/>
                          <a:sym typeface="Marykate"/>
                        </a:rPr>
                        <a:t>logika</a:t>
                      </a:r>
                      <a:r>
                        <a:rPr lang="en-US" sz="1775" dirty="0">
                          <a:solidFill>
                            <a:srgbClr val="000000"/>
                          </a:solidFill>
                          <a:latin typeface="Marykate"/>
                          <a:ea typeface="Marykate"/>
                          <a:cs typeface="Marykate"/>
                          <a:sym typeface="Marykate"/>
                        </a:rPr>
                        <a:t>.</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4" name="TextBox 44"/>
          <p:cNvSpPr txBox="1"/>
          <p:nvPr/>
        </p:nvSpPr>
        <p:spPr>
          <a:xfrm>
            <a:off x="5352993" y="181715"/>
            <a:ext cx="7628267"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Timestamp Nabil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rot="-2512816">
            <a:off x="-4292634" y="-1843060"/>
            <a:ext cx="13973120" cy="13973120"/>
          </a:xfrm>
          <a:custGeom>
            <a:avLst/>
            <a:gdLst/>
            <a:ahLst/>
            <a:cxnLst/>
            <a:rect l="l" t="t" r="r" b="b"/>
            <a:pathLst>
              <a:path w="13973120" h="13973120">
                <a:moveTo>
                  <a:pt x="0" y="0"/>
                </a:moveTo>
                <a:lnTo>
                  <a:pt x="13973120" y="0"/>
                </a:lnTo>
                <a:lnTo>
                  <a:pt x="13973120" y="13973120"/>
                </a:lnTo>
                <a:lnTo>
                  <a:pt x="0" y="13973120"/>
                </a:lnTo>
                <a:lnTo>
                  <a:pt x="0" y="0"/>
                </a:lnTo>
                <a:close/>
              </a:path>
            </a:pathLst>
          </a:custGeom>
          <a:blipFill>
            <a:blip r:embed="rId2"/>
            <a:stretch>
              <a:fillRect/>
            </a:stretch>
          </a:blipFill>
        </p:spPr>
      </p:sp>
      <p:sp>
        <p:nvSpPr>
          <p:cNvPr id="3" name="Freeform 3"/>
          <p:cNvSpPr/>
          <p:nvPr/>
        </p:nvSpPr>
        <p:spPr>
          <a:xfrm>
            <a:off x="1915720" y="1034564"/>
            <a:ext cx="14456560" cy="7665421"/>
          </a:xfrm>
          <a:custGeom>
            <a:avLst/>
            <a:gdLst/>
            <a:ahLst/>
            <a:cxnLst/>
            <a:rect l="l" t="t" r="r" b="b"/>
            <a:pathLst>
              <a:path w="14456560" h="7665421">
                <a:moveTo>
                  <a:pt x="0" y="0"/>
                </a:moveTo>
                <a:lnTo>
                  <a:pt x="14456560" y="0"/>
                </a:lnTo>
                <a:lnTo>
                  <a:pt x="14456560" y="7665422"/>
                </a:lnTo>
                <a:lnTo>
                  <a:pt x="0" y="7665422"/>
                </a:lnTo>
                <a:lnTo>
                  <a:pt x="0" y="0"/>
                </a:lnTo>
                <a:close/>
              </a:path>
            </a:pathLst>
          </a:custGeom>
          <a:blipFill>
            <a:blip r:embed="rId3"/>
            <a:stretch>
              <a:fillRect t="-9951" b="-15699"/>
            </a:stretch>
          </a:blipFill>
        </p:spPr>
      </p:sp>
      <p:sp>
        <p:nvSpPr>
          <p:cNvPr id="4" name="Freeform 4"/>
          <p:cNvSpPr/>
          <p:nvPr/>
        </p:nvSpPr>
        <p:spPr>
          <a:xfrm rot="-5400000">
            <a:off x="5688519" y="-2039600"/>
            <a:ext cx="6954044" cy="13798307"/>
          </a:xfrm>
          <a:custGeom>
            <a:avLst/>
            <a:gdLst/>
            <a:ahLst/>
            <a:cxnLst/>
            <a:rect l="l" t="t" r="r" b="b"/>
            <a:pathLst>
              <a:path w="6954044" h="13798307">
                <a:moveTo>
                  <a:pt x="0" y="0"/>
                </a:moveTo>
                <a:lnTo>
                  <a:pt x="6954044" y="0"/>
                </a:lnTo>
                <a:lnTo>
                  <a:pt x="6954044" y="13798307"/>
                </a:lnTo>
                <a:lnTo>
                  <a:pt x="0" y="13798307"/>
                </a:lnTo>
                <a:lnTo>
                  <a:pt x="0" y="0"/>
                </a:lnTo>
                <a:close/>
              </a:path>
            </a:pathLst>
          </a:custGeom>
          <a:blipFill>
            <a:blip r:embed="rId4"/>
            <a:stretch>
              <a:fillRect l="-29965"/>
            </a:stretch>
          </a:blipFill>
        </p:spPr>
      </p:sp>
      <p:grpSp>
        <p:nvGrpSpPr>
          <p:cNvPr id="5" name="Group 5"/>
          <p:cNvGrpSpPr/>
          <p:nvPr/>
        </p:nvGrpSpPr>
        <p:grpSpPr>
          <a:xfrm>
            <a:off x="2492465" y="1571699"/>
            <a:ext cx="13242983" cy="6531055"/>
            <a:chOff x="0" y="0"/>
            <a:chExt cx="3744572" cy="1846714"/>
          </a:xfrm>
        </p:grpSpPr>
        <p:sp>
          <p:nvSpPr>
            <p:cNvPr id="6" name="Freeform 6"/>
            <p:cNvSpPr/>
            <p:nvPr/>
          </p:nvSpPr>
          <p:spPr>
            <a:xfrm>
              <a:off x="0" y="0"/>
              <a:ext cx="3744572" cy="1846714"/>
            </a:xfrm>
            <a:custGeom>
              <a:avLst/>
              <a:gdLst/>
              <a:ahLst/>
              <a:cxnLst/>
              <a:rect l="l" t="t" r="r" b="b"/>
              <a:pathLst>
                <a:path w="3744572" h="1846714">
                  <a:moveTo>
                    <a:pt x="0" y="0"/>
                  </a:moveTo>
                  <a:lnTo>
                    <a:pt x="3744572" y="0"/>
                  </a:lnTo>
                  <a:lnTo>
                    <a:pt x="3744572" y="1846714"/>
                  </a:lnTo>
                  <a:lnTo>
                    <a:pt x="0" y="1846714"/>
                  </a:lnTo>
                  <a:close/>
                </a:path>
              </a:pathLst>
            </a:custGeom>
            <a:solidFill>
              <a:srgbClr val="FFFFFF">
                <a:alpha val="52941"/>
              </a:srgbClr>
            </a:solidFill>
          </p:spPr>
        </p:sp>
        <p:sp>
          <p:nvSpPr>
            <p:cNvPr id="7" name="TextBox 7"/>
            <p:cNvSpPr txBox="1"/>
            <p:nvPr/>
          </p:nvSpPr>
          <p:spPr>
            <a:xfrm>
              <a:off x="0" y="-47625"/>
              <a:ext cx="3744572" cy="1894339"/>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id="8" name="TextBox 8"/>
          <p:cNvSpPr txBox="1"/>
          <p:nvPr/>
        </p:nvSpPr>
        <p:spPr>
          <a:xfrm>
            <a:off x="4678567" y="1803792"/>
            <a:ext cx="8870777"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5 konsep utama dalam video 1</a:t>
            </a:r>
          </a:p>
        </p:txBody>
      </p:sp>
      <p:sp>
        <p:nvSpPr>
          <p:cNvPr id="9" name="TextBox 9"/>
          <p:cNvSpPr txBox="1"/>
          <p:nvPr/>
        </p:nvSpPr>
        <p:spPr>
          <a:xfrm>
            <a:off x="2693926" y="2908064"/>
            <a:ext cx="13041521" cy="4937853"/>
          </a:xfrm>
          <a:prstGeom prst="rect">
            <a:avLst/>
          </a:prstGeom>
        </p:spPr>
        <p:txBody>
          <a:bodyPr lIns="0" tIns="0" rIns="0" bIns="0" rtlCol="0" anchor="t">
            <a:spAutoFit/>
          </a:bodyPr>
          <a:lstStyle/>
          <a:p>
            <a:pPr algn="l">
              <a:lnSpc>
                <a:spcPts val="2848"/>
              </a:lnSpc>
            </a:pPr>
            <a:r>
              <a:rPr lang="en-US" sz="2334">
                <a:solidFill>
                  <a:srgbClr val="3A3E61"/>
                </a:solidFill>
                <a:latin typeface="Vintii"/>
                <a:ea typeface="Vintii"/>
                <a:cs typeface="Vintii"/>
                <a:sym typeface="Vintii"/>
              </a:rPr>
              <a:t>1. </a:t>
            </a:r>
            <a:r>
              <a:rPr lang="en-US" sz="2334" u="sng">
                <a:solidFill>
                  <a:srgbClr val="434887"/>
                </a:solidFill>
                <a:latin typeface="Vintii"/>
                <a:ea typeface="Vintii"/>
                <a:cs typeface="Vintii"/>
                <a:sym typeface="Vintii"/>
              </a:rPr>
              <a:t>Definisi dan Arsitektur Agen (02:27)</a:t>
            </a:r>
            <a:r>
              <a:rPr lang="en-US" sz="2334">
                <a:solidFill>
                  <a:srgbClr val="3A3E61"/>
                </a:solidFill>
                <a:latin typeface="Vintii"/>
                <a:ea typeface="Vintii"/>
                <a:cs typeface="Vintii"/>
                <a:sym typeface="Vintii"/>
              </a:rPr>
              <a:t>: Agen didefinisikan sebagai sistem komputer yang berada dalam lingkungan tertentu dan memiliki kemampuan untuk bertindak secara otonom untuk mencapai sasaran. Struktur agen terdiri dari sensor (menangkap persepsi), aktuator (melakukan aksi), dan program.</a:t>
            </a:r>
          </a:p>
          <a:p>
            <a:pPr algn="l">
              <a:lnSpc>
                <a:spcPts val="2848"/>
              </a:lnSpc>
            </a:pPr>
            <a:r>
              <a:rPr lang="en-US" sz="2334">
                <a:solidFill>
                  <a:srgbClr val="3A3E61"/>
                </a:solidFill>
                <a:latin typeface="Vintii"/>
                <a:ea typeface="Vintii"/>
                <a:cs typeface="Vintii"/>
                <a:sym typeface="Vintii"/>
              </a:rPr>
              <a:t>2. </a:t>
            </a:r>
            <a:r>
              <a:rPr lang="en-US" sz="2334" u="sng">
                <a:solidFill>
                  <a:srgbClr val="434887"/>
                </a:solidFill>
                <a:latin typeface="Vintii"/>
                <a:ea typeface="Vintii"/>
                <a:cs typeface="Vintii"/>
                <a:sym typeface="Vintii"/>
              </a:rPr>
              <a:t>Rasionalitas Agen dan PEAS (09:57)</a:t>
            </a:r>
            <a:r>
              <a:rPr lang="en-US" sz="2334">
                <a:solidFill>
                  <a:srgbClr val="3A3E61"/>
                </a:solidFill>
                <a:latin typeface="Vintii"/>
                <a:ea typeface="Vintii"/>
                <a:cs typeface="Vintii"/>
                <a:sym typeface="Vintii"/>
              </a:rPr>
              <a:t>: Agen dikatakan rasional jika mampu memilih tindakan terbaik untuk mencapai kesuksesan. Untuk mengukur performa ini, digunakan model PEAS yang mencakup Performance measure, Environment, Actuators, dan Sensors.</a:t>
            </a:r>
          </a:p>
          <a:p>
            <a:pPr algn="l">
              <a:lnSpc>
                <a:spcPts val="2848"/>
              </a:lnSpc>
            </a:pPr>
            <a:r>
              <a:rPr lang="en-US" sz="2334">
                <a:solidFill>
                  <a:srgbClr val="3A3E61"/>
                </a:solidFill>
                <a:latin typeface="Vintii"/>
                <a:ea typeface="Vintii"/>
                <a:cs typeface="Vintii"/>
                <a:sym typeface="Vintii"/>
              </a:rPr>
              <a:t>3. </a:t>
            </a:r>
            <a:r>
              <a:rPr lang="en-US" sz="2334" u="sng">
                <a:solidFill>
                  <a:srgbClr val="434887"/>
                </a:solidFill>
                <a:latin typeface="Vintii"/>
                <a:ea typeface="Vintii"/>
                <a:cs typeface="Vintii"/>
                <a:sym typeface="Vintii"/>
              </a:rPr>
              <a:t>Representasi Pengetahuan (22:42)</a:t>
            </a:r>
            <a:r>
              <a:rPr lang="en-US" sz="2334">
                <a:solidFill>
                  <a:srgbClr val="3A3E61"/>
                </a:solidFill>
                <a:latin typeface="Vintii"/>
                <a:ea typeface="Vintii"/>
                <a:cs typeface="Vintii"/>
                <a:sym typeface="Vintii"/>
              </a:rPr>
              <a:t>: Konsep ini adalah metode untuk mengkodekan pengetahuan ke dalam sistem agar bisa diproses oleh mesin. Klasifikasinya mencakup pengetahuan prosedural, deklaratif, dan tasyid.</a:t>
            </a:r>
          </a:p>
          <a:p>
            <a:pPr algn="l">
              <a:lnSpc>
                <a:spcPts val="2848"/>
              </a:lnSpc>
            </a:pPr>
            <a:r>
              <a:rPr lang="en-US" sz="2334">
                <a:solidFill>
                  <a:srgbClr val="3A3E61"/>
                </a:solidFill>
                <a:latin typeface="Vintii"/>
                <a:ea typeface="Vintii"/>
                <a:cs typeface="Vintii"/>
                <a:sym typeface="Vintii"/>
              </a:rPr>
              <a:t>4. </a:t>
            </a:r>
            <a:r>
              <a:rPr lang="en-US" sz="2334" u="sng">
                <a:solidFill>
                  <a:srgbClr val="434887"/>
                </a:solidFill>
                <a:latin typeface="Vintii"/>
                <a:ea typeface="Vintii"/>
                <a:cs typeface="Vintii"/>
                <a:sym typeface="Vintii"/>
              </a:rPr>
              <a:t>Logika sebagai Representasi (35:36)</a:t>
            </a:r>
            <a:r>
              <a:rPr lang="en-US" sz="2334">
                <a:solidFill>
                  <a:srgbClr val="3A3E61"/>
                </a:solidFill>
                <a:latin typeface="Vintii"/>
                <a:ea typeface="Vintii"/>
                <a:cs typeface="Vintii"/>
                <a:sym typeface="Vintii"/>
              </a:rPr>
              <a:t>: Penggunaan logika proposisi dan logika predikat untuk merepresentasikan fakta dalam bentuk simbolis. Ini sering dikonversi menjadi Conjunctive Normal Form (CNF) atau Klausa sebagai standar dalam sistem pakar.</a:t>
            </a:r>
          </a:p>
          <a:p>
            <a:pPr algn="l">
              <a:lnSpc>
                <a:spcPts val="2848"/>
              </a:lnSpc>
            </a:pPr>
            <a:r>
              <a:rPr lang="en-US" sz="2334">
                <a:solidFill>
                  <a:srgbClr val="3A3E61"/>
                </a:solidFill>
                <a:latin typeface="Vintii"/>
                <a:ea typeface="Vintii"/>
                <a:cs typeface="Vintii"/>
                <a:sym typeface="Vintii"/>
              </a:rPr>
              <a:t>5. </a:t>
            </a:r>
            <a:r>
              <a:rPr lang="en-US" sz="2334" u="sng">
                <a:solidFill>
                  <a:srgbClr val="434887"/>
                </a:solidFill>
                <a:latin typeface="Vintii"/>
                <a:ea typeface="Vintii"/>
                <a:cs typeface="Vintii"/>
                <a:sym typeface="Vintii"/>
              </a:rPr>
              <a:t>Metode Penalaran (39:25)</a:t>
            </a:r>
            <a:r>
              <a:rPr lang="en-US" sz="2334">
                <a:solidFill>
                  <a:srgbClr val="3A3E61"/>
                </a:solidFill>
                <a:latin typeface="Vintii"/>
                <a:ea typeface="Vintii"/>
                <a:cs typeface="Vintii"/>
                <a:sym typeface="Vintii"/>
              </a:rPr>
              <a:t>: Teknik untuk menarik kesimpulan baru dari basis pengetahuan yang ada, yaitu Forward Chaining (penalaran maju dari fakta ke tujuan) dan Backward Chaining (penalaran mundur dari hipotesa ke fakta awal).</a:t>
            </a:r>
          </a:p>
        </p:txBody>
      </p:sp>
      <p:sp>
        <p:nvSpPr>
          <p:cNvPr id="10" name="Freeform 10"/>
          <p:cNvSpPr/>
          <p:nvPr/>
        </p:nvSpPr>
        <p:spPr>
          <a:xfrm rot="-2700000">
            <a:off x="364516" y="631975"/>
            <a:ext cx="2381963" cy="2457935"/>
          </a:xfrm>
          <a:custGeom>
            <a:avLst/>
            <a:gdLst/>
            <a:ahLst/>
            <a:cxnLst/>
            <a:rect l="l" t="t" r="r" b="b"/>
            <a:pathLst>
              <a:path w="2381963" h="2457935">
                <a:moveTo>
                  <a:pt x="0" y="0"/>
                </a:moveTo>
                <a:lnTo>
                  <a:pt x="2381963" y="0"/>
                </a:lnTo>
                <a:lnTo>
                  <a:pt x="2381963" y="2457935"/>
                </a:lnTo>
                <a:lnTo>
                  <a:pt x="0" y="245793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rot="2499016">
            <a:off x="15556636" y="7348224"/>
            <a:ext cx="2381963" cy="2457935"/>
          </a:xfrm>
          <a:custGeom>
            <a:avLst/>
            <a:gdLst/>
            <a:ahLst/>
            <a:cxnLst/>
            <a:rect l="l" t="t" r="r" b="b"/>
            <a:pathLst>
              <a:path w="2381963" h="2457935">
                <a:moveTo>
                  <a:pt x="0" y="0"/>
                </a:moveTo>
                <a:lnTo>
                  <a:pt x="2381963" y="0"/>
                </a:lnTo>
                <a:lnTo>
                  <a:pt x="2381963" y="2457935"/>
                </a:lnTo>
                <a:lnTo>
                  <a:pt x="0" y="245793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540252" y="3407153"/>
            <a:ext cx="1607052" cy="5170039"/>
          </a:xfrm>
          <a:custGeom>
            <a:avLst/>
            <a:gdLst/>
            <a:ahLst/>
            <a:cxnLst/>
            <a:rect l="l" t="t" r="r" b="b"/>
            <a:pathLst>
              <a:path w="1607052" h="5170039">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w="76200" cap="rnd">
            <a:solidFill>
              <a:srgbClr val="9AA5DF"/>
            </a:solidFill>
            <a:prstDash val="sysDash"/>
            <a:headEnd type="none" w="sm" len="sm"/>
            <a:tailEnd type="none" w="sm" len="sm"/>
          </a:ln>
        </p:spPr>
      </p:sp>
      <p:sp>
        <p:nvSpPr>
          <p:cNvPr id="13" name="Freeform 13"/>
          <p:cNvSpPr/>
          <p:nvPr/>
        </p:nvSpPr>
        <p:spPr>
          <a:xfrm>
            <a:off x="1283133" y="3701157"/>
            <a:ext cx="38100" cy="6991254"/>
          </a:xfrm>
          <a:custGeom>
            <a:avLst/>
            <a:gdLst/>
            <a:ahLst/>
            <a:cxnLst/>
            <a:rect l="l" t="t" r="r" b="b"/>
            <a:pathLst>
              <a:path w="38100" h="6991254">
                <a:moveTo>
                  <a:pt x="0" y="0"/>
                </a:moveTo>
                <a:lnTo>
                  <a:pt x="19050" y="0"/>
                </a:lnTo>
                <a:cubicBezTo>
                  <a:pt x="24102" y="0"/>
                  <a:pt x="28948" y="2007"/>
                  <a:pt x="32520" y="5580"/>
                </a:cubicBezTo>
                <a:cubicBezTo>
                  <a:pt x="36093" y="9152"/>
                  <a:pt x="38100" y="13998"/>
                  <a:pt x="38100" y="19050"/>
                </a:cubicBezTo>
                <a:lnTo>
                  <a:pt x="38100" y="6991254"/>
                </a:lnTo>
              </a:path>
            </a:pathLst>
          </a:custGeom>
          <a:ln w="76200" cap="rnd">
            <a:solidFill>
              <a:srgbClr val="9AA5DF"/>
            </a:solidFill>
            <a:prstDash val="sysDash"/>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rot="-2512816">
            <a:off x="-4292634" y="-1843060"/>
            <a:ext cx="13973120" cy="13973120"/>
          </a:xfrm>
          <a:custGeom>
            <a:avLst/>
            <a:gdLst/>
            <a:ahLst/>
            <a:cxnLst/>
            <a:rect l="l" t="t" r="r" b="b"/>
            <a:pathLst>
              <a:path w="13973120" h="13973120">
                <a:moveTo>
                  <a:pt x="0" y="0"/>
                </a:moveTo>
                <a:lnTo>
                  <a:pt x="13973120" y="0"/>
                </a:lnTo>
                <a:lnTo>
                  <a:pt x="13973120" y="13973120"/>
                </a:lnTo>
                <a:lnTo>
                  <a:pt x="0" y="13973120"/>
                </a:lnTo>
                <a:lnTo>
                  <a:pt x="0" y="0"/>
                </a:lnTo>
                <a:close/>
              </a:path>
            </a:pathLst>
          </a:custGeom>
          <a:blipFill>
            <a:blip r:embed="rId2"/>
            <a:stretch>
              <a:fillRect/>
            </a:stretch>
          </a:blipFill>
        </p:spPr>
      </p:sp>
      <p:sp>
        <p:nvSpPr>
          <p:cNvPr id="3" name="Freeform 3"/>
          <p:cNvSpPr/>
          <p:nvPr/>
        </p:nvSpPr>
        <p:spPr>
          <a:xfrm>
            <a:off x="1915720" y="1034564"/>
            <a:ext cx="14456560" cy="7665421"/>
          </a:xfrm>
          <a:custGeom>
            <a:avLst/>
            <a:gdLst/>
            <a:ahLst/>
            <a:cxnLst/>
            <a:rect l="l" t="t" r="r" b="b"/>
            <a:pathLst>
              <a:path w="14456560" h="7665421">
                <a:moveTo>
                  <a:pt x="0" y="0"/>
                </a:moveTo>
                <a:lnTo>
                  <a:pt x="14456560" y="0"/>
                </a:lnTo>
                <a:lnTo>
                  <a:pt x="14456560" y="7665422"/>
                </a:lnTo>
                <a:lnTo>
                  <a:pt x="0" y="7665422"/>
                </a:lnTo>
                <a:lnTo>
                  <a:pt x="0" y="0"/>
                </a:lnTo>
                <a:close/>
              </a:path>
            </a:pathLst>
          </a:custGeom>
          <a:blipFill>
            <a:blip r:embed="rId3"/>
            <a:stretch>
              <a:fillRect t="-9951" b="-15699"/>
            </a:stretch>
          </a:blipFill>
        </p:spPr>
      </p:sp>
      <p:sp>
        <p:nvSpPr>
          <p:cNvPr id="4" name="Freeform 4"/>
          <p:cNvSpPr/>
          <p:nvPr/>
        </p:nvSpPr>
        <p:spPr>
          <a:xfrm rot="-5400000">
            <a:off x="5688519" y="-2039600"/>
            <a:ext cx="6954044" cy="13798307"/>
          </a:xfrm>
          <a:custGeom>
            <a:avLst/>
            <a:gdLst/>
            <a:ahLst/>
            <a:cxnLst/>
            <a:rect l="l" t="t" r="r" b="b"/>
            <a:pathLst>
              <a:path w="6954044" h="13798307">
                <a:moveTo>
                  <a:pt x="0" y="0"/>
                </a:moveTo>
                <a:lnTo>
                  <a:pt x="6954044" y="0"/>
                </a:lnTo>
                <a:lnTo>
                  <a:pt x="6954044" y="13798307"/>
                </a:lnTo>
                <a:lnTo>
                  <a:pt x="0" y="13798307"/>
                </a:lnTo>
                <a:lnTo>
                  <a:pt x="0" y="0"/>
                </a:lnTo>
                <a:close/>
              </a:path>
            </a:pathLst>
          </a:custGeom>
          <a:blipFill>
            <a:blip r:embed="rId4"/>
            <a:stretch>
              <a:fillRect l="-29965"/>
            </a:stretch>
          </a:blipFill>
        </p:spPr>
      </p:sp>
      <p:grpSp>
        <p:nvGrpSpPr>
          <p:cNvPr id="5" name="Group 5"/>
          <p:cNvGrpSpPr/>
          <p:nvPr/>
        </p:nvGrpSpPr>
        <p:grpSpPr>
          <a:xfrm>
            <a:off x="2492465" y="1571699"/>
            <a:ext cx="13242983" cy="6531055"/>
            <a:chOff x="0" y="0"/>
            <a:chExt cx="3744572" cy="1846714"/>
          </a:xfrm>
        </p:grpSpPr>
        <p:sp>
          <p:nvSpPr>
            <p:cNvPr id="6" name="Freeform 6"/>
            <p:cNvSpPr/>
            <p:nvPr/>
          </p:nvSpPr>
          <p:spPr>
            <a:xfrm>
              <a:off x="0" y="0"/>
              <a:ext cx="3744572" cy="1846714"/>
            </a:xfrm>
            <a:custGeom>
              <a:avLst/>
              <a:gdLst/>
              <a:ahLst/>
              <a:cxnLst/>
              <a:rect l="l" t="t" r="r" b="b"/>
              <a:pathLst>
                <a:path w="3744572" h="1846714">
                  <a:moveTo>
                    <a:pt x="0" y="0"/>
                  </a:moveTo>
                  <a:lnTo>
                    <a:pt x="3744572" y="0"/>
                  </a:lnTo>
                  <a:lnTo>
                    <a:pt x="3744572" y="1846714"/>
                  </a:lnTo>
                  <a:lnTo>
                    <a:pt x="0" y="1846714"/>
                  </a:lnTo>
                  <a:close/>
                </a:path>
              </a:pathLst>
            </a:custGeom>
            <a:solidFill>
              <a:srgbClr val="FFFFFF">
                <a:alpha val="52941"/>
              </a:srgbClr>
            </a:solidFill>
          </p:spPr>
        </p:sp>
        <p:sp>
          <p:nvSpPr>
            <p:cNvPr id="7" name="TextBox 7"/>
            <p:cNvSpPr txBox="1"/>
            <p:nvPr/>
          </p:nvSpPr>
          <p:spPr>
            <a:xfrm>
              <a:off x="0" y="-47625"/>
              <a:ext cx="3744572" cy="1894339"/>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id="8" name="TextBox 8"/>
          <p:cNvSpPr txBox="1"/>
          <p:nvPr/>
        </p:nvSpPr>
        <p:spPr>
          <a:xfrm>
            <a:off x="4678567" y="1803792"/>
            <a:ext cx="8870777"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5 konsep utama dalam video 2</a:t>
            </a:r>
          </a:p>
        </p:txBody>
      </p:sp>
      <p:sp>
        <p:nvSpPr>
          <p:cNvPr id="9" name="TextBox 9"/>
          <p:cNvSpPr txBox="1"/>
          <p:nvPr/>
        </p:nvSpPr>
        <p:spPr>
          <a:xfrm>
            <a:off x="2655826" y="2908064"/>
            <a:ext cx="13041521" cy="5136277"/>
          </a:xfrm>
          <a:prstGeom prst="rect">
            <a:avLst/>
          </a:prstGeom>
        </p:spPr>
        <p:txBody>
          <a:bodyPr lIns="0" tIns="0" rIns="0" bIns="0" rtlCol="0" anchor="t">
            <a:spAutoFit/>
          </a:bodyPr>
          <a:lstStyle/>
          <a:p>
            <a:pPr algn="l">
              <a:lnSpc>
                <a:spcPts val="3702"/>
              </a:lnSpc>
            </a:pPr>
            <a:r>
              <a:rPr lang="en-US" sz="3034">
                <a:solidFill>
                  <a:srgbClr val="3A3E61"/>
                </a:solidFill>
                <a:latin typeface="Vintii"/>
                <a:ea typeface="Vintii"/>
                <a:cs typeface="Vintii"/>
                <a:sym typeface="Vintii"/>
              </a:rPr>
              <a:t>1. </a:t>
            </a:r>
            <a:r>
              <a:rPr lang="en-US" sz="3034" u="sng">
                <a:solidFill>
                  <a:srgbClr val="434887"/>
                </a:solidFill>
                <a:latin typeface="Vintii"/>
                <a:ea typeface="Vintii"/>
                <a:cs typeface="Vintii"/>
                <a:sym typeface="Vintii"/>
              </a:rPr>
              <a:t>Basis Pengetahuan &amp; Inferensi (0:30)</a:t>
            </a:r>
            <a:r>
              <a:rPr lang="en-US" sz="3034">
                <a:solidFill>
                  <a:srgbClr val="3A3E61"/>
                </a:solidFill>
                <a:latin typeface="Vintii"/>
                <a:ea typeface="Vintii"/>
                <a:cs typeface="Vintii"/>
                <a:sym typeface="Vintii"/>
              </a:rPr>
              <a:t>: AI adalah kombinasi data/fakta (basis pengetahuan) dan </a:t>
            </a:r>
            <a:r>
              <a:rPr lang="en-US" sz="3034" u="none">
                <a:solidFill>
                  <a:srgbClr val="3A3E61"/>
                </a:solidFill>
                <a:latin typeface="Vintii"/>
                <a:ea typeface="Vintii"/>
                <a:cs typeface="Vintii"/>
                <a:sym typeface="Vintii"/>
              </a:rPr>
              <a:t>si</a:t>
            </a:r>
            <a:r>
              <a:rPr lang="en-US" sz="3034">
                <a:solidFill>
                  <a:srgbClr val="3A3E61"/>
                </a:solidFill>
                <a:latin typeface="Vintii"/>
                <a:ea typeface="Vintii"/>
                <a:cs typeface="Vintii"/>
                <a:sym typeface="Vintii"/>
              </a:rPr>
              <a:t>s</a:t>
            </a:r>
            <a:r>
              <a:rPr lang="en-US" sz="3034" u="none">
                <a:solidFill>
                  <a:srgbClr val="3A3E61"/>
                </a:solidFill>
                <a:latin typeface="Vintii"/>
                <a:ea typeface="Vintii"/>
                <a:cs typeface="Vintii"/>
                <a:sym typeface="Vintii"/>
              </a:rPr>
              <a:t>te</a:t>
            </a:r>
            <a:r>
              <a:rPr lang="en-US" sz="3034">
                <a:solidFill>
                  <a:srgbClr val="3A3E61"/>
                </a:solidFill>
                <a:latin typeface="Vintii"/>
                <a:ea typeface="Vintii"/>
                <a:cs typeface="Vintii"/>
                <a:sym typeface="Vintii"/>
              </a:rPr>
              <a:t>m</a:t>
            </a:r>
            <a:r>
              <a:rPr lang="en-US" sz="3034" u="none">
                <a:solidFill>
                  <a:srgbClr val="3A3E61"/>
                </a:solidFill>
                <a:latin typeface="Vintii"/>
                <a:ea typeface="Vintii"/>
                <a:cs typeface="Vintii"/>
                <a:sym typeface="Vintii"/>
              </a:rPr>
              <a:t> </a:t>
            </a:r>
            <a:r>
              <a:rPr lang="en-US" sz="3034">
                <a:solidFill>
                  <a:srgbClr val="3A3E61"/>
                </a:solidFill>
                <a:latin typeface="Vintii"/>
                <a:ea typeface="Vintii"/>
                <a:cs typeface="Vintii"/>
                <a:sym typeface="Vintii"/>
              </a:rPr>
              <a:t>penalaran (inference engine) untuk mengambil kesimpulan.</a:t>
            </a:r>
          </a:p>
          <a:p>
            <a:pPr algn="l">
              <a:lnSpc>
                <a:spcPts val="3702"/>
              </a:lnSpc>
            </a:pPr>
            <a:r>
              <a:rPr lang="en-US" sz="3034">
                <a:solidFill>
                  <a:srgbClr val="3A3E61"/>
                </a:solidFill>
                <a:latin typeface="Vintii"/>
                <a:ea typeface="Vintii"/>
                <a:cs typeface="Vintii"/>
                <a:sym typeface="Vintii"/>
              </a:rPr>
              <a:t>2. </a:t>
            </a:r>
            <a:r>
              <a:rPr lang="en-US" sz="3034" u="sng">
                <a:solidFill>
                  <a:srgbClr val="434887"/>
                </a:solidFill>
                <a:latin typeface="Vintii"/>
                <a:ea typeface="Vintii"/>
                <a:cs typeface="Vintii"/>
                <a:sym typeface="Vintii"/>
              </a:rPr>
              <a:t>Skema Representasi (1:50)</a:t>
            </a:r>
            <a:r>
              <a:rPr lang="en-US" sz="3034">
                <a:solidFill>
                  <a:srgbClr val="3A3E61"/>
                </a:solidFill>
                <a:latin typeface="Vintii"/>
                <a:ea typeface="Vintii"/>
                <a:cs typeface="Vintii"/>
                <a:sym typeface="Vintii"/>
              </a:rPr>
              <a:t>: Cara komputer menyimpan pengetahuan agar bisa diproses. Terbagi menjadi deklaratif (fakta) dan prosedural (langkah tindakan).</a:t>
            </a:r>
          </a:p>
          <a:p>
            <a:pPr algn="l">
              <a:lnSpc>
                <a:spcPts val="3702"/>
              </a:lnSpc>
            </a:pPr>
            <a:r>
              <a:rPr lang="en-US" sz="3034">
                <a:solidFill>
                  <a:srgbClr val="3A3E61"/>
                </a:solidFill>
                <a:latin typeface="Vintii"/>
                <a:ea typeface="Vintii"/>
                <a:cs typeface="Vintii"/>
                <a:sym typeface="Vintii"/>
              </a:rPr>
              <a:t>3. </a:t>
            </a:r>
            <a:r>
              <a:rPr lang="en-US" sz="3034" u="sng">
                <a:solidFill>
                  <a:srgbClr val="434887"/>
                </a:solidFill>
                <a:latin typeface="Vintii"/>
                <a:ea typeface="Vintii"/>
                <a:cs typeface="Vintii"/>
                <a:sym typeface="Vintii"/>
              </a:rPr>
              <a:t>Logika Deduktif vs. Induktif (4:30)</a:t>
            </a:r>
            <a:r>
              <a:rPr lang="en-US" sz="3034">
                <a:solidFill>
                  <a:srgbClr val="3A3E61"/>
                </a:solidFill>
                <a:latin typeface="Vintii"/>
                <a:ea typeface="Vintii"/>
                <a:cs typeface="Vintii"/>
                <a:sym typeface="Vintii"/>
              </a:rPr>
              <a:t>: Deduktif menarik kesimpulan dari aturan umum ke khusus; Induktif menyimpulkan pola umum dari fakta-fakta khusus.</a:t>
            </a:r>
          </a:p>
          <a:p>
            <a:pPr algn="l">
              <a:lnSpc>
                <a:spcPts val="3702"/>
              </a:lnSpc>
            </a:pPr>
            <a:r>
              <a:rPr lang="en-US" sz="3034">
                <a:solidFill>
                  <a:srgbClr val="3A3E61"/>
                </a:solidFill>
                <a:latin typeface="Vintii"/>
                <a:ea typeface="Vintii"/>
                <a:cs typeface="Vintii"/>
                <a:sym typeface="Vintii"/>
              </a:rPr>
              <a:t>4. </a:t>
            </a:r>
            <a:r>
              <a:rPr lang="en-US" sz="3034" u="sng">
                <a:solidFill>
                  <a:srgbClr val="434887"/>
                </a:solidFill>
                <a:latin typeface="Vintii"/>
                <a:ea typeface="Vintii"/>
                <a:cs typeface="Vintii"/>
                <a:sym typeface="Vintii"/>
              </a:rPr>
              <a:t>Logika Proposisional (7:00)</a:t>
            </a:r>
            <a:r>
              <a:rPr lang="en-US" sz="3034">
                <a:solidFill>
                  <a:srgbClr val="3A3E61"/>
                </a:solidFill>
                <a:latin typeface="Vintii"/>
                <a:ea typeface="Vintii"/>
                <a:cs typeface="Vintii"/>
                <a:sym typeface="Vintii"/>
              </a:rPr>
              <a:t>: Bentuk logika paling dasar yang menilai pernyataan sebagai Benar atau Salah menggunakan operator seperti AND, OR, dan NOT.</a:t>
            </a:r>
          </a:p>
          <a:p>
            <a:pPr algn="l">
              <a:lnSpc>
                <a:spcPts val="3702"/>
              </a:lnSpc>
            </a:pPr>
            <a:r>
              <a:rPr lang="en-US" sz="3034">
                <a:solidFill>
                  <a:srgbClr val="3A3E61"/>
                </a:solidFill>
                <a:latin typeface="Vintii"/>
                <a:ea typeface="Vintii"/>
                <a:cs typeface="Vintii"/>
                <a:sym typeface="Vintii"/>
              </a:rPr>
              <a:t>5. </a:t>
            </a:r>
            <a:r>
              <a:rPr lang="en-US" sz="3034" u="sng">
                <a:solidFill>
                  <a:srgbClr val="434887"/>
                </a:solidFill>
                <a:latin typeface="Vintii"/>
                <a:ea typeface="Vintii"/>
                <a:cs typeface="Vintii"/>
                <a:sym typeface="Vintii"/>
              </a:rPr>
              <a:t>Logika Predikat (10:35)</a:t>
            </a:r>
            <a:r>
              <a:rPr lang="en-US" sz="3034">
                <a:solidFill>
                  <a:srgbClr val="3A3E61"/>
                </a:solidFill>
                <a:latin typeface="Vintii"/>
                <a:ea typeface="Vintii"/>
                <a:cs typeface="Vintii"/>
                <a:sym typeface="Vintii"/>
              </a:rPr>
              <a:t>: Versi lebih canggih yang memecah pernyataan menjadi objek dan sifatnya (predikat), memungkinkan penggunaan variabel dan simbol kuantitas (semua/ada).</a:t>
            </a:r>
          </a:p>
        </p:txBody>
      </p:sp>
      <p:sp>
        <p:nvSpPr>
          <p:cNvPr id="10" name="Freeform 10"/>
          <p:cNvSpPr/>
          <p:nvPr/>
        </p:nvSpPr>
        <p:spPr>
          <a:xfrm rot="-2700000">
            <a:off x="364516" y="631975"/>
            <a:ext cx="2381963" cy="2457935"/>
          </a:xfrm>
          <a:custGeom>
            <a:avLst/>
            <a:gdLst/>
            <a:ahLst/>
            <a:cxnLst/>
            <a:rect l="l" t="t" r="r" b="b"/>
            <a:pathLst>
              <a:path w="2381963" h="2457935">
                <a:moveTo>
                  <a:pt x="0" y="0"/>
                </a:moveTo>
                <a:lnTo>
                  <a:pt x="2381963" y="0"/>
                </a:lnTo>
                <a:lnTo>
                  <a:pt x="2381963" y="2457935"/>
                </a:lnTo>
                <a:lnTo>
                  <a:pt x="0" y="245793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rot="2499016">
            <a:off x="15556636" y="7348224"/>
            <a:ext cx="2381963" cy="2457935"/>
          </a:xfrm>
          <a:custGeom>
            <a:avLst/>
            <a:gdLst/>
            <a:ahLst/>
            <a:cxnLst/>
            <a:rect l="l" t="t" r="r" b="b"/>
            <a:pathLst>
              <a:path w="2381963" h="2457935">
                <a:moveTo>
                  <a:pt x="0" y="0"/>
                </a:moveTo>
                <a:lnTo>
                  <a:pt x="2381963" y="0"/>
                </a:lnTo>
                <a:lnTo>
                  <a:pt x="2381963" y="2457935"/>
                </a:lnTo>
                <a:lnTo>
                  <a:pt x="0" y="245793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540252" y="3407153"/>
            <a:ext cx="1607052" cy="5170039"/>
          </a:xfrm>
          <a:custGeom>
            <a:avLst/>
            <a:gdLst/>
            <a:ahLst/>
            <a:cxnLst/>
            <a:rect l="l" t="t" r="r" b="b"/>
            <a:pathLst>
              <a:path w="1607052" h="5170039">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w="76200" cap="rnd">
            <a:solidFill>
              <a:srgbClr val="9AA5DF"/>
            </a:solidFill>
            <a:prstDash val="sysDash"/>
            <a:headEnd type="none" w="sm" len="sm"/>
            <a:tailEnd type="none" w="sm" len="sm"/>
          </a:ln>
        </p:spPr>
      </p:sp>
      <p:sp>
        <p:nvSpPr>
          <p:cNvPr id="13" name="Freeform 13"/>
          <p:cNvSpPr/>
          <p:nvPr/>
        </p:nvSpPr>
        <p:spPr>
          <a:xfrm>
            <a:off x="1283133" y="3701157"/>
            <a:ext cx="38100" cy="6991254"/>
          </a:xfrm>
          <a:custGeom>
            <a:avLst/>
            <a:gdLst/>
            <a:ahLst/>
            <a:cxnLst/>
            <a:rect l="l" t="t" r="r" b="b"/>
            <a:pathLst>
              <a:path w="38100" h="6991254">
                <a:moveTo>
                  <a:pt x="0" y="0"/>
                </a:moveTo>
                <a:lnTo>
                  <a:pt x="19050" y="0"/>
                </a:lnTo>
                <a:cubicBezTo>
                  <a:pt x="24102" y="0"/>
                  <a:pt x="28948" y="2007"/>
                  <a:pt x="32520" y="5580"/>
                </a:cubicBezTo>
                <a:cubicBezTo>
                  <a:pt x="36093" y="9152"/>
                  <a:pt x="38100" y="13998"/>
                  <a:pt x="38100" y="19050"/>
                </a:cubicBezTo>
                <a:lnTo>
                  <a:pt x="38100" y="6991254"/>
                </a:lnTo>
              </a:path>
            </a:pathLst>
          </a:custGeom>
          <a:ln w="76200" cap="rnd">
            <a:solidFill>
              <a:srgbClr val="9AA5DF"/>
            </a:solidFill>
            <a:prstDash val="sysDash"/>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rot="8262871" flipH="1">
            <a:off x="11615472" y="6889872"/>
            <a:ext cx="1050659" cy="936042"/>
          </a:xfrm>
          <a:custGeom>
            <a:avLst/>
            <a:gdLst/>
            <a:ahLst/>
            <a:cxnLst/>
            <a:rect l="l" t="t" r="r" b="b"/>
            <a:pathLst>
              <a:path w="1050659" h="936042">
                <a:moveTo>
                  <a:pt x="1050659" y="0"/>
                </a:moveTo>
                <a:lnTo>
                  <a:pt x="0" y="0"/>
                </a:lnTo>
                <a:lnTo>
                  <a:pt x="0" y="936042"/>
                </a:lnTo>
                <a:lnTo>
                  <a:pt x="1050659" y="936042"/>
                </a:lnTo>
                <a:lnTo>
                  <a:pt x="1050659"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8262871" flipH="1">
            <a:off x="5106653" y="6949175"/>
            <a:ext cx="1050659" cy="936042"/>
          </a:xfrm>
          <a:custGeom>
            <a:avLst/>
            <a:gdLst/>
            <a:ahLst/>
            <a:cxnLst/>
            <a:rect l="l" t="t" r="r" b="b"/>
            <a:pathLst>
              <a:path w="1050659" h="936042">
                <a:moveTo>
                  <a:pt x="1050659" y="0"/>
                </a:moveTo>
                <a:lnTo>
                  <a:pt x="0" y="0"/>
                </a:lnTo>
                <a:lnTo>
                  <a:pt x="0" y="936041"/>
                </a:lnTo>
                <a:lnTo>
                  <a:pt x="1050659" y="936041"/>
                </a:lnTo>
                <a:lnTo>
                  <a:pt x="1050659"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47348" y="3303739"/>
            <a:ext cx="17426302" cy="6465635"/>
          </a:xfrm>
          <a:custGeom>
            <a:avLst/>
            <a:gdLst/>
            <a:ahLst/>
            <a:cxnLst/>
            <a:rect l="l" t="t" r="r" b="b"/>
            <a:pathLst>
              <a:path w="17426302" h="6465635">
                <a:moveTo>
                  <a:pt x="0" y="0"/>
                </a:moveTo>
                <a:lnTo>
                  <a:pt x="17426302" y="0"/>
                </a:lnTo>
                <a:lnTo>
                  <a:pt x="17426302" y="6465634"/>
                </a:lnTo>
                <a:lnTo>
                  <a:pt x="0" y="6465634"/>
                </a:lnTo>
                <a:lnTo>
                  <a:pt x="0" y="0"/>
                </a:lnTo>
                <a:close/>
              </a:path>
            </a:pathLst>
          </a:custGeom>
          <a:blipFill>
            <a:blip r:embed="rId4"/>
            <a:stretch>
              <a:fillRect/>
            </a:stretch>
          </a:blipFill>
        </p:spPr>
      </p:sp>
      <p:sp>
        <p:nvSpPr>
          <p:cNvPr id="5" name="TextBox 5"/>
          <p:cNvSpPr txBox="1"/>
          <p:nvPr/>
        </p:nvSpPr>
        <p:spPr>
          <a:xfrm>
            <a:off x="2526428" y="1009650"/>
            <a:ext cx="12625545" cy="1231857"/>
          </a:xfrm>
          <a:prstGeom prst="rect">
            <a:avLst/>
          </a:prstGeom>
        </p:spPr>
        <p:txBody>
          <a:bodyPr lIns="0" tIns="0" rIns="0" bIns="0" rtlCol="0" anchor="t">
            <a:spAutoFit/>
          </a:bodyPr>
          <a:lstStyle/>
          <a:p>
            <a:pPr marL="0" lvl="0" indent="0" algn="ctr">
              <a:lnSpc>
                <a:spcPts val="8000"/>
              </a:lnSpc>
            </a:pPr>
            <a:r>
              <a:rPr lang="en-US" sz="8000">
                <a:solidFill>
                  <a:srgbClr val="3A3E61"/>
                </a:solidFill>
                <a:latin typeface="Unique"/>
                <a:ea typeface="Unique"/>
                <a:cs typeface="Unique"/>
                <a:sym typeface="Unique"/>
              </a:rPr>
              <a:t>mini knowledge base</a:t>
            </a:r>
          </a:p>
        </p:txBody>
      </p:sp>
      <p:sp>
        <p:nvSpPr>
          <p:cNvPr id="6" name="Freeform 6"/>
          <p:cNvSpPr/>
          <p:nvPr/>
        </p:nvSpPr>
        <p:spPr>
          <a:xfrm rot="-5593216">
            <a:off x="14784617" y="-2350042"/>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5"/>
            <a:stretch>
              <a:fillRect/>
            </a:stretch>
          </a:blipFill>
        </p:spPr>
      </p:sp>
      <p:sp>
        <p:nvSpPr>
          <p:cNvPr id="7" name="Freeform 7"/>
          <p:cNvSpPr/>
          <p:nvPr/>
        </p:nvSpPr>
        <p:spPr>
          <a:xfrm rot="2499016">
            <a:off x="16319550" y="8288577"/>
            <a:ext cx="1879499" cy="1939446"/>
          </a:xfrm>
          <a:custGeom>
            <a:avLst/>
            <a:gdLst/>
            <a:ahLst/>
            <a:cxnLst/>
            <a:rect l="l" t="t" r="r" b="b"/>
            <a:pathLst>
              <a:path w="1879499" h="1939446">
                <a:moveTo>
                  <a:pt x="0" y="0"/>
                </a:moveTo>
                <a:lnTo>
                  <a:pt x="1879500" y="0"/>
                </a:lnTo>
                <a:lnTo>
                  <a:pt x="1879500" y="1939446"/>
                </a:lnTo>
                <a:lnTo>
                  <a:pt x="0" y="193944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2512816">
            <a:off x="-10054260" y="-10134907"/>
            <a:ext cx="13973120" cy="13973120"/>
          </a:xfrm>
          <a:custGeom>
            <a:avLst/>
            <a:gdLst/>
            <a:ahLst/>
            <a:cxnLst/>
            <a:rect l="l" t="t" r="r" b="b"/>
            <a:pathLst>
              <a:path w="13973120" h="13973120">
                <a:moveTo>
                  <a:pt x="0" y="0"/>
                </a:moveTo>
                <a:lnTo>
                  <a:pt x="13973119" y="0"/>
                </a:lnTo>
                <a:lnTo>
                  <a:pt x="13973119" y="13973120"/>
                </a:lnTo>
                <a:lnTo>
                  <a:pt x="0" y="13973120"/>
                </a:lnTo>
                <a:lnTo>
                  <a:pt x="0" y="0"/>
                </a:lnTo>
                <a:close/>
              </a:path>
            </a:pathLst>
          </a:custGeom>
          <a:blipFill>
            <a:blip r:embed="rId7"/>
            <a:stretch>
              <a:fillRect/>
            </a:stretch>
          </a:blipFill>
        </p:spPr>
      </p:sp>
      <p:sp>
        <p:nvSpPr>
          <p:cNvPr id="9" name="TextBox 9"/>
          <p:cNvSpPr txBox="1"/>
          <p:nvPr/>
        </p:nvSpPr>
        <p:spPr>
          <a:xfrm>
            <a:off x="5958484" y="2539842"/>
            <a:ext cx="4846574" cy="465561"/>
          </a:xfrm>
          <a:prstGeom prst="rect">
            <a:avLst/>
          </a:prstGeom>
        </p:spPr>
        <p:txBody>
          <a:bodyPr lIns="0" tIns="0" rIns="0" bIns="0" rtlCol="0" anchor="t">
            <a:spAutoFit/>
          </a:bodyPr>
          <a:lstStyle/>
          <a:p>
            <a:pPr marL="0" lvl="0" indent="0" algn="ctr">
              <a:lnSpc>
                <a:spcPts val="3070"/>
              </a:lnSpc>
            </a:pPr>
            <a:r>
              <a:rPr lang="en-US" sz="3070">
                <a:solidFill>
                  <a:srgbClr val="3A3E61"/>
                </a:solidFill>
                <a:latin typeface="Unique"/>
                <a:ea typeface="Unique"/>
                <a:cs typeface="Unique"/>
                <a:sym typeface="Unique"/>
              </a:rPr>
              <a:t>fakta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TextBox 2"/>
          <p:cNvSpPr txBox="1"/>
          <p:nvPr/>
        </p:nvSpPr>
        <p:spPr>
          <a:xfrm>
            <a:off x="2526428" y="1009650"/>
            <a:ext cx="12625545" cy="1231857"/>
          </a:xfrm>
          <a:prstGeom prst="rect">
            <a:avLst/>
          </a:prstGeom>
        </p:spPr>
        <p:txBody>
          <a:bodyPr lIns="0" tIns="0" rIns="0" bIns="0" rtlCol="0" anchor="t">
            <a:spAutoFit/>
          </a:bodyPr>
          <a:lstStyle/>
          <a:p>
            <a:pPr marL="0" lvl="0" indent="0" algn="ctr">
              <a:lnSpc>
                <a:spcPts val="8000"/>
              </a:lnSpc>
            </a:pPr>
            <a:r>
              <a:rPr lang="en-US" sz="8000">
                <a:solidFill>
                  <a:srgbClr val="3A3E61"/>
                </a:solidFill>
                <a:latin typeface="Unique"/>
                <a:ea typeface="Unique"/>
                <a:cs typeface="Unique"/>
                <a:sym typeface="Unique"/>
              </a:rPr>
              <a:t>mini knowledge base</a:t>
            </a:r>
          </a:p>
        </p:txBody>
      </p:sp>
      <p:sp>
        <p:nvSpPr>
          <p:cNvPr id="3" name="Freeform 3"/>
          <p:cNvSpPr/>
          <p:nvPr/>
        </p:nvSpPr>
        <p:spPr>
          <a:xfrm rot="-5593216">
            <a:off x="14784617" y="-2350042"/>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2"/>
            <a:stretch>
              <a:fillRect/>
            </a:stretch>
          </a:blipFill>
        </p:spPr>
      </p:sp>
      <p:sp>
        <p:nvSpPr>
          <p:cNvPr id="4" name="Freeform 4"/>
          <p:cNvSpPr/>
          <p:nvPr/>
        </p:nvSpPr>
        <p:spPr>
          <a:xfrm rot="2499016">
            <a:off x="16319550" y="8288577"/>
            <a:ext cx="1879499" cy="1939446"/>
          </a:xfrm>
          <a:custGeom>
            <a:avLst/>
            <a:gdLst/>
            <a:ahLst/>
            <a:cxnLst/>
            <a:rect l="l" t="t" r="r" b="b"/>
            <a:pathLst>
              <a:path w="1879499" h="1939446">
                <a:moveTo>
                  <a:pt x="0" y="0"/>
                </a:moveTo>
                <a:lnTo>
                  <a:pt x="1879500" y="0"/>
                </a:lnTo>
                <a:lnTo>
                  <a:pt x="1879500" y="1939446"/>
                </a:lnTo>
                <a:lnTo>
                  <a:pt x="0" y="19394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512816">
            <a:off x="-10054260" y="-10134907"/>
            <a:ext cx="13973120" cy="13973120"/>
          </a:xfrm>
          <a:custGeom>
            <a:avLst/>
            <a:gdLst/>
            <a:ahLst/>
            <a:cxnLst/>
            <a:rect l="l" t="t" r="r" b="b"/>
            <a:pathLst>
              <a:path w="13973120" h="13973120">
                <a:moveTo>
                  <a:pt x="0" y="0"/>
                </a:moveTo>
                <a:lnTo>
                  <a:pt x="13973119" y="0"/>
                </a:lnTo>
                <a:lnTo>
                  <a:pt x="13973119" y="13973120"/>
                </a:lnTo>
                <a:lnTo>
                  <a:pt x="0" y="13973120"/>
                </a:lnTo>
                <a:lnTo>
                  <a:pt x="0" y="0"/>
                </a:lnTo>
                <a:close/>
              </a:path>
            </a:pathLst>
          </a:custGeom>
          <a:blipFill>
            <a:blip r:embed="rId4"/>
            <a:stretch>
              <a:fillRect/>
            </a:stretch>
          </a:blipFill>
        </p:spPr>
      </p:sp>
      <p:sp>
        <p:nvSpPr>
          <p:cNvPr id="6" name="Freeform 6"/>
          <p:cNvSpPr/>
          <p:nvPr/>
        </p:nvSpPr>
        <p:spPr>
          <a:xfrm>
            <a:off x="1028700" y="3936733"/>
            <a:ext cx="15492210" cy="4316750"/>
          </a:xfrm>
          <a:custGeom>
            <a:avLst/>
            <a:gdLst/>
            <a:ahLst/>
            <a:cxnLst/>
            <a:rect l="l" t="t" r="r" b="b"/>
            <a:pathLst>
              <a:path w="15492210" h="4316750">
                <a:moveTo>
                  <a:pt x="0" y="0"/>
                </a:moveTo>
                <a:lnTo>
                  <a:pt x="15492210" y="0"/>
                </a:lnTo>
                <a:lnTo>
                  <a:pt x="15492210" y="4316750"/>
                </a:lnTo>
                <a:lnTo>
                  <a:pt x="0" y="4316750"/>
                </a:lnTo>
                <a:lnTo>
                  <a:pt x="0" y="0"/>
                </a:lnTo>
                <a:close/>
              </a:path>
            </a:pathLst>
          </a:custGeom>
          <a:blipFill>
            <a:blip r:embed="rId5"/>
            <a:stretch>
              <a:fillRect/>
            </a:stretch>
          </a:blipFill>
        </p:spPr>
      </p:sp>
      <p:sp>
        <p:nvSpPr>
          <p:cNvPr id="7" name="TextBox 7"/>
          <p:cNvSpPr txBox="1"/>
          <p:nvPr/>
        </p:nvSpPr>
        <p:spPr>
          <a:xfrm>
            <a:off x="6456163" y="2829132"/>
            <a:ext cx="4265706" cy="510450"/>
          </a:xfrm>
          <a:prstGeom prst="rect">
            <a:avLst/>
          </a:prstGeom>
        </p:spPr>
        <p:txBody>
          <a:bodyPr lIns="0" tIns="0" rIns="0" bIns="0" rtlCol="0" anchor="t">
            <a:spAutoFit/>
          </a:bodyPr>
          <a:lstStyle/>
          <a:p>
            <a:pPr marL="0" lvl="0" indent="0" algn="ctr">
              <a:lnSpc>
                <a:spcPts val="3304"/>
              </a:lnSpc>
            </a:pPr>
            <a:r>
              <a:rPr lang="en-US" sz="3304">
                <a:solidFill>
                  <a:srgbClr val="3A3E61"/>
                </a:solidFill>
                <a:latin typeface="Unique"/>
                <a:ea typeface="Unique"/>
                <a:cs typeface="Unique"/>
                <a:sym typeface="Unique"/>
              </a:rPr>
              <a:t>Relasi (4 jenis)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TextBox 2"/>
          <p:cNvSpPr txBox="1"/>
          <p:nvPr/>
        </p:nvSpPr>
        <p:spPr>
          <a:xfrm>
            <a:off x="2526428" y="1009650"/>
            <a:ext cx="12625545" cy="1231857"/>
          </a:xfrm>
          <a:prstGeom prst="rect">
            <a:avLst/>
          </a:prstGeom>
        </p:spPr>
        <p:txBody>
          <a:bodyPr lIns="0" tIns="0" rIns="0" bIns="0" rtlCol="0" anchor="t">
            <a:spAutoFit/>
          </a:bodyPr>
          <a:lstStyle/>
          <a:p>
            <a:pPr marL="0" lvl="0" indent="0" algn="ctr">
              <a:lnSpc>
                <a:spcPts val="8000"/>
              </a:lnSpc>
            </a:pPr>
            <a:r>
              <a:rPr lang="en-US" sz="8000">
                <a:solidFill>
                  <a:srgbClr val="3A3E61"/>
                </a:solidFill>
                <a:latin typeface="Unique"/>
                <a:ea typeface="Unique"/>
                <a:cs typeface="Unique"/>
                <a:sym typeface="Unique"/>
              </a:rPr>
              <a:t>mini knowledge base</a:t>
            </a:r>
          </a:p>
        </p:txBody>
      </p:sp>
      <p:sp>
        <p:nvSpPr>
          <p:cNvPr id="3" name="Freeform 3"/>
          <p:cNvSpPr/>
          <p:nvPr/>
        </p:nvSpPr>
        <p:spPr>
          <a:xfrm rot="-5593216">
            <a:off x="14784617" y="-2350042"/>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2"/>
            <a:stretch>
              <a:fillRect/>
            </a:stretch>
          </a:blipFill>
        </p:spPr>
      </p:sp>
      <p:sp>
        <p:nvSpPr>
          <p:cNvPr id="4" name="Freeform 4"/>
          <p:cNvSpPr/>
          <p:nvPr/>
        </p:nvSpPr>
        <p:spPr>
          <a:xfrm rot="2499016">
            <a:off x="16319550" y="8288577"/>
            <a:ext cx="1879499" cy="1939446"/>
          </a:xfrm>
          <a:custGeom>
            <a:avLst/>
            <a:gdLst/>
            <a:ahLst/>
            <a:cxnLst/>
            <a:rect l="l" t="t" r="r" b="b"/>
            <a:pathLst>
              <a:path w="1879499" h="1939446">
                <a:moveTo>
                  <a:pt x="0" y="0"/>
                </a:moveTo>
                <a:lnTo>
                  <a:pt x="1879500" y="0"/>
                </a:lnTo>
                <a:lnTo>
                  <a:pt x="1879500" y="1939446"/>
                </a:lnTo>
                <a:lnTo>
                  <a:pt x="0" y="19394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512816">
            <a:off x="-10054260" y="-10134907"/>
            <a:ext cx="13973120" cy="13973120"/>
          </a:xfrm>
          <a:custGeom>
            <a:avLst/>
            <a:gdLst/>
            <a:ahLst/>
            <a:cxnLst/>
            <a:rect l="l" t="t" r="r" b="b"/>
            <a:pathLst>
              <a:path w="13973120" h="13973120">
                <a:moveTo>
                  <a:pt x="0" y="0"/>
                </a:moveTo>
                <a:lnTo>
                  <a:pt x="13973119" y="0"/>
                </a:lnTo>
                <a:lnTo>
                  <a:pt x="13973119" y="13973120"/>
                </a:lnTo>
                <a:lnTo>
                  <a:pt x="0" y="13973120"/>
                </a:lnTo>
                <a:lnTo>
                  <a:pt x="0" y="0"/>
                </a:lnTo>
                <a:close/>
              </a:path>
            </a:pathLst>
          </a:custGeom>
          <a:blipFill>
            <a:blip r:embed="rId4"/>
            <a:stretch>
              <a:fillRect/>
            </a:stretch>
          </a:blipFill>
        </p:spPr>
      </p:sp>
      <p:sp>
        <p:nvSpPr>
          <p:cNvPr id="6" name="Freeform 6"/>
          <p:cNvSpPr/>
          <p:nvPr/>
        </p:nvSpPr>
        <p:spPr>
          <a:xfrm>
            <a:off x="1236388" y="3507898"/>
            <a:ext cx="15205623" cy="5585510"/>
          </a:xfrm>
          <a:custGeom>
            <a:avLst/>
            <a:gdLst/>
            <a:ahLst/>
            <a:cxnLst/>
            <a:rect l="l" t="t" r="r" b="b"/>
            <a:pathLst>
              <a:path w="15205623" h="5585510">
                <a:moveTo>
                  <a:pt x="0" y="0"/>
                </a:moveTo>
                <a:lnTo>
                  <a:pt x="15205624" y="0"/>
                </a:lnTo>
                <a:lnTo>
                  <a:pt x="15205624" y="5585510"/>
                </a:lnTo>
                <a:lnTo>
                  <a:pt x="0" y="5585510"/>
                </a:lnTo>
                <a:lnTo>
                  <a:pt x="0" y="0"/>
                </a:lnTo>
                <a:close/>
              </a:path>
            </a:pathLst>
          </a:custGeom>
          <a:blipFill>
            <a:blip r:embed="rId5"/>
            <a:stretch>
              <a:fillRect/>
            </a:stretch>
          </a:blipFill>
        </p:spPr>
      </p:sp>
      <p:sp>
        <p:nvSpPr>
          <p:cNvPr id="7" name="TextBox 7"/>
          <p:cNvSpPr txBox="1"/>
          <p:nvPr/>
        </p:nvSpPr>
        <p:spPr>
          <a:xfrm>
            <a:off x="6513950" y="2641814"/>
            <a:ext cx="4650500" cy="456251"/>
          </a:xfrm>
          <a:prstGeom prst="rect">
            <a:avLst/>
          </a:prstGeom>
        </p:spPr>
        <p:txBody>
          <a:bodyPr lIns="0" tIns="0" rIns="0" bIns="0" rtlCol="0" anchor="t">
            <a:spAutoFit/>
          </a:bodyPr>
          <a:lstStyle/>
          <a:p>
            <a:pPr marL="0" lvl="0" indent="0" algn="ctr">
              <a:lnSpc>
                <a:spcPts val="2946"/>
              </a:lnSpc>
            </a:pPr>
            <a:r>
              <a:rPr lang="en-US" sz="2946">
                <a:solidFill>
                  <a:srgbClr val="3A3E61"/>
                </a:solidFill>
                <a:latin typeface="Unique"/>
                <a:ea typeface="Unique"/>
                <a:cs typeface="Unique"/>
                <a:sym typeface="Unique"/>
              </a:rPr>
              <a:t>aturan if-then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TextBox 2"/>
          <p:cNvSpPr txBox="1"/>
          <p:nvPr/>
        </p:nvSpPr>
        <p:spPr>
          <a:xfrm>
            <a:off x="2526428" y="1028700"/>
            <a:ext cx="12625545" cy="1143004"/>
          </a:xfrm>
          <a:prstGeom prst="rect">
            <a:avLst/>
          </a:prstGeom>
        </p:spPr>
        <p:txBody>
          <a:bodyPr lIns="0" tIns="0" rIns="0" bIns="0" rtlCol="0" anchor="t">
            <a:spAutoFit/>
          </a:bodyPr>
          <a:lstStyle/>
          <a:p>
            <a:pPr marL="0" lvl="0" indent="0" algn="ctr">
              <a:lnSpc>
                <a:spcPts val="7500"/>
              </a:lnSpc>
            </a:pPr>
            <a:r>
              <a:rPr lang="en-US" sz="7500">
                <a:solidFill>
                  <a:srgbClr val="3A3E61"/>
                </a:solidFill>
                <a:latin typeface="Unique"/>
                <a:ea typeface="Unique"/>
                <a:cs typeface="Unique"/>
                <a:sym typeface="Unique"/>
              </a:rPr>
              <a:t>Diagram Semantic network</a:t>
            </a:r>
          </a:p>
        </p:txBody>
      </p:sp>
      <p:sp>
        <p:nvSpPr>
          <p:cNvPr id="3" name="Freeform 3"/>
          <p:cNvSpPr/>
          <p:nvPr/>
        </p:nvSpPr>
        <p:spPr>
          <a:xfrm rot="-5593216">
            <a:off x="14784617" y="-2350042"/>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2"/>
            <a:stretch>
              <a:fillRect/>
            </a:stretch>
          </a:blipFill>
        </p:spPr>
      </p:sp>
      <p:sp>
        <p:nvSpPr>
          <p:cNvPr id="4" name="Freeform 4"/>
          <p:cNvSpPr/>
          <p:nvPr/>
        </p:nvSpPr>
        <p:spPr>
          <a:xfrm rot="2499016">
            <a:off x="16319550" y="8288577"/>
            <a:ext cx="1879499" cy="1939446"/>
          </a:xfrm>
          <a:custGeom>
            <a:avLst/>
            <a:gdLst/>
            <a:ahLst/>
            <a:cxnLst/>
            <a:rect l="l" t="t" r="r" b="b"/>
            <a:pathLst>
              <a:path w="1879499" h="1939446">
                <a:moveTo>
                  <a:pt x="0" y="0"/>
                </a:moveTo>
                <a:lnTo>
                  <a:pt x="1879500" y="0"/>
                </a:lnTo>
                <a:lnTo>
                  <a:pt x="1879500" y="1939446"/>
                </a:lnTo>
                <a:lnTo>
                  <a:pt x="0" y="19394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512816">
            <a:off x="-10054260" y="-10134907"/>
            <a:ext cx="13973120" cy="13973120"/>
          </a:xfrm>
          <a:custGeom>
            <a:avLst/>
            <a:gdLst/>
            <a:ahLst/>
            <a:cxnLst/>
            <a:rect l="l" t="t" r="r" b="b"/>
            <a:pathLst>
              <a:path w="13973120" h="13973120">
                <a:moveTo>
                  <a:pt x="0" y="0"/>
                </a:moveTo>
                <a:lnTo>
                  <a:pt x="13973119" y="0"/>
                </a:lnTo>
                <a:lnTo>
                  <a:pt x="13973119" y="13973120"/>
                </a:lnTo>
                <a:lnTo>
                  <a:pt x="0" y="13973120"/>
                </a:lnTo>
                <a:lnTo>
                  <a:pt x="0" y="0"/>
                </a:lnTo>
                <a:close/>
              </a:path>
            </a:pathLst>
          </a:custGeom>
          <a:blipFill>
            <a:blip r:embed="rId4"/>
            <a:stretch>
              <a:fillRect/>
            </a:stretch>
          </a:blipFill>
        </p:spPr>
      </p:sp>
      <p:sp>
        <p:nvSpPr>
          <p:cNvPr id="6" name="Freeform 6"/>
          <p:cNvSpPr/>
          <p:nvPr/>
        </p:nvSpPr>
        <p:spPr>
          <a:xfrm>
            <a:off x="4076775" y="2474552"/>
            <a:ext cx="10134450" cy="6783748"/>
          </a:xfrm>
          <a:custGeom>
            <a:avLst/>
            <a:gdLst/>
            <a:ahLst/>
            <a:cxnLst/>
            <a:rect l="l" t="t" r="r" b="b"/>
            <a:pathLst>
              <a:path w="10134450" h="6783748">
                <a:moveTo>
                  <a:pt x="0" y="0"/>
                </a:moveTo>
                <a:lnTo>
                  <a:pt x="10134450" y="0"/>
                </a:lnTo>
                <a:lnTo>
                  <a:pt x="10134450" y="6783748"/>
                </a:lnTo>
                <a:lnTo>
                  <a:pt x="0" y="6783748"/>
                </a:lnTo>
                <a:lnTo>
                  <a:pt x="0" y="0"/>
                </a:lnTo>
                <a:close/>
              </a:path>
            </a:pathLst>
          </a:custGeom>
          <a:blipFill>
            <a:blip r:embed="rId5"/>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TextBox 2"/>
          <p:cNvSpPr txBox="1"/>
          <p:nvPr/>
        </p:nvSpPr>
        <p:spPr>
          <a:xfrm>
            <a:off x="2805910" y="666436"/>
            <a:ext cx="12066581" cy="2241463"/>
          </a:xfrm>
          <a:prstGeom prst="rect">
            <a:avLst/>
          </a:prstGeom>
        </p:spPr>
        <p:txBody>
          <a:bodyPr lIns="0" tIns="0" rIns="0" bIns="0" rtlCol="0" anchor="t">
            <a:spAutoFit/>
          </a:bodyPr>
          <a:lstStyle/>
          <a:p>
            <a:pPr marL="0" lvl="0" indent="0" algn="ctr">
              <a:lnSpc>
                <a:spcPts val="8000"/>
              </a:lnSpc>
            </a:pPr>
            <a:r>
              <a:rPr lang="en-US" sz="8000">
                <a:solidFill>
                  <a:srgbClr val="3A3E61"/>
                </a:solidFill>
                <a:latin typeface="Unique"/>
                <a:ea typeface="Unique"/>
                <a:cs typeface="Unique"/>
                <a:sym typeface="Unique"/>
              </a:rPr>
              <a:t>Reasoning dari fakta, relasi, dan aturan</a:t>
            </a:r>
          </a:p>
        </p:txBody>
      </p:sp>
      <p:sp>
        <p:nvSpPr>
          <p:cNvPr id="3" name="Freeform 3"/>
          <p:cNvSpPr/>
          <p:nvPr/>
        </p:nvSpPr>
        <p:spPr>
          <a:xfrm rot="-5593216">
            <a:off x="14784617" y="-2350042"/>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2"/>
            <a:stretch>
              <a:fillRect/>
            </a:stretch>
          </a:blipFill>
        </p:spPr>
      </p:sp>
      <p:sp>
        <p:nvSpPr>
          <p:cNvPr id="4" name="Freeform 4"/>
          <p:cNvSpPr/>
          <p:nvPr/>
        </p:nvSpPr>
        <p:spPr>
          <a:xfrm rot="2499016">
            <a:off x="16319550" y="8288577"/>
            <a:ext cx="1879499" cy="1939446"/>
          </a:xfrm>
          <a:custGeom>
            <a:avLst/>
            <a:gdLst/>
            <a:ahLst/>
            <a:cxnLst/>
            <a:rect l="l" t="t" r="r" b="b"/>
            <a:pathLst>
              <a:path w="1879499" h="1939446">
                <a:moveTo>
                  <a:pt x="0" y="0"/>
                </a:moveTo>
                <a:lnTo>
                  <a:pt x="1879500" y="0"/>
                </a:lnTo>
                <a:lnTo>
                  <a:pt x="1879500" y="1939446"/>
                </a:lnTo>
                <a:lnTo>
                  <a:pt x="0" y="19394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512816">
            <a:off x="-10054260" y="-10134907"/>
            <a:ext cx="13973120" cy="13973120"/>
          </a:xfrm>
          <a:custGeom>
            <a:avLst/>
            <a:gdLst/>
            <a:ahLst/>
            <a:cxnLst/>
            <a:rect l="l" t="t" r="r" b="b"/>
            <a:pathLst>
              <a:path w="13973120" h="13973120">
                <a:moveTo>
                  <a:pt x="0" y="0"/>
                </a:moveTo>
                <a:lnTo>
                  <a:pt x="13973119" y="0"/>
                </a:lnTo>
                <a:lnTo>
                  <a:pt x="13973119" y="13973120"/>
                </a:lnTo>
                <a:lnTo>
                  <a:pt x="0" y="13973120"/>
                </a:lnTo>
                <a:lnTo>
                  <a:pt x="0" y="0"/>
                </a:lnTo>
                <a:close/>
              </a:path>
            </a:pathLst>
          </a:custGeom>
          <a:blipFill>
            <a:blip r:embed="rId4"/>
            <a:stretch>
              <a:fillRect/>
            </a:stretch>
          </a:blipFill>
        </p:spPr>
      </p:sp>
      <p:sp>
        <p:nvSpPr>
          <p:cNvPr id="6" name="Freeform 6"/>
          <p:cNvSpPr/>
          <p:nvPr/>
        </p:nvSpPr>
        <p:spPr>
          <a:xfrm>
            <a:off x="1527283" y="3507898"/>
            <a:ext cx="14623834" cy="5371800"/>
          </a:xfrm>
          <a:custGeom>
            <a:avLst/>
            <a:gdLst/>
            <a:ahLst/>
            <a:cxnLst/>
            <a:rect l="l" t="t" r="r" b="b"/>
            <a:pathLst>
              <a:path w="14623834" h="5371800">
                <a:moveTo>
                  <a:pt x="0" y="0"/>
                </a:moveTo>
                <a:lnTo>
                  <a:pt x="14623834" y="0"/>
                </a:lnTo>
                <a:lnTo>
                  <a:pt x="14623834" y="5371800"/>
                </a:lnTo>
                <a:lnTo>
                  <a:pt x="0" y="5371800"/>
                </a:lnTo>
                <a:lnTo>
                  <a:pt x="0" y="0"/>
                </a:lnTo>
                <a:close/>
              </a:path>
            </a:pathLst>
          </a:custGeom>
          <a:blipFill>
            <a:blip r:embed="rId5"/>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a:off x="15690376" y="2433829"/>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3" name="Freeform 3"/>
          <p:cNvSpPr/>
          <p:nvPr/>
        </p:nvSpPr>
        <p:spPr>
          <a:xfrm>
            <a:off x="15074886" y="-1296798"/>
            <a:ext cx="5312174" cy="6071055"/>
          </a:xfrm>
          <a:custGeom>
            <a:avLst/>
            <a:gdLst/>
            <a:ahLst/>
            <a:cxnLst/>
            <a:rect l="l" t="t" r="r" b="b"/>
            <a:pathLst>
              <a:path w="5312174" h="6071055">
                <a:moveTo>
                  <a:pt x="0" y="0"/>
                </a:moveTo>
                <a:lnTo>
                  <a:pt x="5312173" y="0"/>
                </a:lnTo>
                <a:lnTo>
                  <a:pt x="5312173" y="6071056"/>
                </a:lnTo>
                <a:lnTo>
                  <a:pt x="0" y="6071056"/>
                </a:lnTo>
                <a:lnTo>
                  <a:pt x="0" y="0"/>
                </a:lnTo>
                <a:close/>
              </a:path>
            </a:pathLst>
          </a:custGeom>
          <a:blipFill>
            <a:blip r:embed="rId3"/>
            <a:stretch>
              <a:fillRect/>
            </a:stretch>
          </a:blipFill>
        </p:spPr>
      </p:sp>
      <p:sp>
        <p:nvSpPr>
          <p:cNvPr id="4" name="Freeform 4"/>
          <p:cNvSpPr/>
          <p:nvPr/>
        </p:nvSpPr>
        <p:spPr>
          <a:xfrm>
            <a:off x="-5942051" y="-846623"/>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5" name="Freeform 5"/>
          <p:cNvSpPr/>
          <p:nvPr/>
        </p:nvSpPr>
        <p:spPr>
          <a:xfrm rot="-5593216">
            <a:off x="-2656087" y="5722679"/>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3"/>
            <a:stretch>
              <a:fillRect/>
            </a:stretch>
          </a:blipFill>
        </p:spPr>
      </p:sp>
      <p:grpSp>
        <p:nvGrpSpPr>
          <p:cNvPr id="6" name="Group 6"/>
          <p:cNvGrpSpPr/>
          <p:nvPr/>
        </p:nvGrpSpPr>
        <p:grpSpPr>
          <a:xfrm rot="5400000">
            <a:off x="318670" y="318670"/>
            <a:ext cx="1420060" cy="1420060"/>
            <a:chOff x="0" y="0"/>
            <a:chExt cx="1893413" cy="1893413"/>
          </a:xfrm>
        </p:grpSpPr>
        <p:sp>
          <p:nvSpPr>
            <p:cNvPr id="7" name="Freeform 7"/>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4"/>
              <a:stretch>
                <a:fillRect/>
              </a:stretch>
            </a:blipFill>
          </p:spPr>
        </p:sp>
        <p:grpSp>
          <p:nvGrpSpPr>
            <p:cNvPr id="8" name="Group 8"/>
            <p:cNvGrpSpPr/>
            <p:nvPr/>
          </p:nvGrpSpPr>
          <p:grpSpPr>
            <a:xfrm>
              <a:off x="839799" y="527514"/>
              <a:ext cx="213816" cy="21381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11" name="Group 11"/>
            <p:cNvGrpSpPr/>
            <p:nvPr/>
          </p:nvGrpSpPr>
          <p:grpSpPr>
            <a:xfrm>
              <a:off x="839799" y="1152084"/>
              <a:ext cx="213816" cy="21381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sp>
        <p:nvSpPr>
          <p:cNvPr id="14" name="Freeform 14"/>
          <p:cNvSpPr/>
          <p:nvPr/>
        </p:nvSpPr>
        <p:spPr>
          <a:xfrm>
            <a:off x="723715" y="2088111"/>
            <a:ext cx="15435005" cy="7480044"/>
          </a:xfrm>
          <a:custGeom>
            <a:avLst/>
            <a:gdLst/>
            <a:ahLst/>
            <a:cxnLst/>
            <a:rect l="l" t="t" r="r" b="b"/>
            <a:pathLst>
              <a:path w="15435005" h="7480044">
                <a:moveTo>
                  <a:pt x="0" y="0"/>
                </a:moveTo>
                <a:lnTo>
                  <a:pt x="0" y="7251445"/>
                </a:lnTo>
                <a:cubicBezTo>
                  <a:pt x="0" y="7312073"/>
                  <a:pt x="24085" y="7370219"/>
                  <a:pt x="66956" y="7413089"/>
                </a:cubicBezTo>
                <a:cubicBezTo>
                  <a:pt x="109827" y="7455960"/>
                  <a:pt x="167972" y="7480045"/>
                  <a:pt x="228600" y="7480045"/>
                </a:cubicBezTo>
                <a:lnTo>
                  <a:pt x="15435006" y="7480045"/>
                </a:lnTo>
              </a:path>
            </a:pathLst>
          </a:custGeom>
          <a:ln w="76200" cap="rnd">
            <a:solidFill>
              <a:srgbClr val="9AA5DF"/>
            </a:solidFill>
            <a:prstDash val="sysDash"/>
            <a:headEnd type="none" w="sm" len="sm"/>
            <a:tailEnd type="none" w="sm" len="sm"/>
          </a:ln>
        </p:spPr>
      </p:sp>
      <p:grpSp>
        <p:nvGrpSpPr>
          <p:cNvPr id="15" name="Group 15"/>
          <p:cNvGrpSpPr/>
          <p:nvPr/>
        </p:nvGrpSpPr>
        <p:grpSpPr>
          <a:xfrm rot="5400000">
            <a:off x="16549270" y="8548270"/>
            <a:ext cx="1420060" cy="1420060"/>
            <a:chOff x="0" y="0"/>
            <a:chExt cx="1893413" cy="1893413"/>
          </a:xfrm>
        </p:grpSpPr>
        <p:sp>
          <p:nvSpPr>
            <p:cNvPr id="16" name="Freeform 16"/>
            <p:cNvSpPr/>
            <p:nvPr/>
          </p:nvSpPr>
          <p:spPr>
            <a:xfrm>
              <a:off x="0" y="0"/>
              <a:ext cx="1893413" cy="1893413"/>
            </a:xfrm>
            <a:custGeom>
              <a:avLst/>
              <a:gdLst/>
              <a:ahLst/>
              <a:cxnLst/>
              <a:rect l="l" t="t" r="r" b="b"/>
              <a:pathLst>
                <a:path w="1893413" h="1893413">
                  <a:moveTo>
                    <a:pt x="0" y="0"/>
                  </a:moveTo>
                  <a:lnTo>
                    <a:pt x="1893413" y="0"/>
                  </a:lnTo>
                  <a:lnTo>
                    <a:pt x="1893413" y="1893413"/>
                  </a:lnTo>
                  <a:lnTo>
                    <a:pt x="0" y="1893413"/>
                  </a:lnTo>
                  <a:lnTo>
                    <a:pt x="0" y="0"/>
                  </a:lnTo>
                  <a:close/>
                </a:path>
              </a:pathLst>
            </a:custGeom>
            <a:blipFill>
              <a:blip r:embed="rId4"/>
              <a:stretch>
                <a:fillRect/>
              </a:stretch>
            </a:blipFill>
          </p:spPr>
        </p:sp>
        <p:grpSp>
          <p:nvGrpSpPr>
            <p:cNvPr id="17" name="Group 17"/>
            <p:cNvGrpSpPr/>
            <p:nvPr/>
          </p:nvGrpSpPr>
          <p:grpSpPr>
            <a:xfrm>
              <a:off x="839799" y="527514"/>
              <a:ext cx="213816" cy="21381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839799" y="1152084"/>
              <a:ext cx="213816" cy="21381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p>
            </p:txBody>
          </p:sp>
        </p:grpSp>
      </p:grpSp>
      <p:sp>
        <p:nvSpPr>
          <p:cNvPr id="23" name="AutoShape 23"/>
          <p:cNvSpPr/>
          <p:nvPr/>
        </p:nvSpPr>
        <p:spPr>
          <a:xfrm flipV="1">
            <a:off x="1364519" y="2433829"/>
            <a:ext cx="0" cy="6019055"/>
          </a:xfrm>
          <a:prstGeom prst="line">
            <a:avLst/>
          </a:prstGeom>
          <a:ln w="57150" cap="rnd">
            <a:solidFill>
              <a:srgbClr val="3A3E61"/>
            </a:solidFill>
            <a:prstDash val="sysDash"/>
            <a:headEnd type="none" w="sm" len="sm"/>
            <a:tailEnd type="none" w="sm" len="sm"/>
          </a:ln>
        </p:spPr>
      </p:sp>
      <p:sp>
        <p:nvSpPr>
          <p:cNvPr id="25" name="TextBox 25"/>
          <p:cNvSpPr txBox="1"/>
          <p:nvPr/>
        </p:nvSpPr>
        <p:spPr>
          <a:xfrm>
            <a:off x="5245684" y="1241126"/>
            <a:ext cx="7796633"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Video to concept mapping</a:t>
            </a:r>
          </a:p>
        </p:txBody>
      </p:sp>
      <p:pic>
        <p:nvPicPr>
          <p:cNvPr id="27" name="Picture 26">
            <a:extLst>
              <a:ext uri="{FF2B5EF4-FFF2-40B4-BE49-F238E27FC236}">
                <a16:creationId xmlns:a16="http://schemas.microsoft.com/office/drawing/2014/main" id="{1C4B51DB-D533-1BA5-E334-2D6ED27488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8076" y="2180919"/>
            <a:ext cx="12171847" cy="59782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rot="2025189">
            <a:off x="15794744" y="5386987"/>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3" name="Freeform 3"/>
          <p:cNvSpPr/>
          <p:nvPr/>
        </p:nvSpPr>
        <p:spPr>
          <a:xfrm>
            <a:off x="14202090" y="-1322495"/>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3"/>
            <a:stretch>
              <a:fillRect/>
            </a:stretch>
          </a:blipFill>
        </p:spPr>
      </p:sp>
      <p:sp>
        <p:nvSpPr>
          <p:cNvPr id="4" name="Freeform 4"/>
          <p:cNvSpPr/>
          <p:nvPr/>
        </p:nvSpPr>
        <p:spPr>
          <a:xfrm rot="2025189">
            <a:off x="-5688281" y="-4678754"/>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5" name="Freeform 5"/>
          <p:cNvSpPr/>
          <p:nvPr/>
        </p:nvSpPr>
        <p:spPr>
          <a:xfrm rot="-5593216">
            <a:off x="-2656087" y="6587957"/>
            <a:ext cx="5312174" cy="6071055"/>
          </a:xfrm>
          <a:custGeom>
            <a:avLst/>
            <a:gdLst/>
            <a:ahLst/>
            <a:cxnLst/>
            <a:rect l="l" t="t" r="r" b="b"/>
            <a:pathLst>
              <a:path w="5312174" h="6071055">
                <a:moveTo>
                  <a:pt x="0" y="0"/>
                </a:moveTo>
                <a:lnTo>
                  <a:pt x="5312174" y="0"/>
                </a:lnTo>
                <a:lnTo>
                  <a:pt x="5312174" y="6071056"/>
                </a:lnTo>
                <a:lnTo>
                  <a:pt x="0" y="6071056"/>
                </a:lnTo>
                <a:lnTo>
                  <a:pt x="0" y="0"/>
                </a:lnTo>
                <a:close/>
              </a:path>
            </a:pathLst>
          </a:custGeom>
          <a:blipFill>
            <a:blip r:embed="rId3"/>
            <a:stretch>
              <a:fillRect/>
            </a:stretch>
          </a:blipFill>
        </p:spPr>
      </p:sp>
      <p:grpSp>
        <p:nvGrpSpPr>
          <p:cNvPr id="6" name="Group 6"/>
          <p:cNvGrpSpPr/>
          <p:nvPr/>
        </p:nvGrpSpPr>
        <p:grpSpPr>
          <a:xfrm rot="5400000">
            <a:off x="101973" y="8331573"/>
            <a:ext cx="1853455" cy="1853455"/>
            <a:chOff x="0" y="0"/>
            <a:chExt cx="2471273" cy="2471273"/>
          </a:xfrm>
        </p:grpSpPr>
        <p:sp>
          <p:nvSpPr>
            <p:cNvPr id="7" name="Freeform 7"/>
            <p:cNvSpPr/>
            <p:nvPr/>
          </p:nvSpPr>
          <p:spPr>
            <a:xfrm>
              <a:off x="0" y="0"/>
              <a:ext cx="2471273" cy="2471273"/>
            </a:xfrm>
            <a:custGeom>
              <a:avLst/>
              <a:gdLst/>
              <a:ahLst/>
              <a:cxnLst/>
              <a:rect l="l" t="t" r="r" b="b"/>
              <a:pathLst>
                <a:path w="2471273" h="2471273">
                  <a:moveTo>
                    <a:pt x="0" y="0"/>
                  </a:moveTo>
                  <a:lnTo>
                    <a:pt x="2471273" y="0"/>
                  </a:lnTo>
                  <a:lnTo>
                    <a:pt x="2471273" y="2471273"/>
                  </a:lnTo>
                  <a:lnTo>
                    <a:pt x="0" y="2471273"/>
                  </a:lnTo>
                  <a:lnTo>
                    <a:pt x="0" y="0"/>
                  </a:lnTo>
                  <a:close/>
                </a:path>
              </a:pathLst>
            </a:custGeom>
            <a:blipFill>
              <a:blip r:embed="rId4"/>
              <a:stretch>
                <a:fillRect/>
              </a:stretch>
            </a:blipFill>
          </p:spPr>
        </p:sp>
        <p:grpSp>
          <p:nvGrpSpPr>
            <p:cNvPr id="8" name="Group 8"/>
            <p:cNvGrpSpPr/>
            <p:nvPr/>
          </p:nvGrpSpPr>
          <p:grpSpPr>
            <a:xfrm>
              <a:off x="1096101" y="688508"/>
              <a:ext cx="279071" cy="27907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96101" y="1503694"/>
              <a:ext cx="279071" cy="27907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sp>
        <p:nvSpPr>
          <p:cNvPr id="14" name="Freeform 14"/>
          <p:cNvSpPr/>
          <p:nvPr/>
        </p:nvSpPr>
        <p:spPr>
          <a:xfrm rot="-5400000">
            <a:off x="5563590" y="-1972789"/>
            <a:ext cx="3266710" cy="11534244"/>
          </a:xfrm>
          <a:custGeom>
            <a:avLst/>
            <a:gdLst/>
            <a:ahLst/>
            <a:cxnLst/>
            <a:rect l="l" t="t" r="r" b="b"/>
            <a:pathLst>
              <a:path w="3266710" h="11534244">
                <a:moveTo>
                  <a:pt x="0" y="0"/>
                </a:moveTo>
                <a:lnTo>
                  <a:pt x="3266710" y="0"/>
                </a:lnTo>
                <a:lnTo>
                  <a:pt x="3266710" y="11534244"/>
                </a:lnTo>
                <a:lnTo>
                  <a:pt x="0" y="11534244"/>
                </a:lnTo>
                <a:lnTo>
                  <a:pt x="0" y="0"/>
                </a:lnTo>
                <a:close/>
              </a:path>
            </a:pathLst>
          </a:custGeom>
          <a:blipFill>
            <a:blip r:embed="rId5"/>
            <a:stretch>
              <a:fillRect l="-33326" r="-97944"/>
            </a:stretch>
          </a:blipFill>
        </p:spPr>
      </p:sp>
      <p:grpSp>
        <p:nvGrpSpPr>
          <p:cNvPr id="15" name="Group 15"/>
          <p:cNvGrpSpPr/>
          <p:nvPr/>
        </p:nvGrpSpPr>
        <p:grpSpPr>
          <a:xfrm>
            <a:off x="1609695" y="2361557"/>
            <a:ext cx="11174500" cy="2865551"/>
            <a:chOff x="0" y="0"/>
            <a:chExt cx="3159690" cy="810260"/>
          </a:xfrm>
        </p:grpSpPr>
        <p:sp>
          <p:nvSpPr>
            <p:cNvPr id="16" name="Freeform 16"/>
            <p:cNvSpPr/>
            <p:nvPr/>
          </p:nvSpPr>
          <p:spPr>
            <a:xfrm>
              <a:off x="0" y="0"/>
              <a:ext cx="3159690" cy="810260"/>
            </a:xfrm>
            <a:custGeom>
              <a:avLst/>
              <a:gdLst/>
              <a:ahLst/>
              <a:cxnLst/>
              <a:rect l="l" t="t" r="r" b="b"/>
              <a:pathLst>
                <a:path w="3159690" h="810260">
                  <a:moveTo>
                    <a:pt x="0" y="0"/>
                  </a:moveTo>
                  <a:lnTo>
                    <a:pt x="3159690" y="0"/>
                  </a:lnTo>
                  <a:lnTo>
                    <a:pt x="3159690" y="810260"/>
                  </a:lnTo>
                  <a:lnTo>
                    <a:pt x="0" y="810260"/>
                  </a:lnTo>
                  <a:close/>
                </a:path>
              </a:pathLst>
            </a:custGeom>
            <a:solidFill>
              <a:srgbClr val="FFFFFF">
                <a:alpha val="52941"/>
              </a:srgbClr>
            </a:solidFill>
          </p:spPr>
        </p:sp>
        <p:sp>
          <p:nvSpPr>
            <p:cNvPr id="17" name="TextBox 17"/>
            <p:cNvSpPr txBox="1"/>
            <p:nvPr/>
          </p:nvSpPr>
          <p:spPr>
            <a:xfrm>
              <a:off x="0" y="-47625"/>
              <a:ext cx="3159690" cy="857885"/>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id="18" name="TextBox 18"/>
          <p:cNvSpPr txBox="1"/>
          <p:nvPr/>
        </p:nvSpPr>
        <p:spPr>
          <a:xfrm>
            <a:off x="1609695" y="971093"/>
            <a:ext cx="13097359" cy="846985"/>
          </a:xfrm>
          <a:prstGeom prst="rect">
            <a:avLst/>
          </a:prstGeom>
        </p:spPr>
        <p:txBody>
          <a:bodyPr lIns="0" tIns="0" rIns="0" bIns="0" rtlCol="0" anchor="t">
            <a:spAutoFit/>
          </a:bodyPr>
          <a:lstStyle/>
          <a:p>
            <a:pPr algn="ctr">
              <a:lnSpc>
                <a:spcPts val="5714"/>
              </a:lnSpc>
            </a:pPr>
            <a:r>
              <a:rPr lang="en-US" sz="5195">
                <a:solidFill>
                  <a:srgbClr val="3A3E61"/>
                </a:solidFill>
                <a:latin typeface="Unique"/>
                <a:ea typeface="Unique"/>
                <a:cs typeface="Unique"/>
                <a:sym typeface="Unique"/>
              </a:rPr>
              <a:t>Refleksi, pembagian kontribusi, referensi</a:t>
            </a:r>
          </a:p>
        </p:txBody>
      </p:sp>
      <p:sp>
        <p:nvSpPr>
          <p:cNvPr id="19" name="Freeform 19"/>
          <p:cNvSpPr/>
          <p:nvPr/>
        </p:nvSpPr>
        <p:spPr>
          <a:xfrm rot="-5400000">
            <a:off x="10303920" y="2016316"/>
            <a:ext cx="2799985" cy="10308528"/>
          </a:xfrm>
          <a:custGeom>
            <a:avLst/>
            <a:gdLst/>
            <a:ahLst/>
            <a:cxnLst/>
            <a:rect l="l" t="t" r="r" b="b"/>
            <a:pathLst>
              <a:path w="2799985" h="10308528">
                <a:moveTo>
                  <a:pt x="0" y="0"/>
                </a:moveTo>
                <a:lnTo>
                  <a:pt x="2799985" y="0"/>
                </a:lnTo>
                <a:lnTo>
                  <a:pt x="2799985" y="10308528"/>
                </a:lnTo>
                <a:lnTo>
                  <a:pt x="0" y="10308528"/>
                </a:lnTo>
                <a:lnTo>
                  <a:pt x="0" y="0"/>
                </a:lnTo>
                <a:close/>
              </a:path>
            </a:pathLst>
          </a:custGeom>
          <a:blipFill>
            <a:blip r:embed="rId5"/>
            <a:stretch>
              <a:fillRect l="-34749" r="-106397"/>
            </a:stretch>
          </a:blipFill>
        </p:spPr>
      </p:sp>
      <p:grpSp>
        <p:nvGrpSpPr>
          <p:cNvPr id="20" name="Group 20"/>
          <p:cNvGrpSpPr/>
          <p:nvPr/>
        </p:nvGrpSpPr>
        <p:grpSpPr>
          <a:xfrm>
            <a:off x="6782477" y="6013072"/>
            <a:ext cx="9895828" cy="2356921"/>
            <a:chOff x="0" y="0"/>
            <a:chExt cx="2798134" cy="666441"/>
          </a:xfrm>
        </p:grpSpPr>
        <p:sp>
          <p:nvSpPr>
            <p:cNvPr id="21" name="Freeform 21"/>
            <p:cNvSpPr/>
            <p:nvPr/>
          </p:nvSpPr>
          <p:spPr>
            <a:xfrm>
              <a:off x="0" y="0"/>
              <a:ext cx="2798134" cy="666441"/>
            </a:xfrm>
            <a:custGeom>
              <a:avLst/>
              <a:gdLst/>
              <a:ahLst/>
              <a:cxnLst/>
              <a:rect l="l" t="t" r="r" b="b"/>
              <a:pathLst>
                <a:path w="2798134" h="666441">
                  <a:moveTo>
                    <a:pt x="0" y="0"/>
                  </a:moveTo>
                  <a:lnTo>
                    <a:pt x="2798134" y="0"/>
                  </a:lnTo>
                  <a:lnTo>
                    <a:pt x="2798134" y="666441"/>
                  </a:lnTo>
                  <a:lnTo>
                    <a:pt x="0" y="666441"/>
                  </a:lnTo>
                  <a:close/>
                </a:path>
              </a:pathLst>
            </a:custGeom>
            <a:solidFill>
              <a:srgbClr val="FFFFFF">
                <a:alpha val="52941"/>
              </a:srgbClr>
            </a:solidFill>
          </p:spPr>
        </p:sp>
        <p:sp>
          <p:nvSpPr>
            <p:cNvPr id="22" name="TextBox 22"/>
            <p:cNvSpPr txBox="1"/>
            <p:nvPr/>
          </p:nvSpPr>
          <p:spPr>
            <a:xfrm>
              <a:off x="0" y="-47625"/>
              <a:ext cx="2798134" cy="714066"/>
            </a:xfrm>
            <a:prstGeom prst="rect">
              <a:avLst/>
            </a:prstGeom>
          </p:spPr>
          <p:txBody>
            <a:bodyPr lIns="50800" tIns="50800" rIns="50800" bIns="50800" rtlCol="0" anchor="ctr"/>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id="23" name="Group 23"/>
          <p:cNvGrpSpPr/>
          <p:nvPr/>
        </p:nvGrpSpPr>
        <p:grpSpPr>
          <a:xfrm rot="5400000">
            <a:off x="16185794" y="299493"/>
            <a:ext cx="1853455" cy="1853455"/>
            <a:chOff x="0" y="0"/>
            <a:chExt cx="2471273" cy="2471273"/>
          </a:xfrm>
        </p:grpSpPr>
        <p:sp>
          <p:nvSpPr>
            <p:cNvPr id="24" name="Freeform 24"/>
            <p:cNvSpPr/>
            <p:nvPr/>
          </p:nvSpPr>
          <p:spPr>
            <a:xfrm>
              <a:off x="0" y="0"/>
              <a:ext cx="2471273" cy="2471273"/>
            </a:xfrm>
            <a:custGeom>
              <a:avLst/>
              <a:gdLst/>
              <a:ahLst/>
              <a:cxnLst/>
              <a:rect l="l" t="t" r="r" b="b"/>
              <a:pathLst>
                <a:path w="2471273" h="2471273">
                  <a:moveTo>
                    <a:pt x="0" y="0"/>
                  </a:moveTo>
                  <a:lnTo>
                    <a:pt x="2471273" y="0"/>
                  </a:lnTo>
                  <a:lnTo>
                    <a:pt x="2471273" y="2471273"/>
                  </a:lnTo>
                  <a:lnTo>
                    <a:pt x="0" y="2471273"/>
                  </a:lnTo>
                  <a:lnTo>
                    <a:pt x="0" y="0"/>
                  </a:lnTo>
                  <a:close/>
                </a:path>
              </a:pathLst>
            </a:custGeom>
            <a:blipFill>
              <a:blip r:embed="rId4"/>
              <a:stretch>
                <a:fillRect/>
              </a:stretch>
            </a:blipFill>
          </p:spPr>
        </p:sp>
        <p:grpSp>
          <p:nvGrpSpPr>
            <p:cNvPr id="25" name="Group 25"/>
            <p:cNvGrpSpPr/>
            <p:nvPr/>
          </p:nvGrpSpPr>
          <p:grpSpPr>
            <a:xfrm>
              <a:off x="1096101" y="688508"/>
              <a:ext cx="279071" cy="27907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7" name="TextBox 2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1096101" y="1503694"/>
              <a:ext cx="279071" cy="27907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30" name="TextBox 3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grpSp>
        <p:nvGrpSpPr>
          <p:cNvPr id="31" name="Group 31"/>
          <p:cNvGrpSpPr/>
          <p:nvPr/>
        </p:nvGrpSpPr>
        <p:grpSpPr>
          <a:xfrm>
            <a:off x="206693" y="0"/>
            <a:ext cx="592806" cy="2562077"/>
            <a:chOff x="0" y="0"/>
            <a:chExt cx="790408" cy="3416102"/>
          </a:xfrm>
        </p:grpSpPr>
        <p:sp>
          <p:nvSpPr>
            <p:cNvPr id="32" name="Freeform 32"/>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3" name="Freeform 33"/>
            <p:cNvSpPr/>
            <p:nvPr/>
          </p:nvSpPr>
          <p:spPr>
            <a:xfrm>
              <a:off x="31094" y="913931"/>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4" name="Freeform 34"/>
            <p:cNvSpPr/>
            <p:nvPr/>
          </p:nvSpPr>
          <p:spPr>
            <a:xfrm>
              <a:off x="62189"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5" name="Freeform 35"/>
            <p:cNvSpPr/>
            <p:nvPr/>
          </p:nvSpPr>
          <p:spPr>
            <a:xfrm>
              <a:off x="93283" y="2741793"/>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grpSp>
        <p:nvGrpSpPr>
          <p:cNvPr id="36" name="Group 36"/>
          <p:cNvGrpSpPr/>
          <p:nvPr/>
        </p:nvGrpSpPr>
        <p:grpSpPr>
          <a:xfrm>
            <a:off x="17446443" y="7724923"/>
            <a:ext cx="592806" cy="2562077"/>
            <a:chOff x="0" y="0"/>
            <a:chExt cx="790408" cy="3416102"/>
          </a:xfrm>
        </p:grpSpPr>
        <p:sp>
          <p:nvSpPr>
            <p:cNvPr id="37" name="Freeform 37"/>
            <p:cNvSpPr/>
            <p:nvPr/>
          </p:nvSpPr>
          <p:spPr>
            <a:xfrm>
              <a:off x="0" y="0"/>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8" name="Freeform 38"/>
            <p:cNvSpPr/>
            <p:nvPr/>
          </p:nvSpPr>
          <p:spPr>
            <a:xfrm>
              <a:off x="31094" y="913931"/>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9" name="Freeform 39"/>
            <p:cNvSpPr/>
            <p:nvPr/>
          </p:nvSpPr>
          <p:spPr>
            <a:xfrm>
              <a:off x="62189" y="1827862"/>
              <a:ext cx="697124" cy="674309"/>
            </a:xfrm>
            <a:custGeom>
              <a:avLst/>
              <a:gdLst/>
              <a:ahLst/>
              <a:cxnLst/>
              <a:rect l="l" t="t" r="r" b="b"/>
              <a:pathLst>
                <a:path w="697124" h="674309">
                  <a:moveTo>
                    <a:pt x="0" y="0"/>
                  </a:moveTo>
                  <a:lnTo>
                    <a:pt x="697124" y="0"/>
                  </a:lnTo>
                  <a:lnTo>
                    <a:pt x="697124"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0" name="Freeform 40"/>
            <p:cNvSpPr/>
            <p:nvPr/>
          </p:nvSpPr>
          <p:spPr>
            <a:xfrm>
              <a:off x="93283" y="2741793"/>
              <a:ext cx="697124" cy="674309"/>
            </a:xfrm>
            <a:custGeom>
              <a:avLst/>
              <a:gdLst/>
              <a:ahLst/>
              <a:cxnLst/>
              <a:rect l="l" t="t" r="r" b="b"/>
              <a:pathLst>
                <a:path w="697124" h="674309">
                  <a:moveTo>
                    <a:pt x="0" y="0"/>
                  </a:moveTo>
                  <a:lnTo>
                    <a:pt x="697125" y="0"/>
                  </a:lnTo>
                  <a:lnTo>
                    <a:pt x="697125" y="674309"/>
                  </a:lnTo>
                  <a:lnTo>
                    <a:pt x="0" y="674309"/>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sp>
        <p:nvSpPr>
          <p:cNvPr id="41" name="TextBox 41"/>
          <p:cNvSpPr txBox="1"/>
          <p:nvPr/>
        </p:nvSpPr>
        <p:spPr>
          <a:xfrm>
            <a:off x="1692155" y="2425750"/>
            <a:ext cx="11009580" cy="2757743"/>
          </a:xfrm>
          <a:prstGeom prst="rect">
            <a:avLst/>
          </a:prstGeom>
        </p:spPr>
        <p:txBody>
          <a:bodyPr lIns="0" tIns="0" rIns="0" bIns="0" rtlCol="0" anchor="t">
            <a:spAutoFit/>
          </a:bodyPr>
          <a:lstStyle/>
          <a:p>
            <a:pPr algn="ctr">
              <a:lnSpc>
                <a:spcPts val="2728"/>
              </a:lnSpc>
            </a:pPr>
            <a:r>
              <a:rPr lang="en-US" sz="2236" dirty="0" err="1">
                <a:solidFill>
                  <a:srgbClr val="3A3E61"/>
                </a:solidFill>
                <a:latin typeface="Vintii"/>
                <a:ea typeface="Vintii"/>
                <a:cs typeface="Vintii"/>
                <a:sym typeface="Vintii"/>
              </a:rPr>
              <a:t>Lewat</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tugas</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ini</a:t>
            </a:r>
            <a:r>
              <a:rPr lang="en-US" sz="2236" dirty="0">
                <a:solidFill>
                  <a:srgbClr val="3A3E61"/>
                </a:solidFill>
                <a:latin typeface="Vintii"/>
                <a:ea typeface="Vintii"/>
                <a:cs typeface="Vintii"/>
                <a:sym typeface="Vintii"/>
              </a:rPr>
              <a:t> kami </a:t>
            </a:r>
            <a:r>
              <a:rPr lang="en-US" sz="2236" dirty="0" err="1">
                <a:solidFill>
                  <a:srgbClr val="3A3E61"/>
                </a:solidFill>
                <a:latin typeface="Vintii"/>
                <a:ea typeface="Vintii"/>
                <a:cs typeface="Vintii"/>
                <a:sym typeface="Vintii"/>
              </a:rPr>
              <a:t>belajar</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bahwa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komputer</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bisa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menarik</a:t>
            </a:r>
            <a:r>
              <a:rPr lang="en-US" sz="2236" dirty="0">
                <a:solidFill>
                  <a:srgbClr val="3A3E61"/>
                </a:solidFill>
                <a:latin typeface="Vintii"/>
                <a:ea typeface="Vintii"/>
                <a:cs typeface="Vintii"/>
                <a:sym typeface="Vintii"/>
              </a:rPr>
              <a:t> Kesimpulan </a:t>
            </a:r>
            <a:r>
              <a:rPr lang="en-US" sz="2236" dirty="0" err="1">
                <a:solidFill>
                  <a:srgbClr val="3A3E61"/>
                </a:solidFill>
                <a:latin typeface="Vintii"/>
                <a:ea typeface="Vintii"/>
                <a:cs typeface="Vintii"/>
                <a:sym typeface="Vintii"/>
              </a:rPr>
              <a:t>jika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pengetahuan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ditulis</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terstruktur</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sebagai</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fakta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relasi</a:t>
            </a:r>
            <a:r>
              <a:rPr lang="en-US" sz="2236" dirty="0">
                <a:solidFill>
                  <a:srgbClr val="3A3E61"/>
                </a:solidFill>
                <a:latin typeface="Vintii"/>
                <a:ea typeface="Vintii"/>
                <a:cs typeface="Vintii"/>
                <a:sym typeface="Vintii"/>
              </a:rPr>
              <a:t>, dan </a:t>
            </a:r>
            <a:r>
              <a:rPr lang="en-US" sz="2236" dirty="0" err="1">
                <a:solidFill>
                  <a:srgbClr val="3A3E61"/>
                </a:solidFill>
                <a:latin typeface="Vintii"/>
                <a:ea typeface="Vintii"/>
                <a:cs typeface="Vintii"/>
                <a:sym typeface="Vintii"/>
              </a:rPr>
              <a:t>aturan</a:t>
            </a:r>
            <a:r>
              <a:rPr lang="en-US" sz="2236" dirty="0">
                <a:solidFill>
                  <a:srgbClr val="3A3E61"/>
                </a:solidFill>
                <a:latin typeface="Vintii"/>
                <a:ea typeface="Vintii"/>
                <a:cs typeface="Vintii"/>
                <a:sym typeface="Vintii"/>
              </a:rPr>
              <a:t> IF-THEN. Di knowledge base </a:t>
            </a:r>
            <a:r>
              <a:rPr lang="en-US" sz="2236" dirty="0" err="1">
                <a:solidFill>
                  <a:srgbClr val="3A3E61"/>
                </a:solidFill>
                <a:latin typeface="Vintii"/>
                <a:ea typeface="Vintii"/>
                <a:cs typeface="Vintii"/>
                <a:sym typeface="Vintii"/>
              </a:rPr>
              <a:t>toko</a:t>
            </a:r>
            <a:r>
              <a:rPr lang="en-US" sz="2236" dirty="0">
                <a:solidFill>
                  <a:srgbClr val="3A3E61"/>
                </a:solidFill>
                <a:latin typeface="Vintii"/>
                <a:ea typeface="Vintii"/>
                <a:cs typeface="Vintii"/>
                <a:sym typeface="Vintii"/>
              </a:rPr>
              <a:t> online, Kesimpulan </a:t>
            </a:r>
            <a:r>
              <a:rPr lang="en-US" sz="2236" dirty="0" err="1">
                <a:solidFill>
                  <a:srgbClr val="3A3E61"/>
                </a:solidFill>
                <a:latin typeface="Vintii"/>
                <a:ea typeface="Vintii"/>
                <a:cs typeface="Vintii"/>
                <a:sym typeface="Vintii"/>
              </a:rPr>
              <a:t>seperti</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Pesanan</a:t>
            </a:r>
            <a:r>
              <a:rPr lang="en-US" sz="2236" dirty="0">
                <a:solidFill>
                  <a:srgbClr val="3A3E61"/>
                </a:solidFill>
                <a:latin typeface="Vintii"/>
                <a:ea typeface="Vintii"/>
                <a:cs typeface="Vintii"/>
                <a:sym typeface="Vintii"/>
              </a:rPr>
              <a:t>-A </a:t>
            </a:r>
            <a:r>
              <a:rPr lang="en-US" sz="2236" dirty="0" err="1">
                <a:solidFill>
                  <a:srgbClr val="3A3E61"/>
                </a:solidFill>
                <a:latin typeface="Vintii"/>
                <a:ea typeface="Vintii"/>
                <a:cs typeface="Vintii"/>
                <a:sym typeface="Vintii"/>
              </a:rPr>
              <a:t>perlu</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dibatalkan</a:t>
            </a:r>
            <a:r>
              <a:rPr lang="en-US" sz="2236" dirty="0">
                <a:solidFill>
                  <a:srgbClr val="3A3E61"/>
                </a:solidFill>
                <a:latin typeface="Vintii"/>
                <a:ea typeface="Vintii"/>
                <a:cs typeface="Vintii"/>
                <a:sym typeface="Vintii"/>
              </a:rPr>
              <a:t> dan dana </a:t>
            </a:r>
            <a:r>
              <a:rPr lang="en-US" sz="2236" dirty="0" err="1">
                <a:solidFill>
                  <a:srgbClr val="3A3E61"/>
                </a:solidFill>
                <a:latin typeface="Vintii"/>
                <a:ea typeface="Vintii"/>
                <a:cs typeface="Vintii"/>
                <a:sym typeface="Vintii"/>
              </a:rPr>
              <a:t>dikembalikan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muncul</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dari</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fakta</a:t>
            </a:r>
            <a:r>
              <a:rPr lang="en-US" sz="2236" dirty="0">
                <a:solidFill>
                  <a:srgbClr val="3A3E61"/>
                </a:solidFill>
                <a:latin typeface="Vintii"/>
                <a:ea typeface="Vintii"/>
                <a:cs typeface="Vintii"/>
                <a:sym typeface="Vintii"/>
              </a:rPr>
              <a:t> dan </a:t>
            </a:r>
            <a:r>
              <a:rPr lang="en-US" sz="2236" dirty="0" err="1">
                <a:solidFill>
                  <a:srgbClr val="3A3E61"/>
                </a:solidFill>
                <a:latin typeface="Vintii"/>
                <a:ea typeface="Vintii"/>
                <a:cs typeface="Vintii"/>
                <a:sym typeface="Vintii"/>
              </a:rPr>
              <a:t>aturan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bukan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ditulis</a:t>
            </a:r>
            <a:r>
              <a:rPr lang="en-US" sz="2236" dirty="0">
                <a:solidFill>
                  <a:srgbClr val="3A3E61"/>
                </a:solidFill>
                <a:latin typeface="Vintii"/>
                <a:ea typeface="Vintii"/>
                <a:cs typeface="Vintii"/>
                <a:sym typeface="Vintii"/>
              </a:rPr>
              <a:t> di </a:t>
            </a:r>
            <a:r>
              <a:rPr lang="en-US" sz="2236" dirty="0" err="1">
                <a:solidFill>
                  <a:srgbClr val="3A3E61"/>
                </a:solidFill>
                <a:latin typeface="Vintii"/>
                <a:ea typeface="Vintii"/>
                <a:cs typeface="Vintii"/>
                <a:sym typeface="Vintii"/>
              </a:rPr>
              <a:t>awal</a:t>
            </a:r>
            <a:r>
              <a:rPr lang="en-US" sz="2236" dirty="0">
                <a:solidFill>
                  <a:srgbClr val="3A3E61"/>
                </a:solidFill>
                <a:latin typeface="Vintii"/>
                <a:ea typeface="Vintii"/>
                <a:cs typeface="Vintii"/>
                <a:sym typeface="Vintii"/>
              </a:rPr>
              <a:t>. </a:t>
            </a:r>
          </a:p>
          <a:p>
            <a:pPr algn="ctr">
              <a:lnSpc>
                <a:spcPts val="2728"/>
              </a:lnSpc>
            </a:pPr>
            <a:r>
              <a:rPr lang="en-US" sz="2236" dirty="0">
                <a:solidFill>
                  <a:srgbClr val="3A3E61"/>
                </a:solidFill>
                <a:latin typeface="Vintii"/>
                <a:ea typeface="Vintii"/>
                <a:cs typeface="Vintii"/>
                <a:sym typeface="Vintii"/>
              </a:rPr>
              <a:t>Diagram semantic network paling </a:t>
            </a:r>
            <a:r>
              <a:rPr lang="en-US" sz="2236" dirty="0" err="1">
                <a:solidFill>
                  <a:srgbClr val="3A3E61"/>
                </a:solidFill>
                <a:latin typeface="Vintii"/>
                <a:ea typeface="Vintii"/>
                <a:cs typeface="Vintii"/>
                <a:sym typeface="Vintii"/>
              </a:rPr>
              <a:t>membantu</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karena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hubungan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antara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pembeli</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pesanan</a:t>
            </a:r>
            <a:r>
              <a:rPr lang="en-US" sz="2236" dirty="0">
                <a:solidFill>
                  <a:srgbClr val="3A3E61"/>
                </a:solidFill>
                <a:latin typeface="Vintii"/>
                <a:ea typeface="Vintii"/>
                <a:cs typeface="Vintii"/>
                <a:sym typeface="Vintii"/>
              </a:rPr>
              <a:t>, dan </a:t>
            </a:r>
            <a:r>
              <a:rPr lang="en-US" sz="2236" dirty="0" err="1">
                <a:solidFill>
                  <a:srgbClr val="3A3E61"/>
                </a:solidFill>
                <a:latin typeface="Vintii"/>
                <a:ea typeface="Vintii"/>
                <a:cs typeface="Vintii"/>
                <a:sym typeface="Vintii"/>
              </a:rPr>
              <a:t>produk</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jadi</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terlihat</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jelas</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Kesulitan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kamu</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adalah</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membedakan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fakta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relasi</a:t>
            </a:r>
            <a:r>
              <a:rPr lang="en-US" sz="2236" dirty="0">
                <a:solidFill>
                  <a:srgbClr val="3A3E61"/>
                </a:solidFill>
                <a:latin typeface="Vintii"/>
                <a:ea typeface="Vintii"/>
                <a:cs typeface="Vintii"/>
                <a:sym typeface="Vintii"/>
              </a:rPr>
              <a:t>, dan </a:t>
            </a:r>
            <a:r>
              <a:rPr lang="en-US" sz="2236" dirty="0" err="1">
                <a:solidFill>
                  <a:srgbClr val="3A3E61"/>
                </a:solidFill>
                <a:latin typeface="Vintii"/>
                <a:ea typeface="Vintii"/>
                <a:cs typeface="Vintii"/>
                <a:sym typeface="Vintii"/>
              </a:rPr>
              <a:t>aturan</a:t>
            </a:r>
            <a:r>
              <a:rPr lang="en-US" sz="2236" dirty="0">
                <a:solidFill>
                  <a:srgbClr val="3A3E61"/>
                </a:solidFill>
                <a:latin typeface="Vintii"/>
                <a:ea typeface="Vintii"/>
                <a:cs typeface="Vintii"/>
                <a:sym typeface="Vintii"/>
              </a:rPr>
              <a:t>.</a:t>
            </a:r>
          </a:p>
          <a:p>
            <a:pPr algn="ctr">
              <a:lnSpc>
                <a:spcPts val="2728"/>
              </a:lnSpc>
            </a:pPr>
            <a:r>
              <a:rPr lang="en-US" sz="2236" dirty="0" err="1">
                <a:solidFill>
                  <a:srgbClr val="3A3E61"/>
                </a:solidFill>
                <a:latin typeface="Vintii"/>
                <a:ea typeface="Vintii"/>
                <a:cs typeface="Vintii"/>
                <a:sym typeface="Vintii"/>
              </a:rPr>
              <a:t>Keterbatasannya</a:t>
            </a:r>
            <a:r>
              <a:rPr lang="en-US" sz="2236" dirty="0">
                <a:solidFill>
                  <a:srgbClr val="3A3E61"/>
                </a:solidFill>
                <a:latin typeface="Vintii"/>
                <a:ea typeface="Vintii"/>
                <a:cs typeface="Vintii"/>
                <a:sym typeface="Vintii"/>
              </a:rPr>
              <a:t>: Kesimpulan </a:t>
            </a:r>
            <a:r>
              <a:rPr lang="en-US" sz="2236" dirty="0" err="1">
                <a:solidFill>
                  <a:srgbClr val="3A3E61"/>
                </a:solidFill>
                <a:latin typeface="Vintii"/>
                <a:ea typeface="Vintii"/>
                <a:cs typeface="Vintii"/>
                <a:sym typeface="Vintii"/>
              </a:rPr>
              <a:t>hanya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sebaik</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isi</a:t>
            </a:r>
            <a:r>
              <a:rPr lang="en-US" sz="2236" dirty="0">
                <a:solidFill>
                  <a:srgbClr val="3A3E61"/>
                </a:solidFill>
                <a:latin typeface="Vintii"/>
                <a:ea typeface="Vintii"/>
                <a:cs typeface="Vintii"/>
                <a:sym typeface="Vintii"/>
              </a:rPr>
              <a:t> knowledge base. Jika </a:t>
            </a:r>
            <a:r>
              <a:rPr lang="en-US" sz="2236" dirty="0" err="1">
                <a:solidFill>
                  <a:srgbClr val="3A3E61"/>
                </a:solidFill>
                <a:latin typeface="Vintii"/>
                <a:ea typeface="Vintii"/>
                <a:cs typeface="Vintii"/>
                <a:sym typeface="Vintii"/>
              </a:rPr>
              <a:t>fakta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atau</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aturan</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kurang</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lengkap</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hasilnya</a:t>
            </a:r>
            <a:r>
              <a:rPr lang="en-US" sz="2236" dirty="0">
                <a:solidFill>
                  <a:srgbClr val="3A3E61"/>
                </a:solidFill>
                <a:latin typeface="Vintii"/>
                <a:ea typeface="Vintii"/>
                <a:cs typeface="Vintii"/>
                <a:sym typeface="Vintii"/>
              </a:rPr>
              <a:t> </a:t>
            </a:r>
            <a:r>
              <a:rPr lang="en-US" sz="2236" dirty="0" err="1">
                <a:solidFill>
                  <a:srgbClr val="3A3E61"/>
                </a:solidFill>
                <a:latin typeface="Vintii"/>
                <a:ea typeface="Vintii"/>
                <a:cs typeface="Vintii"/>
                <a:sym typeface="Vintii"/>
              </a:rPr>
              <a:t>bisa</a:t>
            </a:r>
            <a:r>
              <a:rPr lang="en-US" sz="2236" dirty="0">
                <a:solidFill>
                  <a:srgbClr val="3A3E61"/>
                </a:solidFill>
                <a:latin typeface="Vintii"/>
                <a:ea typeface="Vintii"/>
                <a:cs typeface="Vintii"/>
                <a:sym typeface="Vintii"/>
              </a:rPr>
              <a:t> salah.</a:t>
            </a:r>
          </a:p>
        </p:txBody>
      </p:sp>
      <p:sp>
        <p:nvSpPr>
          <p:cNvPr id="42" name="TextBox 42"/>
          <p:cNvSpPr txBox="1"/>
          <p:nvPr/>
        </p:nvSpPr>
        <p:spPr>
          <a:xfrm>
            <a:off x="6753494" y="6147328"/>
            <a:ext cx="9895827" cy="2083327"/>
          </a:xfrm>
          <a:prstGeom prst="rect">
            <a:avLst/>
          </a:prstGeom>
        </p:spPr>
        <p:txBody>
          <a:bodyPr wrap="square" lIns="0" tIns="0" rIns="0" bIns="0" rtlCol="0" anchor="t">
            <a:spAutoFit/>
          </a:bodyPr>
          <a:lstStyle/>
          <a:p>
            <a:pPr algn="ctr">
              <a:lnSpc>
                <a:spcPts val="3294"/>
              </a:lnSpc>
            </a:pPr>
            <a:r>
              <a:rPr lang="en-US" sz="2200" dirty="0">
                <a:solidFill>
                  <a:srgbClr val="3A3E61"/>
                </a:solidFill>
                <a:latin typeface="Vintii"/>
                <a:ea typeface="Vintii"/>
                <a:cs typeface="Vintii"/>
                <a:sym typeface="Vintii"/>
              </a:rPr>
              <a:t>Dhika : </a:t>
            </a:r>
            <a:r>
              <a:rPr lang="en-US" sz="2200" dirty="0" err="1">
                <a:solidFill>
                  <a:srgbClr val="3A3E61"/>
                </a:solidFill>
                <a:latin typeface="Vintii"/>
                <a:ea typeface="Vintii"/>
                <a:cs typeface="Vintii"/>
                <a:sym typeface="Vintii"/>
              </a:rPr>
              <a:t>Menonton</a:t>
            </a:r>
            <a:r>
              <a:rPr lang="en-US" sz="2200" dirty="0">
                <a:solidFill>
                  <a:srgbClr val="3A3E61"/>
                </a:solidFill>
                <a:latin typeface="Vintii"/>
                <a:ea typeface="Vintii"/>
                <a:cs typeface="Vintii"/>
                <a:sym typeface="Vintii"/>
              </a:rPr>
              <a:t> video dan </a:t>
            </a:r>
            <a:r>
              <a:rPr lang="en-US" sz="2200" dirty="0" err="1">
                <a:solidFill>
                  <a:srgbClr val="3A3E61"/>
                </a:solidFill>
                <a:latin typeface="Vintii"/>
                <a:ea typeface="Vintii"/>
                <a:cs typeface="Vintii"/>
                <a:sym typeface="Vintii"/>
              </a:rPr>
              <a:t>mencatat</a:t>
            </a:r>
            <a:r>
              <a:rPr lang="en-US" sz="2200" dirty="0">
                <a:solidFill>
                  <a:srgbClr val="3A3E61"/>
                </a:solidFill>
                <a:latin typeface="Vintii"/>
                <a:ea typeface="Vintii"/>
                <a:cs typeface="Vintii"/>
                <a:sym typeface="Vintii"/>
              </a:rPr>
              <a:t> timestamp, </a:t>
            </a:r>
            <a:r>
              <a:rPr lang="en-US" sz="2200" dirty="0" err="1">
                <a:solidFill>
                  <a:srgbClr val="3A3E61"/>
                </a:solidFill>
                <a:latin typeface="Vintii"/>
                <a:ea typeface="Vintii"/>
                <a:cs typeface="Vintii"/>
                <a:sym typeface="Vintii"/>
              </a:rPr>
              <a:t>membuat</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konsep</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utama</a:t>
            </a:r>
            <a:r>
              <a:rPr lang="en-US" sz="2200" dirty="0">
                <a:solidFill>
                  <a:srgbClr val="3A3E61"/>
                </a:solidFill>
                <a:latin typeface="Vintii"/>
                <a:ea typeface="Vintii"/>
                <a:cs typeface="Vintii"/>
                <a:sym typeface="Vintii"/>
              </a:rPr>
              <a:t> video 1 dan 2 dan </a:t>
            </a:r>
            <a:r>
              <a:rPr lang="en-US" sz="2200" dirty="0" err="1">
                <a:solidFill>
                  <a:srgbClr val="3A3E61"/>
                </a:solidFill>
                <a:latin typeface="Vintii"/>
                <a:ea typeface="Vintii"/>
                <a:cs typeface="Vintii"/>
                <a:sym typeface="Vintii"/>
              </a:rPr>
              <a:t>membuat</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refleksi</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pembagian</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kontribusi</a:t>
            </a:r>
            <a:r>
              <a:rPr lang="en-US" sz="2200" dirty="0">
                <a:solidFill>
                  <a:srgbClr val="3A3E61"/>
                </a:solidFill>
                <a:latin typeface="Vintii"/>
                <a:ea typeface="Vintii"/>
                <a:cs typeface="Vintii"/>
                <a:sym typeface="Vintii"/>
              </a:rPr>
              <a:t>.</a:t>
            </a:r>
          </a:p>
          <a:p>
            <a:pPr algn="ctr">
              <a:lnSpc>
                <a:spcPts val="3294"/>
              </a:lnSpc>
            </a:pPr>
            <a:r>
              <a:rPr lang="en-US" sz="2200" dirty="0">
                <a:solidFill>
                  <a:srgbClr val="3A3E61"/>
                </a:solidFill>
                <a:latin typeface="Vintii"/>
                <a:ea typeface="Vintii"/>
                <a:cs typeface="Vintii"/>
                <a:sym typeface="Vintii"/>
              </a:rPr>
              <a:t>Nabil : </a:t>
            </a:r>
            <a:r>
              <a:rPr lang="en-US" sz="2200" dirty="0" err="1">
                <a:solidFill>
                  <a:srgbClr val="3A3E61"/>
                </a:solidFill>
                <a:latin typeface="Vintii"/>
                <a:ea typeface="Vintii"/>
                <a:cs typeface="Vintii"/>
                <a:sym typeface="Vintii"/>
              </a:rPr>
              <a:t>Menonton</a:t>
            </a:r>
            <a:r>
              <a:rPr lang="en-US" sz="2200" dirty="0">
                <a:solidFill>
                  <a:srgbClr val="3A3E61"/>
                </a:solidFill>
                <a:latin typeface="Vintii"/>
                <a:ea typeface="Vintii"/>
                <a:cs typeface="Vintii"/>
                <a:sym typeface="Vintii"/>
              </a:rPr>
              <a:t> video dan </a:t>
            </a:r>
            <a:r>
              <a:rPr lang="en-US" sz="2200" dirty="0" err="1">
                <a:solidFill>
                  <a:srgbClr val="3A3E61"/>
                </a:solidFill>
                <a:latin typeface="Vintii"/>
                <a:ea typeface="Vintii"/>
                <a:cs typeface="Vintii"/>
                <a:sym typeface="Vintii"/>
              </a:rPr>
              <a:t>mencatat</a:t>
            </a:r>
            <a:r>
              <a:rPr lang="en-US" sz="2200" dirty="0">
                <a:solidFill>
                  <a:srgbClr val="3A3E61"/>
                </a:solidFill>
                <a:latin typeface="Vintii"/>
                <a:ea typeface="Vintii"/>
                <a:cs typeface="Vintii"/>
                <a:sym typeface="Vintii"/>
              </a:rPr>
              <a:t> timestamp, </a:t>
            </a:r>
            <a:r>
              <a:rPr lang="en-US" sz="2200" dirty="0" err="1">
                <a:solidFill>
                  <a:srgbClr val="3A3E61"/>
                </a:solidFill>
                <a:latin typeface="Vintii"/>
                <a:ea typeface="Vintii"/>
                <a:cs typeface="Vintii"/>
                <a:sym typeface="Vintii"/>
              </a:rPr>
              <a:t>membuat</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aturan</a:t>
            </a:r>
            <a:r>
              <a:rPr lang="en-US" sz="2200" dirty="0">
                <a:solidFill>
                  <a:srgbClr val="3A3E61"/>
                </a:solidFill>
                <a:latin typeface="Vintii"/>
                <a:ea typeface="Vintii"/>
                <a:cs typeface="Vintii"/>
                <a:sym typeface="Vintii"/>
              </a:rPr>
              <a:t> IF-THEN, </a:t>
            </a:r>
            <a:r>
              <a:rPr lang="en-US" sz="2200" dirty="0" err="1">
                <a:solidFill>
                  <a:srgbClr val="3A3E61"/>
                </a:solidFill>
                <a:latin typeface="Vintii"/>
                <a:ea typeface="Vintii"/>
                <a:cs typeface="Vintii"/>
                <a:sym typeface="Vintii"/>
              </a:rPr>
              <a:t>relasi</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fakta</a:t>
            </a:r>
            <a:r>
              <a:rPr lang="en-US" sz="2200" dirty="0">
                <a:solidFill>
                  <a:srgbClr val="3A3E61"/>
                </a:solidFill>
                <a:latin typeface="Vintii"/>
                <a:ea typeface="Vintii"/>
                <a:cs typeface="Vintii"/>
                <a:sym typeface="Vintii"/>
              </a:rPr>
              <a:t>, reasoning dan diagram semantic network.</a:t>
            </a:r>
          </a:p>
          <a:p>
            <a:pPr algn="ctr">
              <a:lnSpc>
                <a:spcPts val="3294"/>
              </a:lnSpc>
            </a:pPr>
            <a:r>
              <a:rPr lang="en-US" sz="2200" dirty="0">
                <a:solidFill>
                  <a:srgbClr val="3A3E61"/>
                </a:solidFill>
                <a:latin typeface="Vintii"/>
                <a:ea typeface="Vintii"/>
                <a:cs typeface="Vintii"/>
                <a:sym typeface="Vintii"/>
              </a:rPr>
              <a:t>Dan juga </a:t>
            </a:r>
            <a:r>
              <a:rPr lang="en-US" sz="2200" dirty="0" err="1">
                <a:solidFill>
                  <a:srgbClr val="3A3E61"/>
                </a:solidFill>
                <a:latin typeface="Vintii"/>
                <a:ea typeface="Vintii"/>
                <a:cs typeface="Vintii"/>
                <a:sym typeface="Vintii"/>
              </a:rPr>
              <a:t>kita</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bareng</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untuk</a:t>
            </a:r>
            <a:r>
              <a:rPr lang="en-US" sz="2200" dirty="0">
                <a:solidFill>
                  <a:srgbClr val="3A3E61"/>
                </a:solidFill>
                <a:latin typeface="Vintii"/>
                <a:ea typeface="Vintii"/>
                <a:cs typeface="Vintii"/>
                <a:sym typeface="Vintii"/>
              </a:rPr>
              <a:t> </a:t>
            </a:r>
            <a:r>
              <a:rPr lang="en-US" sz="2200" dirty="0" err="1">
                <a:solidFill>
                  <a:srgbClr val="3A3E61"/>
                </a:solidFill>
                <a:latin typeface="Vintii"/>
                <a:ea typeface="Vintii"/>
                <a:cs typeface="Vintii"/>
                <a:sym typeface="Vintii"/>
              </a:rPr>
              <a:t>mengerjakan</a:t>
            </a:r>
            <a:r>
              <a:rPr lang="en-US" sz="2200" dirty="0">
                <a:solidFill>
                  <a:srgbClr val="3A3E61"/>
                </a:solidFill>
                <a:latin typeface="Vintii"/>
                <a:ea typeface="Vintii"/>
                <a:cs typeface="Vintii"/>
                <a:sym typeface="Vintii"/>
              </a:rPr>
              <a:t> video to concept.</a:t>
            </a:r>
          </a:p>
        </p:txBody>
      </p:sp>
      <p:sp>
        <p:nvSpPr>
          <p:cNvPr id="43" name="Freeform 43"/>
          <p:cNvSpPr/>
          <p:nvPr/>
        </p:nvSpPr>
        <p:spPr>
          <a:xfrm rot="-5400000">
            <a:off x="7234402" y="4634994"/>
            <a:ext cx="1231812" cy="9702854"/>
          </a:xfrm>
          <a:custGeom>
            <a:avLst/>
            <a:gdLst/>
            <a:ahLst/>
            <a:cxnLst/>
            <a:rect l="l" t="t" r="r" b="b"/>
            <a:pathLst>
              <a:path w="1231812" h="9702854">
                <a:moveTo>
                  <a:pt x="0" y="0"/>
                </a:moveTo>
                <a:lnTo>
                  <a:pt x="1231812" y="0"/>
                </a:lnTo>
                <a:lnTo>
                  <a:pt x="1231812" y="9702854"/>
                </a:lnTo>
                <a:lnTo>
                  <a:pt x="0" y="9702854"/>
                </a:lnTo>
                <a:lnTo>
                  <a:pt x="0" y="0"/>
                </a:lnTo>
                <a:close/>
              </a:path>
            </a:pathLst>
          </a:custGeom>
          <a:blipFill>
            <a:blip r:embed="rId5"/>
            <a:stretch>
              <a:fillRect l="-152468" r="-263468"/>
            </a:stretch>
          </a:blipFill>
        </p:spPr>
      </p:sp>
      <p:sp>
        <p:nvSpPr>
          <p:cNvPr id="44" name="TextBox 44"/>
          <p:cNvSpPr txBox="1"/>
          <p:nvPr/>
        </p:nvSpPr>
        <p:spPr>
          <a:xfrm>
            <a:off x="3183019" y="9071985"/>
            <a:ext cx="9424828" cy="1030341"/>
          </a:xfrm>
          <a:prstGeom prst="rect">
            <a:avLst/>
          </a:prstGeom>
        </p:spPr>
        <p:txBody>
          <a:bodyPr lIns="0" tIns="0" rIns="0" bIns="0" rtlCol="0" anchor="t">
            <a:spAutoFit/>
          </a:bodyPr>
          <a:lstStyle/>
          <a:p>
            <a:pPr marL="358381" lvl="1" indent="-179190" algn="ctr">
              <a:lnSpc>
                <a:spcPts val="2025"/>
              </a:lnSpc>
              <a:buAutoNum type="arabicPeriod"/>
            </a:pPr>
            <a:r>
              <a:rPr lang="en-US" sz="1659">
                <a:solidFill>
                  <a:srgbClr val="3A3E61"/>
                </a:solidFill>
                <a:latin typeface="Vintii"/>
                <a:ea typeface="Vintii"/>
                <a:cs typeface="Vintii"/>
                <a:sym typeface="Vintii"/>
              </a:rPr>
              <a:t>Effendi, Y. A. [Kecerdasan Buatan] Agen dan Representasi Pengetahuan (MAT301 Kecerdasan Buatan, Teknik Robotika dan Kecerdasan Buatan, Universitas Airlangga). </a:t>
            </a:r>
            <a:r>
              <a:rPr lang="en-US" sz="1659" u="sng">
                <a:solidFill>
                  <a:srgbClr val="3A3E61"/>
                </a:solidFill>
                <a:latin typeface="Vintii"/>
                <a:ea typeface="Vintii"/>
                <a:cs typeface="Vintii"/>
                <a:sym typeface="Vintii"/>
                <a:hlinkClick r:id="rId7" tooltip="https://www.youtube.com/watch?v=uFkNZ4EyWiE"/>
              </a:rPr>
              <a:t>YouTube.</a:t>
            </a:r>
            <a:r>
              <a:rPr lang="en-US" sz="1659">
                <a:solidFill>
                  <a:srgbClr val="3A3E61"/>
                </a:solidFill>
                <a:latin typeface="Vintii"/>
                <a:ea typeface="Vintii"/>
                <a:cs typeface="Vintii"/>
                <a:sym typeface="Vintii"/>
              </a:rPr>
              <a:t> Diakses 5 Oktober 2026.</a:t>
            </a:r>
          </a:p>
          <a:p>
            <a:pPr marL="358381" lvl="1" indent="-179190" algn="ctr">
              <a:lnSpc>
                <a:spcPts val="2025"/>
              </a:lnSpc>
              <a:buAutoNum type="arabicPeriod"/>
            </a:pPr>
            <a:r>
              <a:rPr lang="en-US" sz="1659">
                <a:solidFill>
                  <a:srgbClr val="3A3E61"/>
                </a:solidFill>
                <a:latin typeface="Vintii"/>
                <a:ea typeface="Vintii"/>
                <a:cs typeface="Vintii"/>
                <a:sym typeface="Vintii"/>
              </a:rPr>
              <a:t>Pratiwi, H. Kecerdasan Buatan: Representasi Pengetahuan: Logika. </a:t>
            </a:r>
            <a:r>
              <a:rPr lang="en-US" sz="1659" u="sng">
                <a:solidFill>
                  <a:srgbClr val="3A3E61"/>
                </a:solidFill>
                <a:latin typeface="Vintii"/>
                <a:ea typeface="Vintii"/>
                <a:cs typeface="Vintii"/>
                <a:sym typeface="Vintii"/>
                <a:hlinkClick r:id="rId8" tooltip="https://www.youtube.com/watch?v=uReRB0G6WqM."/>
              </a:rPr>
              <a:t>YouTube.</a:t>
            </a:r>
            <a:r>
              <a:rPr lang="en-US" sz="1659">
                <a:solidFill>
                  <a:srgbClr val="3A3E61"/>
                </a:solidFill>
                <a:latin typeface="Vintii"/>
                <a:ea typeface="Vintii"/>
                <a:cs typeface="Vintii"/>
                <a:sym typeface="Vintii"/>
              </a:rPr>
              <a:t> Diakses 5 Oktober 2026.</a:t>
            </a:r>
          </a:p>
          <a:p>
            <a:pPr algn="ctr">
              <a:lnSpc>
                <a:spcPts val="2025"/>
              </a:lnSpc>
            </a:pPr>
            <a:endParaRPr lang="en-US" sz="1659">
              <a:solidFill>
                <a:srgbClr val="3A3E61"/>
              </a:solidFill>
              <a:latin typeface="Vintii"/>
              <a:ea typeface="Vintii"/>
              <a:cs typeface="Vintii"/>
              <a:sym typeface="Vinti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sp>
        <p:nvSpPr>
          <p:cNvPr id="2" name="Freeform 2"/>
          <p:cNvSpPr/>
          <p:nvPr/>
        </p:nvSpPr>
        <p:spPr>
          <a:xfrm>
            <a:off x="-4478740" y="34826"/>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3" name="Freeform 3"/>
          <p:cNvSpPr/>
          <p:nvPr/>
        </p:nvSpPr>
        <p:spPr>
          <a:xfrm rot="-5593216">
            <a:off x="-1049628" y="6066657"/>
            <a:ext cx="5312174" cy="6071055"/>
          </a:xfrm>
          <a:custGeom>
            <a:avLst/>
            <a:gdLst/>
            <a:ahLst/>
            <a:cxnLst/>
            <a:rect l="l" t="t" r="r" b="b"/>
            <a:pathLst>
              <a:path w="5312174" h="6071055">
                <a:moveTo>
                  <a:pt x="0" y="0"/>
                </a:moveTo>
                <a:lnTo>
                  <a:pt x="5312173" y="0"/>
                </a:lnTo>
                <a:lnTo>
                  <a:pt x="5312173" y="6071055"/>
                </a:lnTo>
                <a:lnTo>
                  <a:pt x="0" y="6071055"/>
                </a:lnTo>
                <a:lnTo>
                  <a:pt x="0" y="0"/>
                </a:lnTo>
                <a:close/>
              </a:path>
            </a:pathLst>
          </a:custGeom>
          <a:blipFill>
            <a:blip r:embed="rId3"/>
            <a:stretch>
              <a:fillRect/>
            </a:stretch>
          </a:blipFill>
        </p:spPr>
      </p:sp>
      <p:sp>
        <p:nvSpPr>
          <p:cNvPr id="4" name="Freeform 4"/>
          <p:cNvSpPr/>
          <p:nvPr/>
        </p:nvSpPr>
        <p:spPr>
          <a:xfrm>
            <a:off x="14173200" y="2839721"/>
            <a:ext cx="8229600" cy="8229600"/>
          </a:xfrm>
          <a:custGeom>
            <a:avLst/>
            <a:gdLst/>
            <a:ahLst/>
            <a:cxnLst/>
            <a:rect l="l" t="t" r="r" b="b"/>
            <a:pathLst>
              <a:path w="8229600" h="8229600">
                <a:moveTo>
                  <a:pt x="0" y="0"/>
                </a:moveTo>
                <a:lnTo>
                  <a:pt x="8229600" y="0"/>
                </a:lnTo>
                <a:lnTo>
                  <a:pt x="8229600" y="8229600"/>
                </a:lnTo>
                <a:lnTo>
                  <a:pt x="0" y="8229600"/>
                </a:lnTo>
                <a:lnTo>
                  <a:pt x="0" y="0"/>
                </a:lnTo>
                <a:close/>
              </a:path>
            </a:pathLst>
          </a:custGeom>
          <a:blipFill>
            <a:blip r:embed="rId2"/>
            <a:stretch>
              <a:fillRect/>
            </a:stretch>
          </a:blipFill>
        </p:spPr>
      </p:sp>
      <p:sp>
        <p:nvSpPr>
          <p:cNvPr id="5" name="Freeform 5"/>
          <p:cNvSpPr/>
          <p:nvPr/>
        </p:nvSpPr>
        <p:spPr>
          <a:xfrm rot="-5593216">
            <a:off x="14010667" y="-1791078"/>
            <a:ext cx="5312174" cy="6071055"/>
          </a:xfrm>
          <a:custGeom>
            <a:avLst/>
            <a:gdLst/>
            <a:ahLst/>
            <a:cxnLst/>
            <a:rect l="l" t="t" r="r" b="b"/>
            <a:pathLst>
              <a:path w="5312174" h="6071055">
                <a:moveTo>
                  <a:pt x="0" y="0"/>
                </a:moveTo>
                <a:lnTo>
                  <a:pt x="5312174" y="0"/>
                </a:lnTo>
                <a:lnTo>
                  <a:pt x="5312174" y="6071055"/>
                </a:lnTo>
                <a:lnTo>
                  <a:pt x="0" y="6071055"/>
                </a:lnTo>
                <a:lnTo>
                  <a:pt x="0" y="0"/>
                </a:lnTo>
                <a:close/>
              </a:path>
            </a:pathLst>
          </a:custGeom>
          <a:blipFill>
            <a:blip r:embed="rId3"/>
            <a:stretch>
              <a:fillRect/>
            </a:stretch>
          </a:blipFill>
        </p:spPr>
      </p:sp>
      <p:grpSp>
        <p:nvGrpSpPr>
          <p:cNvPr id="6" name="Group 6"/>
          <p:cNvGrpSpPr/>
          <p:nvPr/>
        </p:nvGrpSpPr>
        <p:grpSpPr>
          <a:xfrm>
            <a:off x="711705" y="651325"/>
            <a:ext cx="16864590" cy="8984349"/>
            <a:chOff x="0" y="0"/>
            <a:chExt cx="4441703" cy="2366248"/>
          </a:xfrm>
        </p:grpSpPr>
        <p:sp>
          <p:nvSpPr>
            <p:cNvPr id="7" name="Freeform 7"/>
            <p:cNvSpPr/>
            <p:nvPr/>
          </p:nvSpPr>
          <p:spPr>
            <a:xfrm>
              <a:off x="0" y="0"/>
              <a:ext cx="4441703" cy="2366248"/>
            </a:xfrm>
            <a:custGeom>
              <a:avLst/>
              <a:gdLst/>
              <a:ahLst/>
              <a:cxnLst/>
              <a:rect l="l" t="t" r="r" b="b"/>
              <a:pathLst>
                <a:path w="4441703" h="2366248">
                  <a:moveTo>
                    <a:pt x="23412" y="0"/>
                  </a:moveTo>
                  <a:lnTo>
                    <a:pt x="4418290" y="0"/>
                  </a:lnTo>
                  <a:cubicBezTo>
                    <a:pt x="4424500" y="0"/>
                    <a:pt x="4430455" y="2467"/>
                    <a:pt x="4434845" y="6857"/>
                  </a:cubicBezTo>
                  <a:cubicBezTo>
                    <a:pt x="4439236" y="11248"/>
                    <a:pt x="4441703" y="17203"/>
                    <a:pt x="4441703" y="23412"/>
                  </a:cubicBezTo>
                  <a:lnTo>
                    <a:pt x="4441703" y="2342836"/>
                  </a:lnTo>
                  <a:cubicBezTo>
                    <a:pt x="4441703" y="2355766"/>
                    <a:pt x="4431221" y="2366248"/>
                    <a:pt x="4418290" y="2366248"/>
                  </a:cubicBezTo>
                  <a:lnTo>
                    <a:pt x="23412" y="2366248"/>
                  </a:lnTo>
                  <a:cubicBezTo>
                    <a:pt x="17203" y="2366248"/>
                    <a:pt x="11248" y="2363782"/>
                    <a:pt x="6857" y="2359391"/>
                  </a:cubicBezTo>
                  <a:cubicBezTo>
                    <a:pt x="2467" y="2355000"/>
                    <a:pt x="0" y="2349045"/>
                    <a:pt x="0" y="2342836"/>
                  </a:cubicBezTo>
                  <a:lnTo>
                    <a:pt x="0" y="23412"/>
                  </a:lnTo>
                  <a:cubicBezTo>
                    <a:pt x="0" y="10482"/>
                    <a:pt x="10482" y="0"/>
                    <a:pt x="23412" y="0"/>
                  </a:cubicBezTo>
                  <a:close/>
                </a:path>
              </a:pathLst>
            </a:custGeom>
            <a:ln w="66675" cap="rnd">
              <a:solidFill>
                <a:srgbClr val="9AA5DF"/>
              </a:solidFill>
              <a:prstDash val="dash"/>
              <a:round/>
            </a:ln>
          </p:spPr>
        </p:sp>
        <p:sp>
          <p:nvSpPr>
            <p:cNvPr id="8" name="TextBox 8"/>
            <p:cNvSpPr txBox="1"/>
            <p:nvPr/>
          </p:nvSpPr>
          <p:spPr>
            <a:xfrm>
              <a:off x="0" y="-47625"/>
              <a:ext cx="4441703" cy="2413873"/>
            </a:xfrm>
            <a:prstGeom prst="rect">
              <a:avLst/>
            </a:prstGeom>
          </p:spPr>
          <p:txBody>
            <a:bodyPr lIns="50800" tIns="50800" rIns="50800" bIns="50800" rtlCol="0" anchor="ctr"/>
            <a:lstStyle/>
            <a:p>
              <a:pPr algn="ctr">
                <a:lnSpc>
                  <a:spcPts val="2485"/>
                </a:lnSpc>
              </a:pPr>
              <a:endParaRPr/>
            </a:p>
          </p:txBody>
        </p:sp>
      </p:grpSp>
      <p:sp>
        <p:nvSpPr>
          <p:cNvPr id="9" name="Freeform 9"/>
          <p:cNvSpPr/>
          <p:nvPr/>
        </p:nvSpPr>
        <p:spPr>
          <a:xfrm rot="5400000">
            <a:off x="15839240" y="2209872"/>
            <a:ext cx="1420060" cy="1420060"/>
          </a:xfrm>
          <a:custGeom>
            <a:avLst/>
            <a:gdLst/>
            <a:ahLst/>
            <a:cxnLst/>
            <a:rect l="l" t="t" r="r" b="b"/>
            <a:pathLst>
              <a:path w="1420060" h="1420060">
                <a:moveTo>
                  <a:pt x="0" y="0"/>
                </a:moveTo>
                <a:lnTo>
                  <a:pt x="1420060" y="0"/>
                </a:lnTo>
                <a:lnTo>
                  <a:pt x="1420060" y="1420060"/>
                </a:lnTo>
                <a:lnTo>
                  <a:pt x="0" y="1420060"/>
                </a:lnTo>
                <a:lnTo>
                  <a:pt x="0" y="0"/>
                </a:lnTo>
                <a:close/>
              </a:path>
            </a:pathLst>
          </a:custGeom>
          <a:blipFill>
            <a:blip r:embed="rId4"/>
            <a:stretch>
              <a:fillRect/>
            </a:stretch>
          </a:blipFill>
        </p:spPr>
      </p:sp>
      <p:grpSp>
        <p:nvGrpSpPr>
          <p:cNvPr id="10" name="Group 10"/>
          <p:cNvGrpSpPr/>
          <p:nvPr/>
        </p:nvGrpSpPr>
        <p:grpSpPr>
          <a:xfrm rot="5400000">
            <a:off x="16703303" y="2839721"/>
            <a:ext cx="160362" cy="16036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2" name="TextBox 12"/>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grpSp>
        <p:nvGrpSpPr>
          <p:cNvPr id="13" name="Group 13"/>
          <p:cNvGrpSpPr/>
          <p:nvPr/>
        </p:nvGrpSpPr>
        <p:grpSpPr>
          <a:xfrm rot="5400000">
            <a:off x="16234876" y="2839721"/>
            <a:ext cx="160362" cy="16036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5" name="TextBox 15"/>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sp>
        <p:nvSpPr>
          <p:cNvPr id="16" name="Freeform 16"/>
          <p:cNvSpPr/>
          <p:nvPr/>
        </p:nvSpPr>
        <p:spPr>
          <a:xfrm rot="5400000">
            <a:off x="15792598" y="6733268"/>
            <a:ext cx="1420060" cy="1420060"/>
          </a:xfrm>
          <a:custGeom>
            <a:avLst/>
            <a:gdLst/>
            <a:ahLst/>
            <a:cxnLst/>
            <a:rect l="l" t="t" r="r" b="b"/>
            <a:pathLst>
              <a:path w="1420060" h="1420060">
                <a:moveTo>
                  <a:pt x="0" y="0"/>
                </a:moveTo>
                <a:lnTo>
                  <a:pt x="1420060" y="0"/>
                </a:lnTo>
                <a:lnTo>
                  <a:pt x="1420060" y="1420060"/>
                </a:lnTo>
                <a:lnTo>
                  <a:pt x="0" y="1420060"/>
                </a:lnTo>
                <a:lnTo>
                  <a:pt x="0" y="0"/>
                </a:lnTo>
                <a:close/>
              </a:path>
            </a:pathLst>
          </a:custGeom>
          <a:blipFill>
            <a:blip r:embed="rId4"/>
            <a:stretch>
              <a:fillRect/>
            </a:stretch>
          </a:blipFill>
        </p:spPr>
      </p:sp>
      <p:grpSp>
        <p:nvGrpSpPr>
          <p:cNvPr id="17" name="Group 17"/>
          <p:cNvGrpSpPr/>
          <p:nvPr/>
        </p:nvGrpSpPr>
        <p:grpSpPr>
          <a:xfrm rot="5400000">
            <a:off x="16656661" y="7363117"/>
            <a:ext cx="160362" cy="16036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19" name="TextBox 19"/>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grpSp>
        <p:nvGrpSpPr>
          <p:cNvPr id="20" name="Group 20"/>
          <p:cNvGrpSpPr/>
          <p:nvPr/>
        </p:nvGrpSpPr>
        <p:grpSpPr>
          <a:xfrm rot="5400000">
            <a:off x="16188234" y="7363117"/>
            <a:ext cx="160362" cy="16036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22" name="TextBox 22"/>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sp>
        <p:nvSpPr>
          <p:cNvPr id="23" name="Freeform 23"/>
          <p:cNvSpPr/>
          <p:nvPr/>
        </p:nvSpPr>
        <p:spPr>
          <a:xfrm>
            <a:off x="16299509" y="3896760"/>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4" name="Freeform 24"/>
          <p:cNvSpPr/>
          <p:nvPr/>
        </p:nvSpPr>
        <p:spPr>
          <a:xfrm>
            <a:off x="16299509" y="4582209"/>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5" name="Freeform 25"/>
          <p:cNvSpPr/>
          <p:nvPr/>
        </p:nvSpPr>
        <p:spPr>
          <a:xfrm>
            <a:off x="16299509" y="5267657"/>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Freeform 26"/>
          <p:cNvSpPr/>
          <p:nvPr/>
        </p:nvSpPr>
        <p:spPr>
          <a:xfrm>
            <a:off x="16299509" y="5953105"/>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7" name="Freeform 27"/>
          <p:cNvSpPr/>
          <p:nvPr/>
        </p:nvSpPr>
        <p:spPr>
          <a:xfrm rot="2700000">
            <a:off x="8104892" y="420705"/>
            <a:ext cx="2078215" cy="2144500"/>
          </a:xfrm>
          <a:custGeom>
            <a:avLst/>
            <a:gdLst/>
            <a:ahLst/>
            <a:cxnLst/>
            <a:rect l="l" t="t" r="r" b="b"/>
            <a:pathLst>
              <a:path w="2078215" h="2144500">
                <a:moveTo>
                  <a:pt x="0" y="0"/>
                </a:moveTo>
                <a:lnTo>
                  <a:pt x="2078216" y="0"/>
                </a:lnTo>
                <a:lnTo>
                  <a:pt x="2078216" y="2144500"/>
                </a:lnTo>
                <a:lnTo>
                  <a:pt x="0" y="21445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8" name="TextBox 28"/>
          <p:cNvSpPr txBox="1"/>
          <p:nvPr/>
        </p:nvSpPr>
        <p:spPr>
          <a:xfrm>
            <a:off x="4967298" y="3223027"/>
            <a:ext cx="8353404" cy="3709518"/>
          </a:xfrm>
          <a:prstGeom prst="rect">
            <a:avLst/>
          </a:prstGeom>
        </p:spPr>
        <p:txBody>
          <a:bodyPr lIns="0" tIns="0" rIns="0" bIns="0" rtlCol="0" anchor="t">
            <a:spAutoFit/>
          </a:bodyPr>
          <a:lstStyle/>
          <a:p>
            <a:pPr algn="ctr">
              <a:lnSpc>
                <a:spcPts val="13571"/>
              </a:lnSpc>
            </a:pPr>
            <a:r>
              <a:rPr lang="en-US" sz="12338">
                <a:solidFill>
                  <a:srgbClr val="3A3E61"/>
                </a:solidFill>
                <a:latin typeface="Unique"/>
                <a:ea typeface="Unique"/>
                <a:cs typeface="Unique"/>
                <a:sym typeface="Unique"/>
              </a:rPr>
              <a:t>TERIMA KASIH</a:t>
            </a:r>
          </a:p>
        </p:txBody>
      </p:sp>
      <p:sp>
        <p:nvSpPr>
          <p:cNvPr id="29" name="Freeform 29"/>
          <p:cNvSpPr/>
          <p:nvPr/>
        </p:nvSpPr>
        <p:spPr>
          <a:xfrm rot="5400000">
            <a:off x="1075342" y="2209872"/>
            <a:ext cx="1420060" cy="1420060"/>
          </a:xfrm>
          <a:custGeom>
            <a:avLst/>
            <a:gdLst/>
            <a:ahLst/>
            <a:cxnLst/>
            <a:rect l="l" t="t" r="r" b="b"/>
            <a:pathLst>
              <a:path w="1420060" h="1420060">
                <a:moveTo>
                  <a:pt x="0" y="0"/>
                </a:moveTo>
                <a:lnTo>
                  <a:pt x="1420060" y="0"/>
                </a:lnTo>
                <a:lnTo>
                  <a:pt x="1420060" y="1420060"/>
                </a:lnTo>
                <a:lnTo>
                  <a:pt x="0" y="1420060"/>
                </a:lnTo>
                <a:lnTo>
                  <a:pt x="0" y="0"/>
                </a:lnTo>
                <a:close/>
              </a:path>
            </a:pathLst>
          </a:custGeom>
          <a:blipFill>
            <a:blip r:embed="rId4"/>
            <a:stretch>
              <a:fillRect/>
            </a:stretch>
          </a:blipFill>
        </p:spPr>
      </p:sp>
      <p:grpSp>
        <p:nvGrpSpPr>
          <p:cNvPr id="30" name="Group 30"/>
          <p:cNvGrpSpPr/>
          <p:nvPr/>
        </p:nvGrpSpPr>
        <p:grpSpPr>
          <a:xfrm rot="5400000">
            <a:off x="1939405" y="2839721"/>
            <a:ext cx="160362" cy="160362"/>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32" name="TextBox 32"/>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grpSp>
        <p:nvGrpSpPr>
          <p:cNvPr id="33" name="Group 33"/>
          <p:cNvGrpSpPr/>
          <p:nvPr/>
        </p:nvGrpSpPr>
        <p:grpSpPr>
          <a:xfrm rot="5400000">
            <a:off x="1470977" y="2839721"/>
            <a:ext cx="160362" cy="16036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35" name="TextBox 35"/>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sp>
        <p:nvSpPr>
          <p:cNvPr id="36" name="Freeform 36"/>
          <p:cNvSpPr/>
          <p:nvPr/>
        </p:nvSpPr>
        <p:spPr>
          <a:xfrm rot="5400000">
            <a:off x="1028700" y="6733268"/>
            <a:ext cx="1420060" cy="1420060"/>
          </a:xfrm>
          <a:custGeom>
            <a:avLst/>
            <a:gdLst/>
            <a:ahLst/>
            <a:cxnLst/>
            <a:rect l="l" t="t" r="r" b="b"/>
            <a:pathLst>
              <a:path w="1420060" h="1420060">
                <a:moveTo>
                  <a:pt x="0" y="0"/>
                </a:moveTo>
                <a:lnTo>
                  <a:pt x="1420060" y="0"/>
                </a:lnTo>
                <a:lnTo>
                  <a:pt x="1420060" y="1420060"/>
                </a:lnTo>
                <a:lnTo>
                  <a:pt x="0" y="1420060"/>
                </a:lnTo>
                <a:lnTo>
                  <a:pt x="0" y="0"/>
                </a:lnTo>
                <a:close/>
              </a:path>
            </a:pathLst>
          </a:custGeom>
          <a:blipFill>
            <a:blip r:embed="rId4"/>
            <a:stretch>
              <a:fillRect/>
            </a:stretch>
          </a:blipFill>
        </p:spPr>
      </p:sp>
      <p:grpSp>
        <p:nvGrpSpPr>
          <p:cNvPr id="37" name="Group 37"/>
          <p:cNvGrpSpPr/>
          <p:nvPr/>
        </p:nvGrpSpPr>
        <p:grpSpPr>
          <a:xfrm rot="5400000">
            <a:off x="1892763" y="7363117"/>
            <a:ext cx="160362" cy="160362"/>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39" name="TextBox 39"/>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grpSp>
        <p:nvGrpSpPr>
          <p:cNvPr id="40" name="Group 40"/>
          <p:cNvGrpSpPr/>
          <p:nvPr/>
        </p:nvGrpSpPr>
        <p:grpSpPr>
          <a:xfrm rot="5400000">
            <a:off x="1424335" y="7363117"/>
            <a:ext cx="160362" cy="16036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737373">
                    <a:alpha val="100000"/>
                  </a:srgbClr>
                </a:gs>
                <a:gs pos="100000">
                  <a:srgbClr val="343434">
                    <a:alpha val="100000"/>
                  </a:srgbClr>
                </a:gs>
              </a:gsLst>
              <a:path path="circle">
                <a:fillToRect l="50000" t="50000" r="50000" b="50000"/>
              </a:path>
            </a:gradFill>
          </p:spPr>
        </p:sp>
        <p:sp>
          <p:nvSpPr>
            <p:cNvPr id="42" name="TextBox 42"/>
            <p:cNvSpPr txBox="1"/>
            <p:nvPr/>
          </p:nvSpPr>
          <p:spPr>
            <a:xfrm>
              <a:off x="76200" y="19050"/>
              <a:ext cx="660400" cy="717550"/>
            </a:xfrm>
            <a:prstGeom prst="rect">
              <a:avLst/>
            </a:prstGeom>
          </p:spPr>
          <p:txBody>
            <a:bodyPr lIns="54372" tIns="54372" rIns="54372" bIns="54372" rtlCol="0" anchor="ctr"/>
            <a:lstStyle/>
            <a:p>
              <a:pPr algn="ctr">
                <a:lnSpc>
                  <a:spcPts val="2659"/>
                </a:lnSpc>
              </a:pPr>
              <a:endParaRPr/>
            </a:p>
          </p:txBody>
        </p:sp>
      </p:grpSp>
      <p:sp>
        <p:nvSpPr>
          <p:cNvPr id="43" name="Freeform 43"/>
          <p:cNvSpPr/>
          <p:nvPr/>
        </p:nvSpPr>
        <p:spPr>
          <a:xfrm>
            <a:off x="1535611" y="3896760"/>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4" name="Freeform 44"/>
          <p:cNvSpPr/>
          <p:nvPr/>
        </p:nvSpPr>
        <p:spPr>
          <a:xfrm>
            <a:off x="1535611" y="4582209"/>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5" name="Freeform 45"/>
          <p:cNvSpPr/>
          <p:nvPr/>
        </p:nvSpPr>
        <p:spPr>
          <a:xfrm>
            <a:off x="1535611" y="5267657"/>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6" name="Freeform 46"/>
          <p:cNvSpPr/>
          <p:nvPr/>
        </p:nvSpPr>
        <p:spPr>
          <a:xfrm>
            <a:off x="1535611" y="5953105"/>
            <a:ext cx="522843" cy="505732"/>
          </a:xfrm>
          <a:custGeom>
            <a:avLst/>
            <a:gdLst/>
            <a:ahLst/>
            <a:cxnLst/>
            <a:rect l="l" t="t" r="r" b="b"/>
            <a:pathLst>
              <a:path w="522843" h="505732">
                <a:moveTo>
                  <a:pt x="0" y="0"/>
                </a:moveTo>
                <a:lnTo>
                  <a:pt x="522843" y="0"/>
                </a:lnTo>
                <a:lnTo>
                  <a:pt x="522843" y="505732"/>
                </a:lnTo>
                <a:lnTo>
                  <a:pt x="0" y="505732"/>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882</Words>
  <Application>Microsoft Office PowerPoint</Application>
  <PresentationFormat>Custom</PresentationFormat>
  <Paragraphs>98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Arial</vt:lpstr>
      <vt:lpstr>Unique</vt:lpstr>
      <vt:lpstr>Vintii</vt:lpstr>
      <vt:lpstr>Marykate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SO2_Kelompok_[Dhika M. Frizar]_[Nabil Faiq A.]</dc:title>
  <cp:lastModifiedBy>Dhikaaa prijerr</cp:lastModifiedBy>
  <cp:revision>2</cp:revision>
  <dcterms:created xsi:type="dcterms:W3CDTF">2006-08-16T00:00:00Z</dcterms:created>
  <dcterms:modified xsi:type="dcterms:W3CDTF">2026-10-05T23:40:03Z</dcterms:modified>
  <dc:identifier>DAHXHQQM8Us</dc:identifier>
</cp:coreProperties>
</file>